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svg" ContentType="image/svg+xml"/>
  <Default Extension="webp" ContentType="image/webp"/>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310" r:id="rId2"/>
    <p:sldId id="257" r:id="rId3"/>
    <p:sldId id="258" r:id="rId4"/>
    <p:sldId id="321" r:id="rId5"/>
    <p:sldId id="260" r:id="rId6"/>
    <p:sldId id="261" r:id="rId7"/>
    <p:sldId id="311" r:id="rId8"/>
    <p:sldId id="312" r:id="rId9"/>
    <p:sldId id="313" r:id="rId10"/>
    <p:sldId id="263" r:id="rId11"/>
    <p:sldId id="265" r:id="rId12"/>
    <p:sldId id="314" r:id="rId13"/>
    <p:sldId id="262" r:id="rId14"/>
    <p:sldId id="320"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162" autoAdjust="0"/>
    <p:restoredTop sz="94660"/>
  </p:normalViewPr>
  <p:slideViewPr>
    <p:cSldViewPr snapToGrid="0">
      <p:cViewPr>
        <p:scale>
          <a:sx n="66" d="100"/>
          <a:sy n="66" d="100"/>
        </p:scale>
        <p:origin x="972"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6FB19EA-6074-485F-913E-15EA054B19D3}" type="datetimeFigureOut">
              <a:rPr lang="en-US" smtClean="0"/>
              <a:t>8/17/2025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F134B30-4044-4DB2-AFBA-E96EE7B8C33F}" type="slidenum">
              <a:rPr lang="en-US" smtClean="0"/>
              <a:t>‹#›</a:t>
            </a:fld>
            <a:endParaRPr lang="en-US"/>
          </a:p>
        </p:txBody>
      </p:sp>
    </p:spTree>
    <p:extLst>
      <p:ext uri="{BB962C8B-B14F-4D97-AF65-F5344CB8AC3E}">
        <p14:creationId xmlns:p14="http://schemas.microsoft.com/office/powerpoint/2010/main" val="12695987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881C37-B182-8A23-B5BC-D2801C83141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D99E2D7-4D0C-46D9-86CB-151465499DB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C104CB7-DE1E-6316-BBE2-C77E87ECDF00}"/>
              </a:ext>
            </a:extLst>
          </p:cNvPr>
          <p:cNvSpPr>
            <a:spLocks noGrp="1"/>
          </p:cNvSpPr>
          <p:nvPr>
            <p:ph type="dt" sz="half" idx="10"/>
          </p:nvPr>
        </p:nvSpPr>
        <p:spPr/>
        <p:txBody>
          <a:bodyPr/>
          <a:lstStyle/>
          <a:p>
            <a:fld id="{9C7603CD-FB3B-4BA1-86EC-5199B9EF26E0}" type="datetimeFigureOut">
              <a:rPr lang="en-US" smtClean="0"/>
              <a:t>8/17/2025</a:t>
            </a:fld>
            <a:endParaRPr lang="en-US"/>
          </a:p>
        </p:txBody>
      </p:sp>
      <p:sp>
        <p:nvSpPr>
          <p:cNvPr id="5" name="Footer Placeholder 4">
            <a:extLst>
              <a:ext uri="{FF2B5EF4-FFF2-40B4-BE49-F238E27FC236}">
                <a16:creationId xmlns:a16="http://schemas.microsoft.com/office/drawing/2014/main" id="{09F35414-2455-C05A-ADC2-8F6898E1F55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4445E50-1F81-9319-0EB5-7A5418E53888}"/>
              </a:ext>
            </a:extLst>
          </p:cNvPr>
          <p:cNvSpPr>
            <a:spLocks noGrp="1"/>
          </p:cNvSpPr>
          <p:nvPr>
            <p:ph type="sldNum" sz="quarter" idx="12"/>
          </p:nvPr>
        </p:nvSpPr>
        <p:spPr/>
        <p:txBody>
          <a:bodyPr/>
          <a:lstStyle/>
          <a:p>
            <a:fld id="{D6B078B7-EB13-4187-8038-2346B5054871}" type="slidenum">
              <a:rPr lang="en-US" smtClean="0"/>
              <a:t>‹#›</a:t>
            </a:fld>
            <a:endParaRPr lang="en-US"/>
          </a:p>
        </p:txBody>
      </p:sp>
    </p:spTree>
    <p:extLst>
      <p:ext uri="{BB962C8B-B14F-4D97-AF65-F5344CB8AC3E}">
        <p14:creationId xmlns:p14="http://schemas.microsoft.com/office/powerpoint/2010/main" val="9025436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310EC1-21DD-13BB-CA63-676A1F66ECE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B236B22-65F1-73AE-9542-4A84318701F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BD74128-D4B4-0F99-102D-65854325E763}"/>
              </a:ext>
            </a:extLst>
          </p:cNvPr>
          <p:cNvSpPr>
            <a:spLocks noGrp="1"/>
          </p:cNvSpPr>
          <p:nvPr>
            <p:ph type="dt" sz="half" idx="10"/>
          </p:nvPr>
        </p:nvSpPr>
        <p:spPr/>
        <p:txBody>
          <a:bodyPr/>
          <a:lstStyle/>
          <a:p>
            <a:fld id="{9C7603CD-FB3B-4BA1-86EC-5199B9EF26E0}" type="datetimeFigureOut">
              <a:rPr lang="en-US" smtClean="0"/>
              <a:t>8/17/2025</a:t>
            </a:fld>
            <a:endParaRPr lang="en-US"/>
          </a:p>
        </p:txBody>
      </p:sp>
      <p:sp>
        <p:nvSpPr>
          <p:cNvPr id="5" name="Footer Placeholder 4">
            <a:extLst>
              <a:ext uri="{FF2B5EF4-FFF2-40B4-BE49-F238E27FC236}">
                <a16:creationId xmlns:a16="http://schemas.microsoft.com/office/drawing/2014/main" id="{C0FFC3EB-1E04-0C0E-47D7-C9A224BA3B1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B894CA2-F67F-BDEE-CD14-F8A788D81272}"/>
              </a:ext>
            </a:extLst>
          </p:cNvPr>
          <p:cNvSpPr>
            <a:spLocks noGrp="1"/>
          </p:cNvSpPr>
          <p:nvPr>
            <p:ph type="sldNum" sz="quarter" idx="12"/>
          </p:nvPr>
        </p:nvSpPr>
        <p:spPr/>
        <p:txBody>
          <a:bodyPr/>
          <a:lstStyle/>
          <a:p>
            <a:fld id="{D6B078B7-EB13-4187-8038-2346B5054871}" type="slidenum">
              <a:rPr lang="en-US" smtClean="0"/>
              <a:t>‹#›</a:t>
            </a:fld>
            <a:endParaRPr lang="en-US"/>
          </a:p>
        </p:txBody>
      </p:sp>
    </p:spTree>
    <p:extLst>
      <p:ext uri="{BB962C8B-B14F-4D97-AF65-F5344CB8AC3E}">
        <p14:creationId xmlns:p14="http://schemas.microsoft.com/office/powerpoint/2010/main" val="19004073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A3B536-B07E-3795-E23D-2EF0C328AAF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8CDC03C-C055-1B6D-9679-4F6FDEDB937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54C4406-DC60-66FF-EF80-D45B4478F214}"/>
              </a:ext>
            </a:extLst>
          </p:cNvPr>
          <p:cNvSpPr>
            <a:spLocks noGrp="1"/>
          </p:cNvSpPr>
          <p:nvPr>
            <p:ph type="dt" sz="half" idx="10"/>
          </p:nvPr>
        </p:nvSpPr>
        <p:spPr/>
        <p:txBody>
          <a:bodyPr/>
          <a:lstStyle/>
          <a:p>
            <a:fld id="{9C7603CD-FB3B-4BA1-86EC-5199B9EF26E0}" type="datetimeFigureOut">
              <a:rPr lang="en-US" smtClean="0"/>
              <a:t>8/17/2025</a:t>
            </a:fld>
            <a:endParaRPr lang="en-US"/>
          </a:p>
        </p:txBody>
      </p:sp>
      <p:sp>
        <p:nvSpPr>
          <p:cNvPr id="5" name="Footer Placeholder 4">
            <a:extLst>
              <a:ext uri="{FF2B5EF4-FFF2-40B4-BE49-F238E27FC236}">
                <a16:creationId xmlns:a16="http://schemas.microsoft.com/office/drawing/2014/main" id="{E1706C42-55A4-A094-7761-F7971349431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4FAB174-96A3-444C-86D2-32CAD3C8D8CD}"/>
              </a:ext>
            </a:extLst>
          </p:cNvPr>
          <p:cNvSpPr>
            <a:spLocks noGrp="1"/>
          </p:cNvSpPr>
          <p:nvPr>
            <p:ph type="sldNum" sz="quarter" idx="12"/>
          </p:nvPr>
        </p:nvSpPr>
        <p:spPr/>
        <p:txBody>
          <a:bodyPr/>
          <a:lstStyle/>
          <a:p>
            <a:fld id="{D6B078B7-EB13-4187-8038-2346B5054871}" type="slidenum">
              <a:rPr lang="en-US" smtClean="0"/>
              <a:t>‹#›</a:t>
            </a:fld>
            <a:endParaRPr lang="en-US"/>
          </a:p>
        </p:txBody>
      </p:sp>
    </p:spTree>
    <p:extLst>
      <p:ext uri="{BB962C8B-B14F-4D97-AF65-F5344CB8AC3E}">
        <p14:creationId xmlns:p14="http://schemas.microsoft.com/office/powerpoint/2010/main" val="40273840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D39E6B-78C3-54DC-1088-3D1113EBF61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E7E2344-C4B1-C6D1-8C18-363BC7B19A7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85D960A-60EB-6426-704E-CF9993A1111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D8EA9FB-4E2C-3AE1-922B-BED3C6BF0EC9}"/>
              </a:ext>
            </a:extLst>
          </p:cNvPr>
          <p:cNvSpPr>
            <a:spLocks noGrp="1"/>
          </p:cNvSpPr>
          <p:nvPr>
            <p:ph type="dt" sz="half" idx="10"/>
          </p:nvPr>
        </p:nvSpPr>
        <p:spPr/>
        <p:txBody>
          <a:bodyPr/>
          <a:lstStyle/>
          <a:p>
            <a:fld id="{9C7603CD-FB3B-4BA1-86EC-5199B9EF26E0}" type="datetimeFigureOut">
              <a:rPr lang="en-US" smtClean="0"/>
              <a:t>8/17/2025</a:t>
            </a:fld>
            <a:endParaRPr lang="en-US"/>
          </a:p>
        </p:txBody>
      </p:sp>
      <p:sp>
        <p:nvSpPr>
          <p:cNvPr id="6" name="Footer Placeholder 5">
            <a:extLst>
              <a:ext uri="{FF2B5EF4-FFF2-40B4-BE49-F238E27FC236}">
                <a16:creationId xmlns:a16="http://schemas.microsoft.com/office/drawing/2014/main" id="{32D60869-2651-2CFB-C5B8-8F58C1F4B22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CF38C84-639E-F5BC-D0C7-5A4D0FA0E395}"/>
              </a:ext>
            </a:extLst>
          </p:cNvPr>
          <p:cNvSpPr>
            <a:spLocks noGrp="1"/>
          </p:cNvSpPr>
          <p:nvPr>
            <p:ph type="sldNum" sz="quarter" idx="12"/>
          </p:nvPr>
        </p:nvSpPr>
        <p:spPr/>
        <p:txBody>
          <a:bodyPr/>
          <a:lstStyle/>
          <a:p>
            <a:fld id="{D6B078B7-EB13-4187-8038-2346B5054871}" type="slidenum">
              <a:rPr lang="en-US" smtClean="0"/>
              <a:t>‹#›</a:t>
            </a:fld>
            <a:endParaRPr lang="en-US"/>
          </a:p>
        </p:txBody>
      </p:sp>
    </p:spTree>
    <p:extLst>
      <p:ext uri="{BB962C8B-B14F-4D97-AF65-F5344CB8AC3E}">
        <p14:creationId xmlns:p14="http://schemas.microsoft.com/office/powerpoint/2010/main" val="2377045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1A5D13-7AB9-F101-9D4C-2EDBF2F6023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8A72859-04B9-C92E-7D95-D6EB8C8D28E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BC0F7BB-D5B7-7DE7-5979-777C01D897B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5BB50F9-FD8E-FC6C-5F1A-BA67BC79EE6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6D3BDCC-D2E7-8319-C1C8-36EA3E894F1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117076D-5DB2-760E-626B-D8755A0F8F36}"/>
              </a:ext>
            </a:extLst>
          </p:cNvPr>
          <p:cNvSpPr>
            <a:spLocks noGrp="1"/>
          </p:cNvSpPr>
          <p:nvPr>
            <p:ph type="dt" sz="half" idx="10"/>
          </p:nvPr>
        </p:nvSpPr>
        <p:spPr/>
        <p:txBody>
          <a:bodyPr/>
          <a:lstStyle/>
          <a:p>
            <a:fld id="{9C7603CD-FB3B-4BA1-86EC-5199B9EF26E0}" type="datetimeFigureOut">
              <a:rPr lang="en-US" smtClean="0"/>
              <a:t>8/17/2025</a:t>
            </a:fld>
            <a:endParaRPr lang="en-US"/>
          </a:p>
        </p:txBody>
      </p:sp>
      <p:sp>
        <p:nvSpPr>
          <p:cNvPr id="8" name="Footer Placeholder 7">
            <a:extLst>
              <a:ext uri="{FF2B5EF4-FFF2-40B4-BE49-F238E27FC236}">
                <a16:creationId xmlns:a16="http://schemas.microsoft.com/office/drawing/2014/main" id="{86A15622-A5F0-B595-E5EC-A20AAA57B56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86C4E86-E67B-6497-1C13-7410D521F767}"/>
              </a:ext>
            </a:extLst>
          </p:cNvPr>
          <p:cNvSpPr>
            <a:spLocks noGrp="1"/>
          </p:cNvSpPr>
          <p:nvPr>
            <p:ph type="sldNum" sz="quarter" idx="12"/>
          </p:nvPr>
        </p:nvSpPr>
        <p:spPr/>
        <p:txBody>
          <a:bodyPr/>
          <a:lstStyle/>
          <a:p>
            <a:fld id="{D6B078B7-EB13-4187-8038-2346B5054871}" type="slidenum">
              <a:rPr lang="en-US" smtClean="0"/>
              <a:t>‹#›</a:t>
            </a:fld>
            <a:endParaRPr lang="en-US"/>
          </a:p>
        </p:txBody>
      </p:sp>
    </p:spTree>
    <p:extLst>
      <p:ext uri="{BB962C8B-B14F-4D97-AF65-F5344CB8AC3E}">
        <p14:creationId xmlns:p14="http://schemas.microsoft.com/office/powerpoint/2010/main" val="11619316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2454EB-4E7E-787B-3712-07C0B3C7B4D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CDA083D-9758-BB31-D5AF-9717F16A6D5B}"/>
              </a:ext>
            </a:extLst>
          </p:cNvPr>
          <p:cNvSpPr>
            <a:spLocks noGrp="1"/>
          </p:cNvSpPr>
          <p:nvPr>
            <p:ph type="dt" sz="half" idx="10"/>
          </p:nvPr>
        </p:nvSpPr>
        <p:spPr/>
        <p:txBody>
          <a:bodyPr/>
          <a:lstStyle/>
          <a:p>
            <a:fld id="{9C7603CD-FB3B-4BA1-86EC-5199B9EF26E0}" type="datetimeFigureOut">
              <a:rPr lang="en-US" smtClean="0"/>
              <a:t>8/17/2025</a:t>
            </a:fld>
            <a:endParaRPr lang="en-US"/>
          </a:p>
        </p:txBody>
      </p:sp>
      <p:sp>
        <p:nvSpPr>
          <p:cNvPr id="4" name="Footer Placeholder 3">
            <a:extLst>
              <a:ext uri="{FF2B5EF4-FFF2-40B4-BE49-F238E27FC236}">
                <a16:creationId xmlns:a16="http://schemas.microsoft.com/office/drawing/2014/main" id="{68F3F797-2CFB-C9CF-3886-8A9007FE35D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86DCC9E-02F8-910B-6C22-1A9AC9B682A4}"/>
              </a:ext>
            </a:extLst>
          </p:cNvPr>
          <p:cNvSpPr>
            <a:spLocks noGrp="1"/>
          </p:cNvSpPr>
          <p:nvPr>
            <p:ph type="sldNum" sz="quarter" idx="12"/>
          </p:nvPr>
        </p:nvSpPr>
        <p:spPr/>
        <p:txBody>
          <a:bodyPr/>
          <a:lstStyle/>
          <a:p>
            <a:fld id="{D6B078B7-EB13-4187-8038-2346B5054871}" type="slidenum">
              <a:rPr lang="en-US" smtClean="0"/>
              <a:t>‹#›</a:t>
            </a:fld>
            <a:endParaRPr lang="en-US"/>
          </a:p>
        </p:txBody>
      </p:sp>
    </p:spTree>
    <p:extLst>
      <p:ext uri="{BB962C8B-B14F-4D97-AF65-F5344CB8AC3E}">
        <p14:creationId xmlns:p14="http://schemas.microsoft.com/office/powerpoint/2010/main" val="2483803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F4D10C2-2688-8093-2B2E-EE9CEF8EF266}"/>
              </a:ext>
            </a:extLst>
          </p:cNvPr>
          <p:cNvSpPr>
            <a:spLocks noGrp="1"/>
          </p:cNvSpPr>
          <p:nvPr>
            <p:ph type="dt" sz="half" idx="10"/>
          </p:nvPr>
        </p:nvSpPr>
        <p:spPr/>
        <p:txBody>
          <a:bodyPr/>
          <a:lstStyle/>
          <a:p>
            <a:fld id="{9C7603CD-FB3B-4BA1-86EC-5199B9EF26E0}" type="datetimeFigureOut">
              <a:rPr lang="en-US" smtClean="0"/>
              <a:t>8/17/2025</a:t>
            </a:fld>
            <a:endParaRPr lang="en-US"/>
          </a:p>
        </p:txBody>
      </p:sp>
      <p:sp>
        <p:nvSpPr>
          <p:cNvPr id="3" name="Footer Placeholder 2">
            <a:extLst>
              <a:ext uri="{FF2B5EF4-FFF2-40B4-BE49-F238E27FC236}">
                <a16:creationId xmlns:a16="http://schemas.microsoft.com/office/drawing/2014/main" id="{6158B5A7-064F-D84E-0FAC-8396D5B11F8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C4B5CD2-C595-FFCA-4DC5-BCA5CDCF67EE}"/>
              </a:ext>
            </a:extLst>
          </p:cNvPr>
          <p:cNvSpPr>
            <a:spLocks noGrp="1"/>
          </p:cNvSpPr>
          <p:nvPr>
            <p:ph type="sldNum" sz="quarter" idx="12"/>
          </p:nvPr>
        </p:nvSpPr>
        <p:spPr/>
        <p:txBody>
          <a:bodyPr/>
          <a:lstStyle/>
          <a:p>
            <a:fld id="{D6B078B7-EB13-4187-8038-2346B5054871}" type="slidenum">
              <a:rPr lang="en-US" smtClean="0"/>
              <a:t>‹#›</a:t>
            </a:fld>
            <a:endParaRPr lang="en-US"/>
          </a:p>
        </p:txBody>
      </p:sp>
    </p:spTree>
    <p:extLst>
      <p:ext uri="{BB962C8B-B14F-4D97-AF65-F5344CB8AC3E}">
        <p14:creationId xmlns:p14="http://schemas.microsoft.com/office/powerpoint/2010/main" val="13783060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E1E2D0-ACE6-6D32-4C3A-47B79C0BEAC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83D22CA-3E4E-A39A-CDB8-260D19C3E1F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21A1EE0-F7FE-D2EE-983C-BBD4D70B86E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BD5B9CB-EA9E-98D7-5E88-2D3251F01336}"/>
              </a:ext>
            </a:extLst>
          </p:cNvPr>
          <p:cNvSpPr>
            <a:spLocks noGrp="1"/>
          </p:cNvSpPr>
          <p:nvPr>
            <p:ph type="dt" sz="half" idx="10"/>
          </p:nvPr>
        </p:nvSpPr>
        <p:spPr/>
        <p:txBody>
          <a:bodyPr/>
          <a:lstStyle/>
          <a:p>
            <a:fld id="{9C7603CD-FB3B-4BA1-86EC-5199B9EF26E0}" type="datetimeFigureOut">
              <a:rPr lang="en-US" smtClean="0"/>
              <a:t>8/17/2025</a:t>
            </a:fld>
            <a:endParaRPr lang="en-US"/>
          </a:p>
        </p:txBody>
      </p:sp>
      <p:sp>
        <p:nvSpPr>
          <p:cNvPr id="6" name="Footer Placeholder 5">
            <a:extLst>
              <a:ext uri="{FF2B5EF4-FFF2-40B4-BE49-F238E27FC236}">
                <a16:creationId xmlns:a16="http://schemas.microsoft.com/office/drawing/2014/main" id="{A76AE93B-1DC4-FE45-8FA7-8BBEF95B90A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F6B03C8-2A43-E2B1-F469-5BEB8D5EC6C5}"/>
              </a:ext>
            </a:extLst>
          </p:cNvPr>
          <p:cNvSpPr>
            <a:spLocks noGrp="1"/>
          </p:cNvSpPr>
          <p:nvPr>
            <p:ph type="sldNum" sz="quarter" idx="12"/>
          </p:nvPr>
        </p:nvSpPr>
        <p:spPr/>
        <p:txBody>
          <a:bodyPr/>
          <a:lstStyle/>
          <a:p>
            <a:fld id="{D6B078B7-EB13-4187-8038-2346B5054871}" type="slidenum">
              <a:rPr lang="en-US" smtClean="0"/>
              <a:t>‹#›</a:t>
            </a:fld>
            <a:endParaRPr lang="en-US"/>
          </a:p>
        </p:txBody>
      </p:sp>
    </p:spTree>
    <p:extLst>
      <p:ext uri="{BB962C8B-B14F-4D97-AF65-F5344CB8AC3E}">
        <p14:creationId xmlns:p14="http://schemas.microsoft.com/office/powerpoint/2010/main" val="23820050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382B02-3078-802B-E6D2-B9914383AD1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B5730DA-8248-E445-E3CB-672A0FC2915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2DCE512-CD6E-BFCA-42C9-E55D883A9B8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86758DB-1AE0-A2A8-045E-414734AA6B73}"/>
              </a:ext>
            </a:extLst>
          </p:cNvPr>
          <p:cNvSpPr>
            <a:spLocks noGrp="1"/>
          </p:cNvSpPr>
          <p:nvPr>
            <p:ph type="dt" sz="half" idx="10"/>
          </p:nvPr>
        </p:nvSpPr>
        <p:spPr/>
        <p:txBody>
          <a:bodyPr/>
          <a:lstStyle/>
          <a:p>
            <a:fld id="{9C7603CD-FB3B-4BA1-86EC-5199B9EF26E0}" type="datetimeFigureOut">
              <a:rPr lang="en-US" smtClean="0"/>
              <a:t>8/17/2025</a:t>
            </a:fld>
            <a:endParaRPr lang="en-US"/>
          </a:p>
        </p:txBody>
      </p:sp>
      <p:sp>
        <p:nvSpPr>
          <p:cNvPr id="6" name="Footer Placeholder 5">
            <a:extLst>
              <a:ext uri="{FF2B5EF4-FFF2-40B4-BE49-F238E27FC236}">
                <a16:creationId xmlns:a16="http://schemas.microsoft.com/office/drawing/2014/main" id="{ED20FA0C-CC76-2656-4121-065E7C3230E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D4E212E-F0B7-5BA2-B1B4-7A42D7AD9980}"/>
              </a:ext>
            </a:extLst>
          </p:cNvPr>
          <p:cNvSpPr>
            <a:spLocks noGrp="1"/>
          </p:cNvSpPr>
          <p:nvPr>
            <p:ph type="sldNum" sz="quarter" idx="12"/>
          </p:nvPr>
        </p:nvSpPr>
        <p:spPr/>
        <p:txBody>
          <a:bodyPr/>
          <a:lstStyle/>
          <a:p>
            <a:fld id="{D6B078B7-EB13-4187-8038-2346B5054871}" type="slidenum">
              <a:rPr lang="en-US" smtClean="0"/>
              <a:t>‹#›</a:t>
            </a:fld>
            <a:endParaRPr lang="en-US"/>
          </a:p>
        </p:txBody>
      </p:sp>
    </p:spTree>
    <p:extLst>
      <p:ext uri="{BB962C8B-B14F-4D97-AF65-F5344CB8AC3E}">
        <p14:creationId xmlns:p14="http://schemas.microsoft.com/office/powerpoint/2010/main" val="39990257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CD5F6B-0C5E-842F-5A90-DFB0CE3CB9B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4D2A817-5DE7-771D-4EC5-1B881EC3FB5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C599DA6-472D-3736-424E-4F49F0C6B19C}"/>
              </a:ext>
            </a:extLst>
          </p:cNvPr>
          <p:cNvSpPr>
            <a:spLocks noGrp="1"/>
          </p:cNvSpPr>
          <p:nvPr>
            <p:ph type="dt" sz="half" idx="10"/>
          </p:nvPr>
        </p:nvSpPr>
        <p:spPr/>
        <p:txBody>
          <a:bodyPr/>
          <a:lstStyle/>
          <a:p>
            <a:fld id="{9C7603CD-FB3B-4BA1-86EC-5199B9EF26E0}" type="datetimeFigureOut">
              <a:rPr lang="en-US" smtClean="0"/>
              <a:t>8/17/2025</a:t>
            </a:fld>
            <a:endParaRPr lang="en-US"/>
          </a:p>
        </p:txBody>
      </p:sp>
      <p:sp>
        <p:nvSpPr>
          <p:cNvPr id="5" name="Footer Placeholder 4">
            <a:extLst>
              <a:ext uri="{FF2B5EF4-FFF2-40B4-BE49-F238E27FC236}">
                <a16:creationId xmlns:a16="http://schemas.microsoft.com/office/drawing/2014/main" id="{E3B17062-62BB-0B92-6F7A-C5BEE00C45E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CC5BE82-EAB9-6224-A8CA-5EC27DE81932}"/>
              </a:ext>
            </a:extLst>
          </p:cNvPr>
          <p:cNvSpPr>
            <a:spLocks noGrp="1"/>
          </p:cNvSpPr>
          <p:nvPr>
            <p:ph type="sldNum" sz="quarter" idx="12"/>
          </p:nvPr>
        </p:nvSpPr>
        <p:spPr/>
        <p:txBody>
          <a:bodyPr/>
          <a:lstStyle/>
          <a:p>
            <a:fld id="{D6B078B7-EB13-4187-8038-2346B5054871}" type="slidenum">
              <a:rPr lang="en-US" smtClean="0"/>
              <a:t>‹#›</a:t>
            </a:fld>
            <a:endParaRPr lang="en-US"/>
          </a:p>
        </p:txBody>
      </p:sp>
    </p:spTree>
    <p:extLst>
      <p:ext uri="{BB962C8B-B14F-4D97-AF65-F5344CB8AC3E}">
        <p14:creationId xmlns:p14="http://schemas.microsoft.com/office/powerpoint/2010/main" val="21677022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B656520-DD49-1979-0D5B-EDCB04C0E46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1089B77-59D8-82CA-F2F8-F8381022C80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4669C1B-FB49-6CAF-16BC-7419EF2BA2E0}"/>
              </a:ext>
            </a:extLst>
          </p:cNvPr>
          <p:cNvSpPr>
            <a:spLocks noGrp="1"/>
          </p:cNvSpPr>
          <p:nvPr>
            <p:ph type="dt" sz="half" idx="10"/>
          </p:nvPr>
        </p:nvSpPr>
        <p:spPr/>
        <p:txBody>
          <a:bodyPr/>
          <a:lstStyle/>
          <a:p>
            <a:fld id="{9C7603CD-FB3B-4BA1-86EC-5199B9EF26E0}" type="datetimeFigureOut">
              <a:rPr lang="en-US" smtClean="0"/>
              <a:t>8/17/2025</a:t>
            </a:fld>
            <a:endParaRPr lang="en-US"/>
          </a:p>
        </p:txBody>
      </p:sp>
      <p:sp>
        <p:nvSpPr>
          <p:cNvPr id="5" name="Footer Placeholder 4">
            <a:extLst>
              <a:ext uri="{FF2B5EF4-FFF2-40B4-BE49-F238E27FC236}">
                <a16:creationId xmlns:a16="http://schemas.microsoft.com/office/drawing/2014/main" id="{08DC5F17-5EF9-0B05-29E3-8A590800DD3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CAE355A-426A-4BF1-3831-69B3CD594E4B}"/>
              </a:ext>
            </a:extLst>
          </p:cNvPr>
          <p:cNvSpPr>
            <a:spLocks noGrp="1"/>
          </p:cNvSpPr>
          <p:nvPr>
            <p:ph type="sldNum" sz="quarter" idx="12"/>
          </p:nvPr>
        </p:nvSpPr>
        <p:spPr/>
        <p:txBody>
          <a:bodyPr/>
          <a:lstStyle/>
          <a:p>
            <a:fld id="{D6B078B7-EB13-4187-8038-2346B5054871}" type="slidenum">
              <a:rPr lang="en-US" smtClean="0"/>
              <a:t>‹#›</a:t>
            </a:fld>
            <a:endParaRPr lang="en-US"/>
          </a:p>
        </p:txBody>
      </p:sp>
    </p:spTree>
    <p:extLst>
      <p:ext uri="{BB962C8B-B14F-4D97-AF65-F5344CB8AC3E}">
        <p14:creationId xmlns:p14="http://schemas.microsoft.com/office/powerpoint/2010/main" val="200873421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625001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54FBF71-11D5-B9A7-115F-A614514CA42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997A3B7-EA23-9EDC-14E2-CE6CE0A9B17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72B8FED-5984-10A5-E3A7-4BD6BBB3126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C7603CD-FB3B-4BA1-86EC-5199B9EF26E0}" type="datetimeFigureOut">
              <a:rPr lang="en-US" smtClean="0"/>
              <a:t>8/17/2025</a:t>
            </a:fld>
            <a:endParaRPr lang="en-US"/>
          </a:p>
        </p:txBody>
      </p:sp>
      <p:sp>
        <p:nvSpPr>
          <p:cNvPr id="5" name="Footer Placeholder 4">
            <a:extLst>
              <a:ext uri="{FF2B5EF4-FFF2-40B4-BE49-F238E27FC236}">
                <a16:creationId xmlns:a16="http://schemas.microsoft.com/office/drawing/2014/main" id="{7786F8D5-8D18-3077-CF00-0D11F952A28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16D086BE-E281-9CE5-FEAE-F559932F24D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6B078B7-EB13-4187-8038-2346B5054871}" type="slidenum">
              <a:rPr lang="en-US" smtClean="0"/>
              <a:t>‹#›</a:t>
            </a:fld>
            <a:endParaRPr lang="en-US"/>
          </a:p>
        </p:txBody>
      </p:sp>
    </p:spTree>
    <p:extLst>
      <p:ext uri="{BB962C8B-B14F-4D97-AF65-F5344CB8AC3E}">
        <p14:creationId xmlns:p14="http://schemas.microsoft.com/office/powerpoint/2010/main" val="424984661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Layout" Target="../slideLayouts/slideLayout1.xml"/><Relationship Id="rId1" Type="http://schemas.openxmlformats.org/officeDocument/2006/relationships/tags" Target="../tags/tag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8" Type="http://schemas.openxmlformats.org/officeDocument/2006/relationships/image" Target="../media/image11.webp"/><Relationship Id="rId13" Type="http://schemas.openxmlformats.org/officeDocument/2006/relationships/hyperlink" Target="https://svgsilh.com/image/1275780.html" TargetMode="External"/><Relationship Id="rId3" Type="http://schemas.openxmlformats.org/officeDocument/2006/relationships/image" Target="../media/image6.jpeg"/><Relationship Id="rId7" Type="http://schemas.openxmlformats.org/officeDocument/2006/relationships/image" Target="../media/image10.png"/><Relationship Id="rId12" Type="http://schemas.openxmlformats.org/officeDocument/2006/relationships/image" Target="../media/image15.svg"/><Relationship Id="rId2" Type="http://schemas.openxmlformats.org/officeDocument/2006/relationships/image" Target="../media/image5.gif"/><Relationship Id="rId1" Type="http://schemas.openxmlformats.org/officeDocument/2006/relationships/slideLayout" Target="../slideLayouts/slideLayout2.xml"/><Relationship Id="rId6" Type="http://schemas.openxmlformats.org/officeDocument/2006/relationships/image" Target="../media/image9.jpeg"/><Relationship Id="rId11" Type="http://schemas.openxmlformats.org/officeDocument/2006/relationships/image" Target="../media/image14.png"/><Relationship Id="rId5" Type="http://schemas.openxmlformats.org/officeDocument/2006/relationships/image" Target="../media/image8.png"/><Relationship Id="rId15" Type="http://schemas.openxmlformats.org/officeDocument/2006/relationships/image" Target="../media/image17.png"/><Relationship Id="rId10" Type="http://schemas.openxmlformats.org/officeDocument/2006/relationships/image" Target="../media/image13.jpeg"/><Relationship Id="rId4" Type="http://schemas.openxmlformats.org/officeDocument/2006/relationships/image" Target="../media/image7.png"/><Relationship Id="rId9" Type="http://schemas.openxmlformats.org/officeDocument/2006/relationships/image" Target="../media/image12.png"/><Relationship Id="rId14" Type="http://schemas.openxmlformats.org/officeDocument/2006/relationships/image" Target="../media/image16.jpe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C:\Users\csedeo2\Desktop\Cerficate 2.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575" y="0"/>
            <a:ext cx="12219024"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ounded Rectangle 6"/>
          <p:cNvSpPr/>
          <p:nvPr/>
        </p:nvSpPr>
        <p:spPr>
          <a:xfrm>
            <a:off x="1117600" y="2895600"/>
            <a:ext cx="10160000" cy="990600"/>
          </a:xfrm>
          <a:prstGeom prst="roundRect">
            <a:avLst/>
          </a:prstGeom>
        </p:spPr>
        <p:style>
          <a:lnRef idx="1">
            <a:schemeClr val="accent5"/>
          </a:lnRef>
          <a:fillRef idx="2">
            <a:schemeClr val="accent5"/>
          </a:fillRef>
          <a:effectRef idx="1">
            <a:schemeClr val="accent5"/>
          </a:effectRef>
          <a:fontRef idx="minor">
            <a:schemeClr val="dk1"/>
          </a:fontRef>
        </p:style>
        <p:txBody>
          <a:bodyPr anchor="ctr"/>
          <a:lstStyle/>
          <a:p>
            <a:pPr fontAlgn="auto">
              <a:lnSpc>
                <a:spcPct val="150000"/>
              </a:lnSpc>
              <a:spcBef>
                <a:spcPts val="0"/>
              </a:spcBef>
              <a:spcAft>
                <a:spcPts val="0"/>
              </a:spcAft>
              <a:defRPr/>
            </a:pPr>
            <a:r>
              <a:rPr lang="en-US" b="1" dirty="0"/>
              <a:t>Batch No: AB1</a:t>
            </a:r>
          </a:p>
          <a:p>
            <a:pPr fontAlgn="auto">
              <a:lnSpc>
                <a:spcPct val="150000"/>
              </a:lnSpc>
              <a:spcBef>
                <a:spcPts val="0"/>
              </a:spcBef>
              <a:spcAft>
                <a:spcPts val="0"/>
              </a:spcAft>
              <a:defRPr/>
            </a:pPr>
            <a:r>
              <a:rPr lang="en-US" b="1" dirty="0"/>
              <a:t>Project Title: </a:t>
            </a:r>
            <a:r>
              <a:rPr lang="en-US" altLang="en-US" b="1" dirty="0"/>
              <a:t>Talk2Invoice: AI-Powered Voice Assistant for Food Ordering Using Whisper and DistilBERT</a:t>
            </a:r>
          </a:p>
        </p:txBody>
      </p:sp>
      <p:graphicFrame>
        <p:nvGraphicFramePr>
          <p:cNvPr id="15" name="Table 14"/>
          <p:cNvGraphicFramePr>
            <a:graphicFrameLocks noGrp="1"/>
          </p:cNvGraphicFramePr>
          <p:nvPr>
            <p:custDataLst>
              <p:tags r:id="rId1"/>
            </p:custDataLst>
          </p:nvPr>
        </p:nvGraphicFramePr>
        <p:xfrm>
          <a:off x="7924800" y="5029200"/>
          <a:ext cx="3025140" cy="975360"/>
        </p:xfrm>
        <a:graphic>
          <a:graphicData uri="http://schemas.openxmlformats.org/drawingml/2006/table">
            <a:tbl>
              <a:tblPr firstRow="1" bandRow="1">
                <a:tableStyleId>{08FB837D-C827-4EFA-A057-4D05807E0F7C}</a:tableStyleId>
              </a:tblPr>
              <a:tblGrid>
                <a:gridCol w="3025140">
                  <a:extLst>
                    <a:ext uri="{9D8B030D-6E8A-4147-A177-3AD203B41FA5}">
                      <a16:colId xmlns:a16="http://schemas.microsoft.com/office/drawing/2014/main" val="20000"/>
                    </a:ext>
                  </a:extLst>
                </a:gridCol>
              </a:tblGrid>
              <a:tr h="335280">
                <a:tc>
                  <a:txBody>
                    <a:bodyPr/>
                    <a:lstStyle/>
                    <a:p>
                      <a:pPr algn="ctr"/>
                      <a:r>
                        <a:rPr lang="en-US" sz="1600" dirty="0">
                          <a:solidFill>
                            <a:schemeClr val="tx1">
                              <a:lumMod val="95000"/>
                              <a:lumOff val="5000"/>
                            </a:schemeClr>
                          </a:solidFill>
                        </a:rPr>
                        <a:t>Project Guide:</a:t>
                      </a:r>
                    </a:p>
                  </a:txBody>
                  <a:tcPr marL="121920" marR="121920">
                    <a:solidFill>
                      <a:srgbClr val="00B0F0"/>
                    </a:solidFill>
                  </a:tcPr>
                </a:tc>
                <a:extLst>
                  <a:ext uri="{0D108BD9-81ED-4DB2-BD59-A6C34878D82A}">
                    <a16:rowId xmlns:a16="http://schemas.microsoft.com/office/drawing/2014/main" val="10000"/>
                  </a:ext>
                </a:extLst>
              </a:tr>
              <a:tr h="640080">
                <a:tc>
                  <a:txBody>
                    <a:bodyPr/>
                    <a:lstStyle/>
                    <a:p>
                      <a:pPr algn="ctr"/>
                      <a:r>
                        <a:rPr lang="en-US" altLang="en-US" sz="1800" b="1" dirty="0">
                          <a:sym typeface="+mn-ea"/>
                        </a:rPr>
                        <a:t>Dr. Aswani Kumar E</a:t>
                      </a:r>
                      <a:endParaRPr lang="en-US" altLang="en-US" sz="1800" b="1" dirty="0"/>
                    </a:p>
                    <a:p>
                      <a:pPr algn="ctr"/>
                      <a:r>
                        <a:rPr lang="en-US" b="1" dirty="0"/>
                        <a:t> </a:t>
                      </a:r>
                    </a:p>
                  </a:txBody>
                  <a:tcPr marL="121920" marR="121920">
                    <a:gradFill flip="none" rotWithShape="1">
                      <a:gsLst>
                        <a:gs pos="0">
                          <a:srgbClr val="00B0F0">
                            <a:tint val="66000"/>
                            <a:satMod val="160000"/>
                          </a:srgbClr>
                        </a:gs>
                        <a:gs pos="50000">
                          <a:srgbClr val="00B0F0">
                            <a:tint val="44500"/>
                            <a:satMod val="160000"/>
                          </a:srgbClr>
                        </a:gs>
                        <a:gs pos="100000">
                          <a:srgbClr val="00B0F0">
                            <a:tint val="23500"/>
                            <a:satMod val="160000"/>
                          </a:srgbClr>
                        </a:gs>
                      </a:gsLst>
                      <a:path path="circle">
                        <a:fillToRect t="100000" r="100000"/>
                      </a:path>
                      <a:tileRect l="-100000" b="-100000"/>
                    </a:gradFill>
                  </a:tcPr>
                </a:tc>
                <a:extLst>
                  <a:ext uri="{0D108BD9-81ED-4DB2-BD59-A6C34878D82A}">
                    <a16:rowId xmlns:a16="http://schemas.microsoft.com/office/drawing/2014/main" val="10001"/>
                  </a:ext>
                </a:extLst>
              </a:tr>
            </a:tbl>
          </a:graphicData>
        </a:graphic>
      </p:graphicFrame>
      <p:sp>
        <p:nvSpPr>
          <p:cNvPr id="2054" name="Rectangle 15"/>
          <p:cNvSpPr>
            <a:spLocks noChangeArrowheads="1"/>
          </p:cNvSpPr>
          <p:nvPr/>
        </p:nvSpPr>
        <p:spPr bwMode="auto">
          <a:xfrm>
            <a:off x="4102100" y="2209800"/>
            <a:ext cx="59563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sz="2400" b="1" dirty="0">
                <a:solidFill>
                  <a:srgbClr val="0070C0"/>
                </a:solidFill>
                <a:latin typeface="Calisto MT" panose="02040603050505030304" pitchFamily="18" charset="0"/>
                <a:sym typeface="+mn-ea"/>
              </a:rPr>
              <a:t>               Major Project Review-I</a:t>
            </a:r>
            <a:endParaRPr lang="en-US" altLang="en-US" sz="2400" dirty="0">
              <a:latin typeface="Calibri" panose="020F0502020204030204" pitchFamily="34" charset="0"/>
            </a:endParaRPr>
          </a:p>
        </p:txBody>
      </p:sp>
      <p:pic>
        <p:nvPicPr>
          <p:cNvPr id="2055" name="Picture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84425" y="1701800"/>
            <a:ext cx="8467725" cy="465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2" name="Table 1"/>
          <p:cNvGraphicFramePr>
            <a:graphicFrameLocks noGrp="1"/>
          </p:cNvGraphicFramePr>
          <p:nvPr/>
        </p:nvGraphicFramePr>
        <p:xfrm>
          <a:off x="914400" y="4036060"/>
          <a:ext cx="6497955" cy="2329815"/>
        </p:xfrm>
        <a:graphic>
          <a:graphicData uri="http://schemas.openxmlformats.org/drawingml/2006/table">
            <a:tbl>
              <a:tblPr firstRow="1" bandRow="1">
                <a:tableStyleId>{08FB837D-C827-4EFA-A057-4D05807E0F7C}</a:tableStyleId>
              </a:tblPr>
              <a:tblGrid>
                <a:gridCol w="958215">
                  <a:extLst>
                    <a:ext uri="{9D8B030D-6E8A-4147-A177-3AD203B41FA5}">
                      <a16:colId xmlns:a16="http://schemas.microsoft.com/office/drawing/2014/main" val="20000"/>
                    </a:ext>
                  </a:extLst>
                </a:gridCol>
                <a:gridCol w="2140585">
                  <a:extLst>
                    <a:ext uri="{9D8B030D-6E8A-4147-A177-3AD203B41FA5}">
                      <a16:colId xmlns:a16="http://schemas.microsoft.com/office/drawing/2014/main" val="20001"/>
                    </a:ext>
                  </a:extLst>
                </a:gridCol>
                <a:gridCol w="3399155">
                  <a:extLst>
                    <a:ext uri="{9D8B030D-6E8A-4147-A177-3AD203B41FA5}">
                      <a16:colId xmlns:a16="http://schemas.microsoft.com/office/drawing/2014/main" val="20002"/>
                    </a:ext>
                  </a:extLst>
                </a:gridCol>
              </a:tblGrid>
              <a:tr h="352425">
                <a:tc>
                  <a:txBody>
                    <a:bodyPr/>
                    <a:lstStyle/>
                    <a:p>
                      <a:pPr algn="ctr"/>
                      <a:r>
                        <a:rPr lang="en-US" sz="1400" b="1" dirty="0" err="1">
                          <a:solidFill>
                            <a:schemeClr val="tx1">
                              <a:lumMod val="95000"/>
                              <a:lumOff val="5000"/>
                            </a:schemeClr>
                          </a:solidFill>
                          <a:latin typeface="Calibri" panose="020F0502020204030204" pitchFamily="34" charset="0"/>
                          <a:cs typeface="Calibri" panose="020F0502020204030204" pitchFamily="34" charset="0"/>
                        </a:rPr>
                        <a:t>S.No</a:t>
                      </a:r>
                      <a:endParaRPr lang="en-US" sz="1400" b="1" i="0" dirty="0" err="1">
                        <a:solidFill>
                          <a:schemeClr val="tx1">
                            <a:lumMod val="95000"/>
                            <a:lumOff val="5000"/>
                          </a:schemeClr>
                        </a:solidFill>
                        <a:latin typeface="Calibri" panose="020F0502020204030204" pitchFamily="34" charset="0"/>
                        <a:cs typeface="Calibri" panose="020F0502020204030204" pitchFamily="34" charset="0"/>
                      </a:endParaRPr>
                    </a:p>
                  </a:txBody>
                  <a:tcPr marL="121920" marR="121920">
                    <a:solidFill>
                      <a:srgbClr val="00B0F0"/>
                    </a:solidFill>
                  </a:tcPr>
                </a:tc>
                <a:tc>
                  <a:txBody>
                    <a:bodyPr/>
                    <a:lstStyle/>
                    <a:p>
                      <a:pPr algn="ctr"/>
                      <a:r>
                        <a:rPr lang="en-US" sz="1400" b="1" dirty="0">
                          <a:solidFill>
                            <a:schemeClr val="tx1">
                              <a:lumMod val="95000"/>
                              <a:lumOff val="5000"/>
                            </a:schemeClr>
                          </a:solidFill>
                          <a:latin typeface="Calibri" panose="020F0502020204030204" pitchFamily="34" charset="0"/>
                          <a:cs typeface="Calibri" panose="020F0502020204030204" pitchFamily="34" charset="0"/>
                        </a:rPr>
                        <a:t>Reg.No</a:t>
                      </a:r>
                      <a:endParaRPr lang="en-US" sz="1400" b="1" i="0" dirty="0">
                        <a:solidFill>
                          <a:schemeClr val="tx1">
                            <a:lumMod val="95000"/>
                            <a:lumOff val="5000"/>
                          </a:schemeClr>
                        </a:solidFill>
                        <a:latin typeface="Calibri" panose="020F0502020204030204" pitchFamily="34" charset="0"/>
                        <a:cs typeface="Calibri" panose="020F0502020204030204" pitchFamily="34" charset="0"/>
                      </a:endParaRPr>
                    </a:p>
                  </a:txBody>
                  <a:tcPr marL="121920" marR="121920">
                    <a:solidFill>
                      <a:srgbClr val="00B0F0"/>
                    </a:solidFill>
                  </a:tcPr>
                </a:tc>
                <a:tc>
                  <a:txBody>
                    <a:bodyPr/>
                    <a:lstStyle/>
                    <a:p>
                      <a:pPr algn="ctr"/>
                      <a:r>
                        <a:rPr lang="en-US" sz="1400" b="1" dirty="0">
                          <a:solidFill>
                            <a:schemeClr val="tx1">
                              <a:lumMod val="95000"/>
                              <a:lumOff val="5000"/>
                            </a:schemeClr>
                          </a:solidFill>
                          <a:latin typeface="Calibri" panose="020F0502020204030204" pitchFamily="34" charset="0"/>
                          <a:cs typeface="Calibri" panose="020F0502020204030204" pitchFamily="34" charset="0"/>
                        </a:rPr>
                        <a:t>Student </a:t>
                      </a:r>
                      <a:r>
                        <a:rPr lang="en-US" sz="1400" b="1" baseline="0" dirty="0">
                          <a:solidFill>
                            <a:schemeClr val="tx1">
                              <a:lumMod val="95000"/>
                              <a:lumOff val="5000"/>
                            </a:schemeClr>
                          </a:solidFill>
                          <a:latin typeface="Calibri" panose="020F0502020204030204" pitchFamily="34" charset="0"/>
                          <a:cs typeface="Calibri" panose="020F0502020204030204" pitchFamily="34" charset="0"/>
                        </a:rPr>
                        <a:t> Name</a:t>
                      </a:r>
                      <a:endParaRPr lang="en-US" sz="1400" b="1" i="0" dirty="0">
                        <a:solidFill>
                          <a:schemeClr val="tx1">
                            <a:lumMod val="95000"/>
                            <a:lumOff val="5000"/>
                          </a:schemeClr>
                        </a:solidFill>
                        <a:latin typeface="Calibri" panose="020F0502020204030204" pitchFamily="34" charset="0"/>
                        <a:cs typeface="Calibri" panose="020F0502020204030204" pitchFamily="34" charset="0"/>
                      </a:endParaRPr>
                    </a:p>
                  </a:txBody>
                  <a:tcPr marL="121920" marR="121920">
                    <a:solidFill>
                      <a:srgbClr val="00B0F0"/>
                    </a:solidFill>
                  </a:tcPr>
                </a:tc>
                <a:extLst>
                  <a:ext uri="{0D108BD9-81ED-4DB2-BD59-A6C34878D82A}">
                    <a16:rowId xmlns:a16="http://schemas.microsoft.com/office/drawing/2014/main" val="10000"/>
                  </a:ext>
                </a:extLst>
              </a:tr>
              <a:tr h="351155">
                <a:tc>
                  <a:txBody>
                    <a:bodyPr/>
                    <a:lstStyle/>
                    <a:p>
                      <a:pPr algn="ctr"/>
                      <a:r>
                        <a:rPr lang="en-IN" sz="1400" b="1" dirty="0">
                          <a:latin typeface="Calibri" panose="020F0502020204030204" pitchFamily="34" charset="0"/>
                          <a:cs typeface="Calibri" panose="020F0502020204030204" pitchFamily="34" charset="0"/>
                        </a:rPr>
                        <a:t>1</a:t>
                      </a:r>
                    </a:p>
                  </a:txBody>
                  <a:tcPr marL="121920" marR="121920">
                    <a:gradFill flip="none" rotWithShape="1">
                      <a:gsLst>
                        <a:gs pos="0">
                          <a:srgbClr val="00B0F0">
                            <a:tint val="66000"/>
                            <a:satMod val="160000"/>
                          </a:srgbClr>
                        </a:gs>
                        <a:gs pos="50000">
                          <a:srgbClr val="00B0F0">
                            <a:tint val="44500"/>
                            <a:satMod val="160000"/>
                          </a:srgbClr>
                        </a:gs>
                        <a:gs pos="100000">
                          <a:srgbClr val="00B0F0">
                            <a:tint val="23500"/>
                            <a:satMod val="160000"/>
                          </a:srgbClr>
                        </a:gs>
                      </a:gsLst>
                      <a:lin ang="5400000" scaled="1"/>
                      <a:tileRect/>
                    </a:gradFill>
                  </a:tcPr>
                </a:tc>
                <a:tc>
                  <a:txBody>
                    <a:bodyPr/>
                    <a:lstStyle/>
                    <a:p>
                      <a:pPr algn="ctr"/>
                      <a:r>
                        <a:rPr lang="en-US" sz="1400" b="1" dirty="0">
                          <a:latin typeface="Calibri" panose="020F0502020204030204" pitchFamily="34" charset="0"/>
                          <a:cs typeface="Calibri" panose="020F0502020204030204" pitchFamily="34" charset="0"/>
                        </a:rPr>
                        <a:t>22A81A6170</a:t>
                      </a:r>
                    </a:p>
                  </a:txBody>
                  <a:tcPr marL="121920" marR="121920">
                    <a:gradFill flip="none" rotWithShape="1">
                      <a:gsLst>
                        <a:gs pos="0">
                          <a:srgbClr val="00B0F0">
                            <a:tint val="66000"/>
                            <a:satMod val="160000"/>
                          </a:srgbClr>
                        </a:gs>
                        <a:gs pos="50000">
                          <a:srgbClr val="00B0F0">
                            <a:tint val="44500"/>
                            <a:satMod val="160000"/>
                          </a:srgbClr>
                        </a:gs>
                        <a:gs pos="100000">
                          <a:srgbClr val="00B0F0">
                            <a:tint val="23500"/>
                            <a:satMod val="160000"/>
                          </a:srgbClr>
                        </a:gs>
                      </a:gsLst>
                      <a:lin ang="5400000" scaled="1"/>
                      <a:tileRect/>
                    </a:gradFill>
                  </a:tcPr>
                </a:tc>
                <a:tc>
                  <a:txBody>
                    <a:bodyPr/>
                    <a:lstStyle/>
                    <a:p>
                      <a:pPr algn="ctr"/>
                      <a:r>
                        <a:rPr lang="en-US" sz="1400" b="1" dirty="0">
                          <a:latin typeface="Calibri" panose="020F0502020204030204" pitchFamily="34" charset="0"/>
                          <a:cs typeface="Calibri" panose="020F0502020204030204" pitchFamily="34" charset="0"/>
                        </a:rPr>
                        <a:t>BANDI POORNA SRI SAILAJA</a:t>
                      </a:r>
                    </a:p>
                  </a:txBody>
                  <a:tcPr marL="121920" marR="121920">
                    <a:gradFill flip="none" rotWithShape="1">
                      <a:gsLst>
                        <a:gs pos="0">
                          <a:srgbClr val="00B0F0">
                            <a:tint val="66000"/>
                            <a:satMod val="160000"/>
                          </a:srgbClr>
                        </a:gs>
                        <a:gs pos="50000">
                          <a:srgbClr val="00B0F0">
                            <a:tint val="44500"/>
                            <a:satMod val="160000"/>
                          </a:srgbClr>
                        </a:gs>
                        <a:gs pos="100000">
                          <a:srgbClr val="00B0F0">
                            <a:tint val="23500"/>
                            <a:satMod val="160000"/>
                          </a:srgbClr>
                        </a:gs>
                      </a:gsLst>
                      <a:lin ang="5400000" scaled="1"/>
                      <a:tileRect/>
                    </a:gradFill>
                  </a:tcPr>
                </a:tc>
                <a:extLst>
                  <a:ext uri="{0D108BD9-81ED-4DB2-BD59-A6C34878D82A}">
                    <a16:rowId xmlns:a16="http://schemas.microsoft.com/office/drawing/2014/main" val="10001"/>
                  </a:ext>
                </a:extLst>
              </a:tr>
              <a:tr h="353060">
                <a:tc>
                  <a:txBody>
                    <a:bodyPr/>
                    <a:lstStyle/>
                    <a:p>
                      <a:pPr algn="ctr"/>
                      <a:r>
                        <a:rPr lang="en-IN" sz="1400" b="1" dirty="0">
                          <a:latin typeface="Calibri" panose="020F0502020204030204" pitchFamily="34" charset="0"/>
                          <a:cs typeface="Calibri" panose="020F0502020204030204" pitchFamily="34" charset="0"/>
                        </a:rPr>
                        <a:t>2</a:t>
                      </a:r>
                    </a:p>
                  </a:txBody>
                  <a:tcPr marL="121920" marR="121920">
                    <a:gradFill flip="none" rotWithShape="1">
                      <a:gsLst>
                        <a:gs pos="0">
                          <a:srgbClr val="00B0F0">
                            <a:tint val="66000"/>
                            <a:satMod val="160000"/>
                          </a:srgbClr>
                        </a:gs>
                        <a:gs pos="50000">
                          <a:srgbClr val="00B0F0">
                            <a:tint val="44500"/>
                            <a:satMod val="160000"/>
                          </a:srgbClr>
                        </a:gs>
                        <a:gs pos="100000">
                          <a:srgbClr val="00B0F0">
                            <a:tint val="23500"/>
                            <a:satMod val="160000"/>
                          </a:srgbClr>
                        </a:gs>
                      </a:gsLst>
                      <a:lin ang="5400000" scaled="1"/>
                      <a:tileRect/>
                    </a:gradFill>
                  </a:tcPr>
                </a:tc>
                <a:tc>
                  <a:txBody>
                    <a:bodyPr/>
                    <a:lstStyle/>
                    <a:p>
                      <a:pPr algn="ctr"/>
                      <a:r>
                        <a:rPr lang="en-US" sz="1400" b="1" dirty="0">
                          <a:latin typeface="Calibri" panose="020F0502020204030204" pitchFamily="34" charset="0"/>
                          <a:cs typeface="Calibri" panose="020F0502020204030204" pitchFamily="34" charset="0"/>
                        </a:rPr>
                        <a:t>22A81A61D0</a:t>
                      </a:r>
                    </a:p>
                  </a:txBody>
                  <a:tcPr marL="121920" marR="121920">
                    <a:gradFill flip="none" rotWithShape="1">
                      <a:gsLst>
                        <a:gs pos="0">
                          <a:srgbClr val="00B0F0">
                            <a:tint val="66000"/>
                            <a:satMod val="160000"/>
                          </a:srgbClr>
                        </a:gs>
                        <a:gs pos="50000">
                          <a:srgbClr val="00B0F0">
                            <a:tint val="44500"/>
                            <a:satMod val="160000"/>
                          </a:srgbClr>
                        </a:gs>
                        <a:gs pos="100000">
                          <a:srgbClr val="00B0F0">
                            <a:tint val="23500"/>
                            <a:satMod val="160000"/>
                          </a:srgbClr>
                        </a:gs>
                      </a:gsLst>
                      <a:lin ang="5400000" scaled="1"/>
                      <a:tileRect/>
                    </a:gradFill>
                  </a:tcPr>
                </a:tc>
                <a:tc>
                  <a:txBody>
                    <a:bodyPr/>
                    <a:lstStyle/>
                    <a:p>
                      <a:pPr algn="ctr"/>
                      <a:r>
                        <a:rPr lang="en-US" sz="1400" b="1" dirty="0">
                          <a:latin typeface="Calibri" panose="020F0502020204030204" pitchFamily="34" charset="0"/>
                          <a:cs typeface="Calibri" panose="020F0502020204030204" pitchFamily="34" charset="0"/>
                        </a:rPr>
                        <a:t>YAMANA BALAJI AKSHAY KUMAR</a:t>
                      </a:r>
                    </a:p>
                  </a:txBody>
                  <a:tcPr marL="121920" marR="121920">
                    <a:gradFill flip="none" rotWithShape="1">
                      <a:gsLst>
                        <a:gs pos="0">
                          <a:srgbClr val="00B0F0">
                            <a:tint val="66000"/>
                            <a:satMod val="160000"/>
                          </a:srgbClr>
                        </a:gs>
                        <a:gs pos="50000">
                          <a:srgbClr val="00B0F0">
                            <a:tint val="44500"/>
                            <a:satMod val="160000"/>
                          </a:srgbClr>
                        </a:gs>
                        <a:gs pos="100000">
                          <a:srgbClr val="00B0F0">
                            <a:tint val="23500"/>
                            <a:satMod val="160000"/>
                          </a:srgbClr>
                        </a:gs>
                      </a:gsLst>
                      <a:lin ang="5400000" scaled="1"/>
                      <a:tileRect/>
                    </a:gradFill>
                  </a:tcPr>
                </a:tc>
                <a:extLst>
                  <a:ext uri="{0D108BD9-81ED-4DB2-BD59-A6C34878D82A}">
                    <a16:rowId xmlns:a16="http://schemas.microsoft.com/office/drawing/2014/main" val="10002"/>
                  </a:ext>
                </a:extLst>
              </a:tr>
              <a:tr h="318135">
                <a:tc>
                  <a:txBody>
                    <a:bodyPr/>
                    <a:lstStyle/>
                    <a:p>
                      <a:pPr algn="ctr"/>
                      <a:r>
                        <a:rPr lang="en-IN" sz="1400" b="1" dirty="0">
                          <a:latin typeface="Calibri" panose="020F0502020204030204" pitchFamily="34" charset="0"/>
                          <a:cs typeface="Calibri" panose="020F0502020204030204" pitchFamily="34" charset="0"/>
                        </a:rPr>
                        <a:t>3</a:t>
                      </a:r>
                    </a:p>
                  </a:txBody>
                  <a:tcPr marL="121920" marR="121920">
                    <a:gradFill flip="none" rotWithShape="1">
                      <a:gsLst>
                        <a:gs pos="0">
                          <a:srgbClr val="00B0F0">
                            <a:tint val="66000"/>
                            <a:satMod val="160000"/>
                          </a:srgbClr>
                        </a:gs>
                        <a:gs pos="50000">
                          <a:srgbClr val="00B0F0">
                            <a:tint val="44500"/>
                            <a:satMod val="160000"/>
                          </a:srgbClr>
                        </a:gs>
                        <a:gs pos="100000">
                          <a:srgbClr val="00B0F0">
                            <a:tint val="23500"/>
                            <a:satMod val="160000"/>
                          </a:srgbClr>
                        </a:gs>
                      </a:gsLst>
                      <a:lin ang="5400000" scaled="1"/>
                      <a:tileRect/>
                    </a:gradFill>
                  </a:tcPr>
                </a:tc>
                <a:tc>
                  <a:txBody>
                    <a:bodyPr/>
                    <a:lstStyle/>
                    <a:p>
                      <a:pPr algn="ctr"/>
                      <a:r>
                        <a:rPr lang="en-US" sz="1400" b="1" dirty="0">
                          <a:latin typeface="Calibri" panose="020F0502020204030204" pitchFamily="34" charset="0"/>
                          <a:cs typeface="Calibri" panose="020F0502020204030204" pitchFamily="34" charset="0"/>
                        </a:rPr>
                        <a:t>22A81A61B3</a:t>
                      </a:r>
                    </a:p>
                  </a:txBody>
                  <a:tcPr marL="121920" marR="121920">
                    <a:gradFill flip="none" rotWithShape="1">
                      <a:gsLst>
                        <a:gs pos="0">
                          <a:srgbClr val="00B0F0">
                            <a:tint val="66000"/>
                            <a:satMod val="160000"/>
                          </a:srgbClr>
                        </a:gs>
                        <a:gs pos="50000">
                          <a:srgbClr val="00B0F0">
                            <a:tint val="44500"/>
                            <a:satMod val="160000"/>
                          </a:srgbClr>
                        </a:gs>
                        <a:gs pos="100000">
                          <a:srgbClr val="00B0F0">
                            <a:tint val="23500"/>
                            <a:satMod val="160000"/>
                          </a:srgbClr>
                        </a:gs>
                      </a:gsLst>
                      <a:lin ang="5400000" scaled="1"/>
                      <a:tileRect/>
                    </a:gradFill>
                  </a:tcPr>
                </a:tc>
                <a:tc>
                  <a:txBody>
                    <a:bodyPr/>
                    <a:lstStyle/>
                    <a:p>
                      <a:pPr algn="ctr"/>
                      <a:r>
                        <a:rPr lang="en-US" altLang="en-US" sz="1400" b="1" dirty="0">
                          <a:latin typeface="Calibri" panose="020F0502020204030204" pitchFamily="34" charset="0"/>
                          <a:cs typeface="Calibri" panose="020F0502020204030204" pitchFamily="34" charset="0"/>
                        </a:rPr>
                        <a:t>PULAGAM </a:t>
                      </a:r>
                      <a:r>
                        <a:rPr lang="en-US" sz="1400" b="1" dirty="0">
                          <a:latin typeface="Calibri" panose="020F0502020204030204" pitchFamily="34" charset="0"/>
                          <a:cs typeface="Calibri" panose="020F0502020204030204" pitchFamily="34" charset="0"/>
                        </a:rPr>
                        <a:t>SANTHOSHINI</a:t>
                      </a:r>
                    </a:p>
                  </a:txBody>
                  <a:tcPr marL="121920" marR="121920">
                    <a:gradFill flip="none" rotWithShape="1">
                      <a:gsLst>
                        <a:gs pos="0">
                          <a:srgbClr val="00B0F0">
                            <a:tint val="66000"/>
                            <a:satMod val="160000"/>
                          </a:srgbClr>
                        </a:gs>
                        <a:gs pos="50000">
                          <a:srgbClr val="00B0F0">
                            <a:tint val="44500"/>
                            <a:satMod val="160000"/>
                          </a:srgbClr>
                        </a:gs>
                        <a:gs pos="100000">
                          <a:srgbClr val="00B0F0">
                            <a:tint val="23500"/>
                            <a:satMod val="160000"/>
                          </a:srgbClr>
                        </a:gs>
                      </a:gsLst>
                      <a:lin ang="5400000" scaled="1"/>
                      <a:tileRect/>
                    </a:gradFill>
                  </a:tcPr>
                </a:tc>
                <a:extLst>
                  <a:ext uri="{0D108BD9-81ED-4DB2-BD59-A6C34878D82A}">
                    <a16:rowId xmlns:a16="http://schemas.microsoft.com/office/drawing/2014/main" val="10003"/>
                  </a:ext>
                </a:extLst>
              </a:tr>
              <a:tr h="318135">
                <a:tc>
                  <a:txBody>
                    <a:bodyPr/>
                    <a:lstStyle/>
                    <a:p>
                      <a:pPr algn="ctr">
                        <a:buNone/>
                      </a:pPr>
                      <a:r>
                        <a:rPr lang="en-US" sz="1400" b="1" dirty="0">
                          <a:latin typeface="Calibri" panose="020F0502020204030204" pitchFamily="34" charset="0"/>
                          <a:cs typeface="Calibri" panose="020F0502020204030204" pitchFamily="34" charset="0"/>
                        </a:rPr>
                        <a:t>4</a:t>
                      </a:r>
                    </a:p>
                  </a:txBody>
                  <a:tcPr marL="121920" marR="121920">
                    <a:gradFill flip="none" rotWithShape="1">
                      <a:gsLst>
                        <a:gs pos="0">
                          <a:srgbClr val="00B0F0">
                            <a:tint val="66000"/>
                            <a:satMod val="160000"/>
                          </a:srgbClr>
                        </a:gs>
                        <a:gs pos="50000">
                          <a:srgbClr val="00B0F0">
                            <a:tint val="44500"/>
                            <a:satMod val="160000"/>
                          </a:srgbClr>
                        </a:gs>
                        <a:gs pos="100000">
                          <a:srgbClr val="00B0F0">
                            <a:tint val="23500"/>
                            <a:satMod val="160000"/>
                          </a:srgbClr>
                        </a:gs>
                      </a:gsLst>
                      <a:lin ang="5400000" scaled="1"/>
                      <a:tileRect/>
                    </a:gradFill>
                  </a:tcPr>
                </a:tc>
                <a:tc>
                  <a:txBody>
                    <a:bodyPr/>
                    <a:lstStyle/>
                    <a:p>
                      <a:pPr algn="ctr">
                        <a:buNone/>
                      </a:pPr>
                      <a:r>
                        <a:rPr lang="en-US" sz="1400" b="1" dirty="0">
                          <a:latin typeface="Calibri" panose="020F0502020204030204" pitchFamily="34" charset="0"/>
                          <a:cs typeface="Calibri" panose="020F0502020204030204" pitchFamily="34" charset="0"/>
                        </a:rPr>
                        <a:t>22A81A6173</a:t>
                      </a:r>
                    </a:p>
                  </a:txBody>
                  <a:tcPr marL="121920" marR="121920">
                    <a:gradFill flip="none" rotWithShape="1">
                      <a:gsLst>
                        <a:gs pos="0">
                          <a:srgbClr val="00B0F0">
                            <a:tint val="66000"/>
                            <a:satMod val="160000"/>
                          </a:srgbClr>
                        </a:gs>
                        <a:gs pos="50000">
                          <a:srgbClr val="00B0F0">
                            <a:tint val="44500"/>
                            <a:satMod val="160000"/>
                          </a:srgbClr>
                        </a:gs>
                        <a:gs pos="100000">
                          <a:srgbClr val="00B0F0">
                            <a:tint val="23500"/>
                            <a:satMod val="160000"/>
                          </a:srgbClr>
                        </a:gs>
                      </a:gsLst>
                      <a:lin ang="5400000" scaled="1"/>
                      <a:tileRect/>
                    </a:gradFill>
                  </a:tcPr>
                </a:tc>
                <a:tc>
                  <a:txBody>
                    <a:bodyPr/>
                    <a:lstStyle/>
                    <a:p>
                      <a:pPr algn="ctr">
                        <a:buNone/>
                      </a:pPr>
                      <a:r>
                        <a:rPr lang="en-US" altLang="en-US" sz="1400" b="1" dirty="0">
                          <a:latin typeface="Calibri" panose="020F0502020204030204" pitchFamily="34" charset="0"/>
                          <a:cs typeface="Calibri" panose="020F0502020204030204" pitchFamily="34" charset="0"/>
                        </a:rPr>
                        <a:t>BORRA VIKASH</a:t>
                      </a:r>
                    </a:p>
                  </a:txBody>
                  <a:tcPr marL="121920" marR="121920">
                    <a:gradFill flip="none" rotWithShape="1">
                      <a:gsLst>
                        <a:gs pos="0">
                          <a:srgbClr val="00B0F0">
                            <a:tint val="66000"/>
                            <a:satMod val="160000"/>
                          </a:srgbClr>
                        </a:gs>
                        <a:gs pos="50000">
                          <a:srgbClr val="00B0F0">
                            <a:tint val="44500"/>
                            <a:satMod val="160000"/>
                          </a:srgbClr>
                        </a:gs>
                        <a:gs pos="100000">
                          <a:srgbClr val="00B0F0">
                            <a:tint val="23500"/>
                            <a:satMod val="160000"/>
                          </a:srgbClr>
                        </a:gs>
                      </a:gsLst>
                      <a:lin ang="5400000" scaled="1"/>
                      <a:tileRect/>
                    </a:gradFill>
                  </a:tcPr>
                </a:tc>
                <a:extLst>
                  <a:ext uri="{0D108BD9-81ED-4DB2-BD59-A6C34878D82A}">
                    <a16:rowId xmlns:a16="http://schemas.microsoft.com/office/drawing/2014/main" val="10004"/>
                  </a:ext>
                </a:extLst>
              </a:tr>
              <a:tr h="318770">
                <a:tc>
                  <a:txBody>
                    <a:bodyPr/>
                    <a:lstStyle/>
                    <a:p>
                      <a:pPr algn="ctr"/>
                      <a:r>
                        <a:rPr lang="en-US" sz="1400" b="1" dirty="0">
                          <a:latin typeface="Calibri" panose="020F0502020204030204" pitchFamily="34" charset="0"/>
                          <a:cs typeface="Calibri" panose="020F0502020204030204" pitchFamily="34" charset="0"/>
                        </a:rPr>
                        <a:t>5</a:t>
                      </a:r>
                    </a:p>
                  </a:txBody>
                  <a:tcPr marL="121920" marR="121920">
                    <a:gradFill flip="none" rotWithShape="1">
                      <a:gsLst>
                        <a:gs pos="0">
                          <a:srgbClr val="00B0F0">
                            <a:tint val="66000"/>
                            <a:satMod val="160000"/>
                          </a:srgbClr>
                        </a:gs>
                        <a:gs pos="50000">
                          <a:srgbClr val="00B0F0">
                            <a:tint val="44500"/>
                            <a:satMod val="160000"/>
                          </a:srgbClr>
                        </a:gs>
                        <a:gs pos="100000">
                          <a:srgbClr val="00B0F0">
                            <a:tint val="23500"/>
                            <a:satMod val="160000"/>
                          </a:srgbClr>
                        </a:gs>
                      </a:gsLst>
                      <a:lin ang="5400000" scaled="1"/>
                      <a:tileRect/>
                    </a:gradFill>
                  </a:tcPr>
                </a:tc>
                <a:tc>
                  <a:txBody>
                    <a:bodyPr/>
                    <a:lstStyle/>
                    <a:p>
                      <a:pPr algn="ctr"/>
                      <a:r>
                        <a:rPr lang="en-US" sz="1400" b="1" dirty="0">
                          <a:latin typeface="Calibri" panose="020F0502020204030204" pitchFamily="34" charset="0"/>
                          <a:cs typeface="Calibri" panose="020F0502020204030204" pitchFamily="34" charset="0"/>
                          <a:sym typeface="+mn-ea"/>
                        </a:rPr>
                        <a:t>22A81A6174</a:t>
                      </a:r>
                    </a:p>
                  </a:txBody>
                  <a:tcPr marL="121920" marR="121920">
                    <a:gradFill flip="none" rotWithShape="1">
                      <a:gsLst>
                        <a:gs pos="0">
                          <a:srgbClr val="00B0F0">
                            <a:tint val="66000"/>
                            <a:satMod val="160000"/>
                          </a:srgbClr>
                        </a:gs>
                        <a:gs pos="50000">
                          <a:srgbClr val="00B0F0">
                            <a:tint val="44500"/>
                            <a:satMod val="160000"/>
                          </a:srgbClr>
                        </a:gs>
                        <a:gs pos="100000">
                          <a:srgbClr val="00B0F0">
                            <a:tint val="23500"/>
                            <a:satMod val="160000"/>
                          </a:srgbClr>
                        </a:gs>
                      </a:gsLst>
                      <a:lin ang="5400000" scaled="1"/>
                      <a:tileRect/>
                    </a:gradFill>
                  </a:tcPr>
                </a:tc>
                <a:tc>
                  <a:txBody>
                    <a:bodyPr/>
                    <a:lstStyle/>
                    <a:p>
                      <a:pPr algn="ctr"/>
                      <a:r>
                        <a:rPr lang="en-US" altLang="en-US" sz="1400" b="1" dirty="0">
                          <a:latin typeface="Calibri" panose="020F0502020204030204" pitchFamily="34" charset="0"/>
                          <a:cs typeface="Calibri" panose="020F0502020204030204" pitchFamily="34" charset="0"/>
                        </a:rPr>
                        <a:t>CHITTIDI KAVYA LIKHITA</a:t>
                      </a:r>
                    </a:p>
                  </a:txBody>
                  <a:tcPr marL="121920" marR="121920">
                    <a:gradFill flip="none" rotWithShape="1">
                      <a:gsLst>
                        <a:gs pos="0">
                          <a:srgbClr val="00B0F0">
                            <a:tint val="66000"/>
                            <a:satMod val="160000"/>
                          </a:srgbClr>
                        </a:gs>
                        <a:gs pos="50000">
                          <a:srgbClr val="00B0F0">
                            <a:tint val="44500"/>
                            <a:satMod val="160000"/>
                          </a:srgbClr>
                        </a:gs>
                        <a:gs pos="100000">
                          <a:srgbClr val="00B0F0">
                            <a:tint val="23500"/>
                            <a:satMod val="160000"/>
                          </a:srgbClr>
                        </a:gs>
                      </a:gsLst>
                      <a:lin ang="5400000" scaled="1"/>
                      <a:tileRect/>
                    </a:gradFill>
                  </a:tcPr>
                </a:tc>
                <a:extLst>
                  <a:ext uri="{0D108BD9-81ED-4DB2-BD59-A6C34878D82A}">
                    <a16:rowId xmlns:a16="http://schemas.microsoft.com/office/drawing/2014/main" val="10005"/>
                  </a:ext>
                </a:extLst>
              </a:tr>
              <a:tr h="318135">
                <a:tc>
                  <a:txBody>
                    <a:bodyPr/>
                    <a:lstStyle/>
                    <a:p>
                      <a:pPr algn="ctr"/>
                      <a:r>
                        <a:rPr lang="en-US" sz="1400" b="1" dirty="0">
                          <a:latin typeface="Calibri" panose="020F0502020204030204" pitchFamily="34" charset="0"/>
                          <a:cs typeface="Calibri" panose="020F0502020204030204" pitchFamily="34" charset="0"/>
                        </a:rPr>
                        <a:t>6</a:t>
                      </a:r>
                    </a:p>
                  </a:txBody>
                  <a:tcPr marL="121920" marR="121920">
                    <a:gradFill flip="none" rotWithShape="1">
                      <a:gsLst>
                        <a:gs pos="0">
                          <a:srgbClr val="00B0F0">
                            <a:tint val="66000"/>
                            <a:satMod val="160000"/>
                          </a:srgbClr>
                        </a:gs>
                        <a:gs pos="50000">
                          <a:srgbClr val="00B0F0">
                            <a:tint val="44500"/>
                            <a:satMod val="160000"/>
                          </a:srgbClr>
                        </a:gs>
                        <a:gs pos="100000">
                          <a:srgbClr val="00B0F0">
                            <a:tint val="23500"/>
                            <a:satMod val="160000"/>
                          </a:srgbClr>
                        </a:gs>
                      </a:gsLst>
                      <a:lin ang="5400000" scaled="1"/>
                      <a:tileRect/>
                    </a:gradFill>
                  </a:tcPr>
                </a:tc>
                <a:tc>
                  <a:txBody>
                    <a:bodyPr/>
                    <a:lstStyle/>
                    <a:p>
                      <a:pPr algn="ctr"/>
                      <a:r>
                        <a:rPr lang="en-US" sz="1400" b="1" dirty="0">
                          <a:latin typeface="Calibri" panose="020F0502020204030204" pitchFamily="34" charset="0"/>
                          <a:cs typeface="Calibri" panose="020F0502020204030204" pitchFamily="34" charset="0"/>
                        </a:rPr>
                        <a:t>23A85A6114</a:t>
                      </a:r>
                    </a:p>
                  </a:txBody>
                  <a:tcPr marL="121920" marR="121920">
                    <a:gradFill flip="none" rotWithShape="1">
                      <a:gsLst>
                        <a:gs pos="0">
                          <a:srgbClr val="00B0F0">
                            <a:tint val="66000"/>
                            <a:satMod val="160000"/>
                          </a:srgbClr>
                        </a:gs>
                        <a:gs pos="50000">
                          <a:srgbClr val="00B0F0">
                            <a:tint val="44500"/>
                            <a:satMod val="160000"/>
                          </a:srgbClr>
                        </a:gs>
                        <a:gs pos="100000">
                          <a:srgbClr val="00B0F0">
                            <a:tint val="23500"/>
                            <a:satMod val="160000"/>
                          </a:srgbClr>
                        </a:gs>
                      </a:gsLst>
                      <a:lin ang="5400000" scaled="1"/>
                      <a:tileRect/>
                    </a:gradFill>
                  </a:tcPr>
                </a:tc>
                <a:tc>
                  <a:txBody>
                    <a:bodyPr/>
                    <a:lstStyle/>
                    <a:p>
                      <a:pPr algn="ctr"/>
                      <a:r>
                        <a:rPr lang="en-US" altLang="en-US" sz="1400" b="1" dirty="0">
                          <a:latin typeface="Calibri" panose="020F0502020204030204" pitchFamily="34" charset="0"/>
                          <a:cs typeface="Calibri" panose="020F0502020204030204" pitchFamily="34" charset="0"/>
                        </a:rPr>
                        <a:t>YERUWAKA RAM DURGA PRASAD</a:t>
                      </a:r>
                    </a:p>
                  </a:txBody>
                  <a:tcPr marL="121920" marR="121920">
                    <a:gradFill flip="none" rotWithShape="1">
                      <a:gsLst>
                        <a:gs pos="0">
                          <a:srgbClr val="00B0F0">
                            <a:tint val="66000"/>
                            <a:satMod val="160000"/>
                          </a:srgbClr>
                        </a:gs>
                        <a:gs pos="50000">
                          <a:srgbClr val="00B0F0">
                            <a:tint val="44500"/>
                            <a:satMod val="160000"/>
                          </a:srgbClr>
                        </a:gs>
                        <a:gs pos="100000">
                          <a:srgbClr val="00B0F0">
                            <a:tint val="23500"/>
                            <a:satMod val="160000"/>
                          </a:srgbClr>
                        </a:gs>
                      </a:gsLst>
                      <a:lin ang="5400000" scaled="1"/>
                      <a:tileRect/>
                    </a:gradFill>
                  </a:tcPr>
                </a:tc>
                <a:extLst>
                  <a:ext uri="{0D108BD9-81ED-4DB2-BD59-A6C34878D82A}">
                    <a16:rowId xmlns:a16="http://schemas.microsoft.com/office/drawing/2014/main" val="10006"/>
                  </a:ext>
                </a:extLst>
              </a:tr>
            </a:tbl>
          </a:graphicData>
        </a:graphic>
      </p:graphicFrame>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70E266-ED36-F44A-7679-E9225889BC35}"/>
              </a:ext>
            </a:extLst>
          </p:cNvPr>
          <p:cNvSpPr>
            <a:spLocks noGrp="1"/>
          </p:cNvSpPr>
          <p:nvPr>
            <p:ph type="title"/>
          </p:nvPr>
        </p:nvSpPr>
        <p:spPr/>
        <p:txBody>
          <a:bodyPr>
            <a:normAutofit/>
          </a:bodyPr>
          <a:lstStyle/>
          <a:p>
            <a:r>
              <a:rPr lang="en-IN" sz="40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MAJOR PROJECT REVIEW 1-CONTENTS</a:t>
            </a:r>
            <a:endParaRPr lang="en-US" sz="4000" dirty="0"/>
          </a:p>
        </p:txBody>
      </p:sp>
      <p:sp>
        <p:nvSpPr>
          <p:cNvPr id="3" name="Content Placeholder 2">
            <a:extLst>
              <a:ext uri="{FF2B5EF4-FFF2-40B4-BE49-F238E27FC236}">
                <a16:creationId xmlns:a16="http://schemas.microsoft.com/office/drawing/2014/main" id="{73702C1E-CC68-BA91-78C2-2DF63EEFF77B}"/>
              </a:ext>
            </a:extLst>
          </p:cNvPr>
          <p:cNvSpPr>
            <a:spLocks noGrp="1"/>
          </p:cNvSpPr>
          <p:nvPr>
            <p:ph idx="1"/>
          </p:nvPr>
        </p:nvSpPr>
        <p:spPr>
          <a:xfrm>
            <a:off x="838200" y="1557338"/>
            <a:ext cx="10515600" cy="5072061"/>
          </a:xfrm>
        </p:spPr>
        <p:txBody>
          <a:bodyPr>
            <a:normAutofit fontScale="55000" lnSpcReduction="20000"/>
          </a:bodyPr>
          <a:lstStyle/>
          <a:p>
            <a:r>
              <a:rPr lang="en-IN" sz="4000" b="1" dirty="0">
                <a:latin typeface="Times New Roman" panose="02020603050405020304" pitchFamily="18" charset="0"/>
                <a:cs typeface="Times New Roman" panose="02020603050405020304" pitchFamily="18" charset="0"/>
              </a:rPr>
              <a:t>Abstract</a:t>
            </a:r>
            <a:endParaRPr lang="en-US" sz="4000" dirty="0">
              <a:latin typeface="Times New Roman" panose="02020603050405020304" pitchFamily="18" charset="0"/>
              <a:cs typeface="Times New Roman" panose="02020603050405020304" pitchFamily="18" charset="0"/>
            </a:endParaRPr>
          </a:p>
          <a:p>
            <a:r>
              <a:rPr lang="en-IN" sz="4000" b="1" dirty="0">
                <a:latin typeface="Times New Roman" panose="02020603050405020304" pitchFamily="18" charset="0"/>
                <a:cs typeface="Times New Roman" panose="02020603050405020304" pitchFamily="18" charset="0"/>
              </a:rPr>
              <a:t>Introduction</a:t>
            </a:r>
            <a:endParaRPr lang="en-US" sz="4000" dirty="0">
              <a:effectLst/>
              <a:latin typeface="Times New Roman" panose="02020603050405020304" pitchFamily="18" charset="0"/>
              <a:cs typeface="Times New Roman" panose="02020603050405020304" pitchFamily="18" charset="0"/>
            </a:endParaRPr>
          </a:p>
          <a:p>
            <a:r>
              <a:rPr lang="en-IN" sz="4000" b="1" dirty="0">
                <a:latin typeface="Times New Roman" panose="02020603050405020304" pitchFamily="18" charset="0"/>
                <a:cs typeface="Times New Roman" panose="02020603050405020304" pitchFamily="18" charset="0"/>
              </a:rPr>
              <a:t>Literature Survey</a:t>
            </a:r>
            <a:endParaRPr lang="en-US" sz="4000" dirty="0">
              <a:effectLst/>
              <a:latin typeface="Times New Roman" panose="02020603050405020304" pitchFamily="18" charset="0"/>
              <a:cs typeface="Times New Roman" panose="02020603050405020304" pitchFamily="18" charset="0"/>
            </a:endParaRPr>
          </a:p>
          <a:p>
            <a:r>
              <a:rPr lang="en-IN" sz="4000" b="1" dirty="0">
                <a:latin typeface="Times New Roman" panose="02020603050405020304" pitchFamily="18" charset="0"/>
                <a:cs typeface="Times New Roman" panose="02020603050405020304" pitchFamily="18" charset="0"/>
              </a:rPr>
              <a:t>Problem Statement in Existing System</a:t>
            </a:r>
            <a:endParaRPr lang="en-US" sz="4000" dirty="0">
              <a:effectLst/>
              <a:latin typeface="Times New Roman" panose="02020603050405020304" pitchFamily="18" charset="0"/>
              <a:cs typeface="Times New Roman" panose="02020603050405020304" pitchFamily="18" charset="0"/>
            </a:endParaRPr>
          </a:p>
          <a:p>
            <a:r>
              <a:rPr lang="en-IN" sz="4000" b="1" dirty="0">
                <a:latin typeface="Times New Roman" panose="02020603050405020304" pitchFamily="18" charset="0"/>
                <a:cs typeface="Times New Roman" panose="02020603050405020304" pitchFamily="18" charset="0"/>
              </a:rPr>
              <a:t>Proposed System</a:t>
            </a:r>
            <a:endParaRPr lang="en-US" sz="4000" dirty="0">
              <a:effectLst/>
              <a:latin typeface="Times New Roman" panose="02020603050405020304" pitchFamily="18" charset="0"/>
              <a:cs typeface="Times New Roman" panose="02020603050405020304" pitchFamily="18" charset="0"/>
            </a:endParaRPr>
          </a:p>
          <a:p>
            <a:r>
              <a:rPr lang="en-IN" sz="4000" b="1" dirty="0">
                <a:latin typeface="Times New Roman" panose="02020603050405020304" pitchFamily="18" charset="0"/>
                <a:cs typeface="Times New Roman" panose="02020603050405020304" pitchFamily="18" charset="0"/>
              </a:rPr>
              <a:t>Objective</a:t>
            </a:r>
            <a:endParaRPr lang="en-US" sz="4000" dirty="0">
              <a:effectLst/>
              <a:latin typeface="Times New Roman" panose="02020603050405020304" pitchFamily="18" charset="0"/>
              <a:cs typeface="Times New Roman" panose="02020603050405020304" pitchFamily="18" charset="0"/>
            </a:endParaRPr>
          </a:p>
          <a:p>
            <a:pPr fontAlgn="base"/>
            <a:r>
              <a:rPr lang="en-US" sz="4000" b="1" dirty="0">
                <a:latin typeface="Times New Roman" panose="02020603050405020304" pitchFamily="18" charset="0"/>
                <a:cs typeface="Times New Roman" panose="02020603050405020304" pitchFamily="18" charset="0"/>
              </a:rPr>
              <a:t>Project domain </a:t>
            </a:r>
            <a:endParaRPr lang="en-US" sz="4000" dirty="0">
              <a:effectLst/>
              <a:latin typeface="Times New Roman" panose="02020603050405020304" pitchFamily="18" charset="0"/>
              <a:cs typeface="Times New Roman" panose="02020603050405020304" pitchFamily="18" charset="0"/>
            </a:endParaRPr>
          </a:p>
          <a:p>
            <a:pPr fontAlgn="base"/>
            <a:r>
              <a:rPr lang="en-US" sz="4000" b="1" dirty="0">
                <a:latin typeface="Times New Roman" panose="02020603050405020304" pitchFamily="18" charset="0"/>
                <a:cs typeface="Times New Roman" panose="02020603050405020304" pitchFamily="18" charset="0"/>
              </a:rPr>
              <a:t>Requirement analysis</a:t>
            </a:r>
            <a:endParaRPr lang="en-US" sz="4000" dirty="0">
              <a:effectLst/>
              <a:latin typeface="Times New Roman" panose="02020603050405020304" pitchFamily="18" charset="0"/>
              <a:cs typeface="Times New Roman" panose="02020603050405020304" pitchFamily="18" charset="0"/>
            </a:endParaRPr>
          </a:p>
          <a:p>
            <a:pPr marL="0" indent="0" fontAlgn="base">
              <a:buNone/>
            </a:pPr>
            <a:r>
              <a:rPr lang="en-US" sz="4000" b="1" dirty="0">
                <a:latin typeface="Times New Roman" panose="02020603050405020304" pitchFamily="18" charset="0"/>
                <a:cs typeface="Times New Roman" panose="02020603050405020304" pitchFamily="18" charset="0"/>
              </a:rPr>
              <a:t>         - Functional Requirements</a:t>
            </a:r>
            <a:endParaRPr lang="en-US" sz="4000" dirty="0">
              <a:effectLst/>
              <a:latin typeface="Times New Roman" panose="02020603050405020304" pitchFamily="18" charset="0"/>
              <a:cs typeface="Times New Roman" panose="02020603050405020304" pitchFamily="18" charset="0"/>
            </a:endParaRPr>
          </a:p>
          <a:p>
            <a:pPr marL="0" indent="0" fontAlgn="base">
              <a:buNone/>
            </a:pPr>
            <a:r>
              <a:rPr lang="en-US" sz="4000" b="1" dirty="0">
                <a:latin typeface="Times New Roman" panose="02020603050405020304" pitchFamily="18" charset="0"/>
                <a:cs typeface="Times New Roman" panose="02020603050405020304" pitchFamily="18" charset="0"/>
              </a:rPr>
              <a:t>         - Non-Functional Requirements</a:t>
            </a:r>
            <a:endParaRPr lang="en-US" sz="4000" dirty="0">
              <a:effectLst/>
              <a:latin typeface="Times New Roman" panose="02020603050405020304" pitchFamily="18" charset="0"/>
              <a:cs typeface="Times New Roman" panose="02020603050405020304" pitchFamily="18" charset="0"/>
            </a:endParaRPr>
          </a:p>
          <a:p>
            <a:pPr marL="0" indent="0" fontAlgn="base">
              <a:buNone/>
            </a:pPr>
            <a:r>
              <a:rPr lang="en-US" sz="4000" b="1" dirty="0">
                <a:latin typeface="Times New Roman" panose="02020603050405020304" pitchFamily="18" charset="0"/>
                <a:cs typeface="Times New Roman" panose="02020603050405020304" pitchFamily="18" charset="0"/>
              </a:rPr>
              <a:t>         - Software Requirements</a:t>
            </a:r>
            <a:endParaRPr lang="en-US" sz="4000" dirty="0">
              <a:effectLst/>
              <a:latin typeface="Times New Roman" panose="02020603050405020304" pitchFamily="18" charset="0"/>
              <a:cs typeface="Times New Roman" panose="02020603050405020304" pitchFamily="18" charset="0"/>
            </a:endParaRPr>
          </a:p>
          <a:p>
            <a:pPr marL="0" indent="0" fontAlgn="base">
              <a:buNone/>
            </a:pPr>
            <a:r>
              <a:rPr lang="en-US" sz="4000" b="1" dirty="0">
                <a:latin typeface="Times New Roman" panose="02020603050405020304" pitchFamily="18" charset="0"/>
                <a:cs typeface="Times New Roman" panose="02020603050405020304" pitchFamily="18" charset="0"/>
              </a:rPr>
              <a:t>         - Hardware Requirements</a:t>
            </a:r>
            <a:endParaRPr lang="en-US" sz="4000" dirty="0">
              <a:effectLst/>
              <a:latin typeface="Times New Roman" panose="02020603050405020304" pitchFamily="18" charset="0"/>
              <a:cs typeface="Times New Roman" panose="02020603050405020304" pitchFamily="18" charset="0"/>
            </a:endParaRPr>
          </a:p>
          <a:p>
            <a:pPr fontAlgn="base"/>
            <a:r>
              <a:rPr lang="en-US" sz="4000" b="1" dirty="0">
                <a:latin typeface="Times New Roman" panose="02020603050405020304" pitchFamily="18" charset="0"/>
                <a:cs typeface="Times New Roman" panose="02020603050405020304" pitchFamily="18" charset="0"/>
              </a:rPr>
              <a:t>System Architecture</a:t>
            </a:r>
            <a:endParaRPr lang="en-US" sz="4000" dirty="0">
              <a:effectLst/>
              <a:latin typeface="Times New Roman" panose="02020603050405020304" pitchFamily="18" charset="0"/>
              <a:cs typeface="Times New Roman" panose="02020603050405020304" pitchFamily="18" charset="0"/>
            </a:endParaRPr>
          </a:p>
          <a:p>
            <a:pPr fontAlgn="base"/>
            <a:r>
              <a:rPr lang="en-US" sz="4000" b="1" dirty="0">
                <a:latin typeface="Times New Roman" panose="02020603050405020304" pitchFamily="18" charset="0"/>
                <a:cs typeface="Times New Roman" panose="02020603050405020304" pitchFamily="18" charset="0"/>
              </a:rPr>
              <a:t>Methodology</a:t>
            </a:r>
            <a:endParaRPr lang="en-US" sz="4000" dirty="0">
              <a:effectLst/>
              <a:latin typeface="Times New Roman" panose="02020603050405020304" pitchFamily="18" charset="0"/>
              <a:cs typeface="Times New Roman" panose="02020603050405020304" pitchFamily="18" charset="0"/>
            </a:endParaRPr>
          </a:p>
          <a:p>
            <a:pPr marL="0" indent="0" fontAlgn="base">
              <a:buNone/>
            </a:pPr>
            <a:endParaRPr lang="en-US" sz="4000" dirty="0">
              <a:effectLst/>
              <a:latin typeface="Times New Roman" panose="02020603050405020304" pitchFamily="18" charset="0"/>
              <a:cs typeface="Times New Roman" panose="02020603050405020304" pitchFamily="18" charset="0"/>
            </a:endParaRPr>
          </a:p>
          <a:p>
            <a:endParaRPr lang="en-US" dirty="0"/>
          </a:p>
        </p:txBody>
      </p:sp>
    </p:spTree>
    <p:extLst>
      <p:ext uri="{BB962C8B-B14F-4D97-AF65-F5344CB8AC3E}">
        <p14:creationId xmlns:p14="http://schemas.microsoft.com/office/powerpoint/2010/main" val="16129561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F1552A-1726-731A-0125-8118CAF5FA44}"/>
              </a:ext>
            </a:extLst>
          </p:cNvPr>
          <p:cNvSpPr>
            <a:spLocks noGrp="1"/>
          </p:cNvSpPr>
          <p:nvPr>
            <p:ph type="title"/>
          </p:nvPr>
        </p:nvSpPr>
        <p:spPr>
          <a:xfrm>
            <a:off x="835818" y="200025"/>
            <a:ext cx="10515600" cy="1243013"/>
          </a:xfrm>
        </p:spPr>
        <p:txBody>
          <a:bodyPr/>
          <a:lstStyle/>
          <a:p>
            <a:pPr algn="ctr"/>
            <a:r>
              <a:rPr lang="en-US" b="1" kern="1400" spc="-50" dirty="0">
                <a:latin typeface="Times New Roman" panose="02020603050405020304" pitchFamily="18" charset="0"/>
                <a:ea typeface="Times New Roman" panose="02020603050405020304" pitchFamily="18" charset="0"/>
                <a:cs typeface="Times New Roman" panose="02020603050405020304" pitchFamily="18" charset="0"/>
              </a:rPr>
              <a:t>Abstract</a:t>
            </a:r>
            <a:endParaRPr lang="en-US" dirty="0"/>
          </a:p>
        </p:txBody>
      </p:sp>
      <p:sp>
        <p:nvSpPr>
          <p:cNvPr id="3" name="Content Placeholder 2">
            <a:extLst>
              <a:ext uri="{FF2B5EF4-FFF2-40B4-BE49-F238E27FC236}">
                <a16:creationId xmlns:a16="http://schemas.microsoft.com/office/drawing/2014/main" id="{F9596F3D-2AB5-D845-BF94-26405DEC9A03}"/>
              </a:ext>
            </a:extLst>
          </p:cNvPr>
          <p:cNvSpPr>
            <a:spLocks noGrp="1"/>
          </p:cNvSpPr>
          <p:nvPr>
            <p:ph idx="1"/>
          </p:nvPr>
        </p:nvSpPr>
        <p:spPr>
          <a:xfrm>
            <a:off x="557213" y="1443038"/>
            <a:ext cx="11072811" cy="5414961"/>
          </a:xfrm>
        </p:spPr>
        <p:txBody>
          <a:bodyPr>
            <a:noAutofit/>
          </a:bodyPr>
          <a:lstStyle/>
          <a:p>
            <a:pPr marL="0" indent="0" algn="just">
              <a:buNone/>
            </a:pPr>
            <a:r>
              <a:rPr lang="en-US" sz="1800" dirty="0">
                <a:latin typeface="Times New Roman" panose="02020603050405020304" pitchFamily="18" charset="0"/>
                <a:cs typeface="Times New Roman" panose="02020603050405020304" pitchFamily="18" charset="0"/>
              </a:rPr>
              <a:t>The integration of artificial intelligence into fast-food eateries environment is transforming order placement and fulfillment, especially in high-traffic urban areas such as metro stations, airports, and kiosks. Despite technological advancements, there is a lack of comprehensive, AI-based systems that combine voice recognition, real-time inventory checks, and backend analytics into a single, scalable platform tailored for fast-paced environments. </a:t>
            </a:r>
            <a:r>
              <a:rPr lang="en-US" sz="1800" i="1" dirty="0">
                <a:latin typeface="Times New Roman" panose="02020603050405020304" pitchFamily="18" charset="0"/>
                <a:cs typeface="Times New Roman" panose="02020603050405020304" pitchFamily="18" charset="0"/>
              </a:rPr>
              <a:t>Talk2Invoice</a:t>
            </a:r>
            <a:r>
              <a:rPr lang="en-US" sz="1800" dirty="0">
                <a:latin typeface="Times New Roman" panose="02020603050405020304" pitchFamily="18" charset="0"/>
                <a:cs typeface="Times New Roman" panose="02020603050405020304" pitchFamily="18" charset="0"/>
              </a:rPr>
              <a:t>, an AI-powered voice assistant designed to enable seamless, contactless food ordering via natural speech, while also managing backend operations such as inventory filtering, kitchen load balancing, and automated invoicing. The system integrates QR code-based menu access, OpenAI’s Whisper for multilingual speech-to-text conversion, and a fine-tuned </a:t>
            </a:r>
            <a:r>
              <a:rPr lang="en-US" sz="1800" dirty="0" err="1">
                <a:latin typeface="Times New Roman" panose="02020603050405020304" pitchFamily="18" charset="0"/>
                <a:cs typeface="Times New Roman" panose="02020603050405020304" pitchFamily="18" charset="0"/>
              </a:rPr>
              <a:t>DistilBERT</a:t>
            </a:r>
            <a:r>
              <a:rPr lang="en-US" sz="1800" dirty="0">
                <a:latin typeface="Times New Roman" panose="02020603050405020304" pitchFamily="18" charset="0"/>
                <a:cs typeface="Times New Roman" panose="02020603050405020304" pitchFamily="18" charset="0"/>
              </a:rPr>
              <a:t> model for intent recognition and food item extraction. A blockchain-supported backend is planned for managing real-time stock availability, queue optimization, and secure digital transactions. After order confirmation, the system will automatically generate digital invoices and send them to users. Additionally, backend automation will generate daily analytics reports on sales, service patterns, and system performance. The system is expected to enhance order accuracy even in noisy environments, reduce wait times through real-time load balancing, and ensure operational transparency using blockchain. It also aims to continuously learn from user interactions to improve recognition and response accuracy. </a:t>
            </a:r>
            <a:r>
              <a:rPr lang="en-US" sz="1800" i="1" dirty="0">
                <a:latin typeface="Times New Roman" panose="02020603050405020304" pitchFamily="18" charset="0"/>
                <a:cs typeface="Times New Roman" panose="02020603050405020304" pitchFamily="18" charset="0"/>
              </a:rPr>
              <a:t>Talk2Invoice</a:t>
            </a:r>
            <a:r>
              <a:rPr lang="en-US" sz="1800" dirty="0">
                <a:latin typeface="Times New Roman" panose="02020603050405020304" pitchFamily="18" charset="0"/>
                <a:cs typeface="Times New Roman" panose="02020603050405020304" pitchFamily="18" charset="0"/>
              </a:rPr>
              <a:t> could serve as a model for future AI-driven food ordering systems that are scalable, efficient, and user-friendly. The design emphasizes the potential of integrating speech processing, NLP, and secure backend technologies to address real-world automation challenges in the food service industry.</a:t>
            </a:r>
          </a:p>
          <a:p>
            <a:pPr marL="0" indent="0">
              <a:buNone/>
            </a:pPr>
            <a:r>
              <a:rPr lang="en-US" sz="1800" b="1" dirty="0">
                <a:latin typeface="Times New Roman" panose="02020603050405020304" pitchFamily="18" charset="0"/>
                <a:cs typeface="Times New Roman" panose="02020603050405020304" pitchFamily="18" charset="0"/>
              </a:rPr>
              <a:t>Keywords</a:t>
            </a:r>
            <a:r>
              <a:rPr lang="en-US" sz="1800" dirty="0">
                <a:latin typeface="Times New Roman" panose="02020603050405020304" pitchFamily="18" charset="0"/>
                <a:cs typeface="Times New Roman" panose="02020603050405020304" pitchFamily="18" charset="0"/>
              </a:rPr>
              <a:t>— Voice Assistant, Whisper, </a:t>
            </a:r>
            <a:r>
              <a:rPr lang="en-US" sz="1800" dirty="0" err="1">
                <a:latin typeface="Times New Roman" panose="02020603050405020304" pitchFamily="18" charset="0"/>
                <a:cs typeface="Times New Roman" panose="02020603050405020304" pitchFamily="18" charset="0"/>
              </a:rPr>
              <a:t>DistilBERT</a:t>
            </a:r>
            <a:r>
              <a:rPr lang="en-US" sz="1800" dirty="0">
                <a:latin typeface="Times New Roman" panose="02020603050405020304" pitchFamily="18" charset="0"/>
                <a:cs typeface="Times New Roman" panose="02020603050405020304" pitchFamily="18" charset="0"/>
              </a:rPr>
              <a:t>, Natural Language Processing (NLP), Speech-to-Text, Blockchain, Real-Time Inventory, Digital Invoice</a:t>
            </a:r>
          </a:p>
        </p:txBody>
      </p:sp>
    </p:spTree>
    <p:extLst>
      <p:ext uri="{BB962C8B-B14F-4D97-AF65-F5344CB8AC3E}">
        <p14:creationId xmlns:p14="http://schemas.microsoft.com/office/powerpoint/2010/main" val="30481608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CFE6E0-0BE7-85CF-5FF6-8942E5DBD390}"/>
              </a:ext>
            </a:extLst>
          </p:cNvPr>
          <p:cNvSpPr>
            <a:spLocks noGrp="1"/>
          </p:cNvSpPr>
          <p:nvPr>
            <p:ph type="title"/>
          </p:nvPr>
        </p:nvSpPr>
        <p:spPr/>
        <p:txBody>
          <a:bodyPr/>
          <a:lstStyle/>
          <a:p>
            <a:r>
              <a:rPr lang="en-US" altLang="en-US" dirty="0">
                <a:latin typeface="Times New Roman" panose="02020603050405020304" pitchFamily="18" charset="0"/>
                <a:cs typeface="Times New Roman" panose="02020603050405020304" pitchFamily="18" charset="0"/>
              </a:rPr>
              <a:t>Introduction</a:t>
            </a:r>
            <a:endParaRPr lang="en-US" dirty="0"/>
          </a:p>
        </p:txBody>
      </p:sp>
      <p:sp>
        <p:nvSpPr>
          <p:cNvPr id="3" name="Content Placeholder 2">
            <a:extLst>
              <a:ext uri="{FF2B5EF4-FFF2-40B4-BE49-F238E27FC236}">
                <a16:creationId xmlns:a16="http://schemas.microsoft.com/office/drawing/2014/main" id="{42A35266-0DE2-3166-DDAA-58DB1242A578}"/>
              </a:ext>
            </a:extLst>
          </p:cNvPr>
          <p:cNvSpPr>
            <a:spLocks noGrp="1"/>
          </p:cNvSpPr>
          <p:nvPr>
            <p:ph idx="1"/>
          </p:nvPr>
        </p:nvSpPr>
        <p:spPr/>
        <p:txBody>
          <a:bodyPr>
            <a:normAutofit/>
          </a:bodyPr>
          <a:lstStyle/>
          <a:p>
            <a:pPr marL="0" indent="0" algn="just">
              <a:buNone/>
            </a:pPr>
            <a:r>
              <a:rPr lang="en-US" sz="2000" dirty="0"/>
              <a:t>In today’s fast-paced food service industry, placing an order can sometimes be time-consuming. With traditional ordering methods requiring manual input or physical interaction, customers may experience delays. Moreover, the need for hygienic and contactless solutions has become more important than ever.</a:t>
            </a:r>
          </a:p>
          <a:p>
            <a:pPr marL="0" indent="0" algn="just">
              <a:buNone/>
            </a:pPr>
            <a:r>
              <a:rPr lang="en-US" sz="2000" dirty="0"/>
              <a:t>           This is where </a:t>
            </a:r>
            <a:r>
              <a:rPr lang="en-US" sz="2000" b="1" dirty="0"/>
              <a:t>Talk2Invoice</a:t>
            </a:r>
            <a:r>
              <a:rPr lang="en-US" sz="2000" dirty="0"/>
              <a:t> comes in – an AI-powered voice assistant designed to simplify and enhance the food ordering process. The system uses a combination of </a:t>
            </a:r>
            <a:r>
              <a:rPr lang="en-US" sz="2000" b="1" dirty="0"/>
              <a:t>speech recognition</a:t>
            </a:r>
            <a:r>
              <a:rPr lang="en-US" sz="2000" dirty="0"/>
              <a:t> and </a:t>
            </a:r>
            <a:r>
              <a:rPr lang="en-US" sz="2000" b="1" dirty="0"/>
              <a:t>natural language processing (NLP)</a:t>
            </a:r>
            <a:r>
              <a:rPr lang="en-US" sz="2000" dirty="0"/>
              <a:t> to understand customer voice commands and respond accurately. Talk2Invoice takes into account the spoken order, processes it seamlessly, and automatically generates the invoice, eliminating the need for manual intervention. The goal of this system is to make ordering </a:t>
            </a:r>
            <a:r>
              <a:rPr lang="en-US" sz="2000" b="1" dirty="0"/>
              <a:t>faster, easier, and contact-free</a:t>
            </a:r>
            <a:r>
              <a:rPr lang="en-US" sz="2000" dirty="0"/>
              <a:t>, while also improving efficiency in busy environments such as restaurants, food counters, and delivery services</a:t>
            </a:r>
          </a:p>
        </p:txBody>
      </p:sp>
    </p:spTree>
    <p:extLst>
      <p:ext uri="{BB962C8B-B14F-4D97-AF65-F5344CB8AC3E}">
        <p14:creationId xmlns:p14="http://schemas.microsoft.com/office/powerpoint/2010/main" val="42321379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689D00-A7EC-D8DB-51CD-49F10E605F1F}"/>
              </a:ext>
            </a:extLst>
          </p:cNvPr>
          <p:cNvSpPr>
            <a:spLocks noGrp="1"/>
          </p:cNvSpPr>
          <p:nvPr>
            <p:ph type="title"/>
          </p:nvPr>
        </p:nvSpPr>
        <p:spPr>
          <a:xfrm>
            <a:off x="509586" y="171450"/>
            <a:ext cx="10515600" cy="1014413"/>
          </a:xfrm>
        </p:spPr>
        <p:txBody>
          <a:bodyPr/>
          <a:lstStyle/>
          <a:p>
            <a:pPr algn="ctr"/>
            <a:r>
              <a:rPr lang="en-IN" altLang="en-US" b="1" dirty="0">
                <a:latin typeface="Times New Roman" panose="02020603050405020304" pitchFamily="18" charset="0"/>
                <a:cs typeface="Times New Roman" panose="02020603050405020304" pitchFamily="18" charset="0"/>
              </a:rPr>
              <a:t>Literature Survey</a:t>
            </a:r>
            <a:endParaRPr lang="en-US" dirty="0"/>
          </a:p>
        </p:txBody>
      </p:sp>
      <p:graphicFrame>
        <p:nvGraphicFramePr>
          <p:cNvPr id="4" name="Content Placeholder 3">
            <a:extLst>
              <a:ext uri="{FF2B5EF4-FFF2-40B4-BE49-F238E27FC236}">
                <a16:creationId xmlns:a16="http://schemas.microsoft.com/office/drawing/2014/main" id="{93354791-3A50-96F7-4493-2FD3CF438C6C}"/>
              </a:ext>
            </a:extLst>
          </p:cNvPr>
          <p:cNvGraphicFramePr>
            <a:graphicFrameLocks noGrp="1"/>
          </p:cNvGraphicFramePr>
          <p:nvPr>
            <p:ph idx="1"/>
            <p:extLst>
              <p:ext uri="{D42A27DB-BD31-4B8C-83A1-F6EECF244321}">
                <p14:modId xmlns:p14="http://schemas.microsoft.com/office/powerpoint/2010/main" val="3232378890"/>
              </p:ext>
            </p:extLst>
          </p:nvPr>
        </p:nvGraphicFramePr>
        <p:xfrm>
          <a:off x="5535" y="1185863"/>
          <a:ext cx="12186465" cy="6022814"/>
        </p:xfrm>
        <a:graphic>
          <a:graphicData uri="http://schemas.openxmlformats.org/drawingml/2006/table">
            <a:tbl>
              <a:tblPr firstRow="1" firstCol="1" bandRow="1">
                <a:tableStyleId>{073A0DAA-6AF3-43AB-8588-CEC1D06C72B9}</a:tableStyleId>
              </a:tblPr>
              <a:tblGrid>
                <a:gridCol w="400721">
                  <a:extLst>
                    <a:ext uri="{9D8B030D-6E8A-4147-A177-3AD203B41FA5}">
                      <a16:colId xmlns:a16="http://schemas.microsoft.com/office/drawing/2014/main" val="1361650183"/>
                    </a:ext>
                  </a:extLst>
                </a:gridCol>
                <a:gridCol w="1370990">
                  <a:extLst>
                    <a:ext uri="{9D8B030D-6E8A-4147-A177-3AD203B41FA5}">
                      <a16:colId xmlns:a16="http://schemas.microsoft.com/office/drawing/2014/main" val="2550924313"/>
                    </a:ext>
                  </a:extLst>
                </a:gridCol>
                <a:gridCol w="847157">
                  <a:extLst>
                    <a:ext uri="{9D8B030D-6E8A-4147-A177-3AD203B41FA5}">
                      <a16:colId xmlns:a16="http://schemas.microsoft.com/office/drawing/2014/main" val="1318725552"/>
                    </a:ext>
                  </a:extLst>
                </a:gridCol>
                <a:gridCol w="2211221">
                  <a:extLst>
                    <a:ext uri="{9D8B030D-6E8A-4147-A177-3AD203B41FA5}">
                      <a16:colId xmlns:a16="http://schemas.microsoft.com/office/drawing/2014/main" val="2767747507"/>
                    </a:ext>
                  </a:extLst>
                </a:gridCol>
                <a:gridCol w="2756847">
                  <a:extLst>
                    <a:ext uri="{9D8B030D-6E8A-4147-A177-3AD203B41FA5}">
                      <a16:colId xmlns:a16="http://schemas.microsoft.com/office/drawing/2014/main" val="1128066320"/>
                    </a:ext>
                  </a:extLst>
                </a:gridCol>
                <a:gridCol w="2613261">
                  <a:extLst>
                    <a:ext uri="{9D8B030D-6E8A-4147-A177-3AD203B41FA5}">
                      <a16:colId xmlns:a16="http://schemas.microsoft.com/office/drawing/2014/main" val="3279657831"/>
                    </a:ext>
                  </a:extLst>
                </a:gridCol>
                <a:gridCol w="1986268">
                  <a:extLst>
                    <a:ext uri="{9D8B030D-6E8A-4147-A177-3AD203B41FA5}">
                      <a16:colId xmlns:a16="http://schemas.microsoft.com/office/drawing/2014/main" val="563756679"/>
                    </a:ext>
                  </a:extLst>
                </a:gridCol>
              </a:tblGrid>
              <a:tr h="331397">
                <a:tc>
                  <a:txBody>
                    <a:bodyPr/>
                    <a:lstStyle/>
                    <a:p>
                      <a:pPr marL="0" marR="0" algn="l">
                        <a:lnSpc>
                          <a:spcPct val="115000"/>
                        </a:lnSpc>
                        <a:spcAft>
                          <a:spcPts val="800"/>
                        </a:spcAft>
                        <a:buNone/>
                      </a:pPr>
                      <a:r>
                        <a:rPr lang="en-IN" sz="1000" kern="100" dirty="0">
                          <a:effectLst/>
                          <a:latin typeface="Times New Roman" panose="02020603050405020304" pitchFamily="18" charset="0"/>
                          <a:cs typeface="Times New Roman" panose="02020603050405020304" pitchFamily="18" charset="0"/>
                        </a:rPr>
                        <a:t>S.NO</a:t>
                      </a:r>
                      <a:endParaRPr lang="en-US" sz="10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55898" marR="55898" marT="0" marB="0"/>
                </a:tc>
                <a:tc>
                  <a:txBody>
                    <a:bodyPr/>
                    <a:lstStyle/>
                    <a:p>
                      <a:pPr marL="0" marR="0" algn="l">
                        <a:lnSpc>
                          <a:spcPct val="115000"/>
                        </a:lnSpc>
                        <a:spcAft>
                          <a:spcPts val="800"/>
                        </a:spcAft>
                        <a:buNone/>
                      </a:pPr>
                      <a:r>
                        <a:rPr lang="en-IN" sz="1400" kern="100" dirty="0">
                          <a:effectLst/>
                          <a:latin typeface="Times New Roman" panose="02020603050405020304" pitchFamily="18" charset="0"/>
                          <a:cs typeface="Times New Roman" panose="02020603050405020304" pitchFamily="18" charset="0"/>
                        </a:rPr>
                        <a:t>TITLE</a:t>
                      </a:r>
                      <a:endParaRPr lang="en-US" sz="14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55898" marR="55898" marT="0" marB="0"/>
                </a:tc>
                <a:tc>
                  <a:txBody>
                    <a:bodyPr/>
                    <a:lstStyle/>
                    <a:p>
                      <a:pPr marL="0" marR="0" algn="l">
                        <a:lnSpc>
                          <a:spcPct val="115000"/>
                        </a:lnSpc>
                        <a:spcAft>
                          <a:spcPts val="800"/>
                        </a:spcAft>
                        <a:buNone/>
                      </a:pPr>
                      <a:r>
                        <a:rPr lang="en-IN" sz="1400" kern="100" dirty="0">
                          <a:effectLst/>
                          <a:latin typeface="Times New Roman" panose="02020603050405020304" pitchFamily="18" charset="0"/>
                          <a:cs typeface="Times New Roman" panose="02020603050405020304" pitchFamily="18" charset="0"/>
                        </a:rPr>
                        <a:t>YEAR</a:t>
                      </a:r>
                      <a:endParaRPr lang="en-US" sz="14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55898" marR="55898" marT="0" marB="0"/>
                </a:tc>
                <a:tc>
                  <a:txBody>
                    <a:bodyPr/>
                    <a:lstStyle/>
                    <a:p>
                      <a:pPr marL="0" marR="0" algn="l">
                        <a:lnSpc>
                          <a:spcPct val="115000"/>
                        </a:lnSpc>
                        <a:spcAft>
                          <a:spcPts val="800"/>
                        </a:spcAft>
                        <a:buNone/>
                      </a:pPr>
                      <a:r>
                        <a:rPr lang="en-IN" sz="1400" kern="100" dirty="0">
                          <a:effectLst/>
                          <a:latin typeface="Times New Roman" panose="02020603050405020304" pitchFamily="18" charset="0"/>
                          <a:cs typeface="Times New Roman" panose="02020603050405020304" pitchFamily="18" charset="0"/>
                        </a:rPr>
                        <a:t>INTRODUCTION</a:t>
                      </a:r>
                      <a:endParaRPr lang="en-US" sz="14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55898" marR="55898" marT="0" marB="0"/>
                </a:tc>
                <a:tc>
                  <a:txBody>
                    <a:bodyPr/>
                    <a:lstStyle/>
                    <a:p>
                      <a:pPr marL="0" marR="0" algn="l">
                        <a:lnSpc>
                          <a:spcPct val="115000"/>
                        </a:lnSpc>
                        <a:spcAft>
                          <a:spcPts val="800"/>
                        </a:spcAft>
                        <a:buNone/>
                      </a:pPr>
                      <a:r>
                        <a:rPr lang="en-IN" sz="1400" kern="100" dirty="0">
                          <a:effectLst/>
                          <a:latin typeface="Times New Roman" panose="02020603050405020304" pitchFamily="18" charset="0"/>
                          <a:cs typeface="Times New Roman" panose="02020603050405020304" pitchFamily="18" charset="0"/>
                        </a:rPr>
                        <a:t>METHOD</a:t>
                      </a:r>
                      <a:endParaRPr lang="en-US" sz="14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55898" marR="55898" marT="0" marB="0"/>
                </a:tc>
                <a:tc>
                  <a:txBody>
                    <a:bodyPr/>
                    <a:lstStyle/>
                    <a:p>
                      <a:pPr marL="0" marR="0" algn="l">
                        <a:lnSpc>
                          <a:spcPct val="115000"/>
                        </a:lnSpc>
                        <a:spcAft>
                          <a:spcPts val="800"/>
                        </a:spcAft>
                        <a:buNone/>
                      </a:pPr>
                      <a:r>
                        <a:rPr lang="en-IN" sz="1400" kern="100" dirty="0">
                          <a:effectLst/>
                          <a:latin typeface="Times New Roman" panose="02020603050405020304" pitchFamily="18" charset="0"/>
                          <a:cs typeface="Times New Roman" panose="02020603050405020304" pitchFamily="18" charset="0"/>
                        </a:rPr>
                        <a:t>RESULTS</a:t>
                      </a:r>
                      <a:endParaRPr lang="en-US" sz="14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55898" marR="55898" marT="0" marB="0"/>
                </a:tc>
                <a:tc>
                  <a:txBody>
                    <a:bodyPr/>
                    <a:lstStyle/>
                    <a:p>
                      <a:pPr marL="0" marR="0" algn="l">
                        <a:lnSpc>
                          <a:spcPct val="115000"/>
                        </a:lnSpc>
                        <a:spcAft>
                          <a:spcPts val="800"/>
                        </a:spcAft>
                        <a:buNone/>
                      </a:pPr>
                      <a:r>
                        <a:rPr lang="en-IN" sz="1400" kern="100" dirty="0">
                          <a:effectLst/>
                          <a:latin typeface="Times New Roman" panose="02020603050405020304" pitchFamily="18" charset="0"/>
                          <a:cs typeface="Times New Roman" panose="02020603050405020304" pitchFamily="18" charset="0"/>
                        </a:rPr>
                        <a:t>DRAWBACKS</a:t>
                      </a:r>
                      <a:endParaRPr lang="en-US" sz="14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55898" marR="55898" marT="0" marB="0"/>
                </a:tc>
                <a:extLst>
                  <a:ext uri="{0D108BD9-81ED-4DB2-BD59-A6C34878D82A}">
                    <a16:rowId xmlns:a16="http://schemas.microsoft.com/office/drawing/2014/main" val="3047620128"/>
                  </a:ext>
                </a:extLst>
              </a:tr>
              <a:tr h="1900648">
                <a:tc>
                  <a:txBody>
                    <a:bodyPr/>
                    <a:lstStyle/>
                    <a:p>
                      <a:pPr marL="0" marR="0" algn="l">
                        <a:lnSpc>
                          <a:spcPct val="115000"/>
                        </a:lnSpc>
                        <a:spcAft>
                          <a:spcPts val="800"/>
                        </a:spcAft>
                        <a:buNone/>
                      </a:pPr>
                      <a:r>
                        <a:rPr lang="en-IN" sz="1000" kern="100">
                          <a:effectLst/>
                          <a:latin typeface="Times New Roman" panose="02020603050405020304" pitchFamily="18" charset="0"/>
                          <a:cs typeface="Times New Roman" panose="02020603050405020304" pitchFamily="18" charset="0"/>
                        </a:rPr>
                        <a:t>1</a:t>
                      </a:r>
                      <a:endParaRPr lang="en-US" sz="10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55898" marR="55898" marT="0" marB="0"/>
                </a:tc>
                <a:tc>
                  <a:txBody>
                    <a:bodyPr/>
                    <a:lstStyle/>
                    <a:p>
                      <a:pPr marL="0" marR="0" algn="l">
                        <a:lnSpc>
                          <a:spcPct val="115000"/>
                        </a:lnSpc>
                        <a:spcAft>
                          <a:spcPts val="800"/>
                        </a:spcAft>
                        <a:buNone/>
                      </a:pPr>
                      <a:r>
                        <a:rPr lang="en-IN" sz="1200" kern="100" dirty="0">
                          <a:effectLst/>
                          <a:latin typeface="Times New Roman" panose="02020603050405020304" pitchFamily="18" charset="0"/>
                          <a:cs typeface="Times New Roman" panose="02020603050405020304" pitchFamily="18" charset="0"/>
                        </a:rPr>
                        <a:t>Voice Assistant for Fast Food Restaurants using </a:t>
                      </a:r>
                      <a:r>
                        <a:rPr lang="en-IN" sz="1200" kern="100" dirty="0" err="1">
                          <a:effectLst/>
                          <a:latin typeface="Times New Roman" panose="02020603050405020304" pitchFamily="18" charset="0"/>
                          <a:cs typeface="Times New Roman" panose="02020603050405020304" pitchFamily="18" charset="0"/>
                        </a:rPr>
                        <a:t>DistilBERT</a:t>
                      </a:r>
                      <a:endParaRPr lang="en-US" sz="1200" kern="100" dirty="0">
                        <a:effectLst/>
                        <a:latin typeface="Times New Roman" panose="02020603050405020304" pitchFamily="18" charset="0"/>
                        <a:cs typeface="Times New Roman" panose="02020603050405020304" pitchFamily="18" charset="0"/>
                      </a:endParaRPr>
                    </a:p>
                    <a:p>
                      <a:pPr marL="0" marR="0" algn="l">
                        <a:lnSpc>
                          <a:spcPct val="115000"/>
                        </a:lnSpc>
                        <a:spcAft>
                          <a:spcPts val="800"/>
                        </a:spcAft>
                        <a:buNone/>
                      </a:pPr>
                      <a:r>
                        <a:rPr lang="en-IN" sz="1200" kern="100" dirty="0">
                          <a:effectLst/>
                          <a:latin typeface="Times New Roman" panose="02020603050405020304" pitchFamily="18" charset="0"/>
                          <a:cs typeface="Times New Roman" panose="02020603050405020304" pitchFamily="18" charset="0"/>
                        </a:rPr>
                        <a:t> </a:t>
                      </a:r>
                      <a:endParaRPr lang="en-US" sz="12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55898" marR="55898" marT="0" marB="0"/>
                </a:tc>
                <a:tc>
                  <a:txBody>
                    <a:bodyPr/>
                    <a:lstStyle/>
                    <a:p>
                      <a:pPr marL="0" marR="0" algn="l">
                        <a:lnSpc>
                          <a:spcPct val="115000"/>
                        </a:lnSpc>
                        <a:spcAft>
                          <a:spcPts val="800"/>
                        </a:spcAft>
                        <a:buNone/>
                      </a:pPr>
                      <a:r>
                        <a:rPr lang="en-IN" sz="1200" kern="100" dirty="0">
                          <a:effectLst/>
                          <a:latin typeface="Times New Roman" panose="02020603050405020304" pitchFamily="18" charset="0"/>
                          <a:cs typeface="Times New Roman" panose="02020603050405020304" pitchFamily="18" charset="0"/>
                        </a:rPr>
                        <a:t>2024</a:t>
                      </a:r>
                      <a:endParaRPr lang="en-US" sz="12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55898" marR="55898" marT="0" marB="0"/>
                </a:tc>
                <a:tc>
                  <a:txBody>
                    <a:bodyPr/>
                    <a:lstStyle/>
                    <a:p>
                      <a:pPr marL="0" marR="0" algn="l">
                        <a:lnSpc>
                          <a:spcPct val="115000"/>
                        </a:lnSpc>
                        <a:spcAft>
                          <a:spcPts val="800"/>
                        </a:spcAft>
                        <a:buNone/>
                      </a:pPr>
                      <a:r>
                        <a:rPr lang="en-IN" sz="1200" kern="100" dirty="0">
                          <a:effectLst/>
                          <a:latin typeface="Times New Roman" panose="02020603050405020304" pitchFamily="18" charset="0"/>
                          <a:cs typeface="Times New Roman" panose="02020603050405020304" pitchFamily="18" charset="0"/>
                        </a:rPr>
                        <a:t>This study explores the use of fine-tuned </a:t>
                      </a:r>
                      <a:r>
                        <a:rPr lang="en-IN" sz="1200" kern="100" dirty="0" err="1">
                          <a:effectLst/>
                          <a:latin typeface="Times New Roman" panose="02020603050405020304" pitchFamily="18" charset="0"/>
                          <a:cs typeface="Times New Roman" panose="02020603050405020304" pitchFamily="18" charset="0"/>
                        </a:rPr>
                        <a:t>DistilBERT</a:t>
                      </a:r>
                      <a:r>
                        <a:rPr lang="en-IN" sz="1200" kern="100" dirty="0">
                          <a:effectLst/>
                          <a:latin typeface="Times New Roman" panose="02020603050405020304" pitchFamily="18" charset="0"/>
                          <a:cs typeface="Times New Roman" panose="02020603050405020304" pitchFamily="18" charset="0"/>
                        </a:rPr>
                        <a:t>-based voice assistants to enhance order speed, accuracy, and user interaction in fast-food environments.</a:t>
                      </a:r>
                      <a:endParaRPr lang="en-US" sz="12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55898" marR="55898" marT="0" marB="0"/>
                </a:tc>
                <a:tc>
                  <a:txBody>
                    <a:bodyPr/>
                    <a:lstStyle/>
                    <a:p>
                      <a:pPr marL="0" marR="0" algn="l">
                        <a:lnSpc>
                          <a:spcPct val="115000"/>
                        </a:lnSpc>
                        <a:spcAft>
                          <a:spcPts val="800"/>
                        </a:spcAft>
                        <a:buNone/>
                      </a:pPr>
                      <a:r>
                        <a:rPr lang="en-IN" sz="1200" kern="100" dirty="0">
                          <a:effectLst/>
                          <a:latin typeface="Times New Roman" panose="02020603050405020304" pitchFamily="18" charset="0"/>
                          <a:cs typeface="Times New Roman" panose="02020603050405020304" pitchFamily="18" charset="0"/>
                        </a:rPr>
                        <a:t>The voice assistant employs a fine-tuned </a:t>
                      </a:r>
                      <a:r>
                        <a:rPr lang="en-IN" sz="1200" kern="100" dirty="0" err="1">
                          <a:effectLst/>
                          <a:latin typeface="Times New Roman" panose="02020603050405020304" pitchFamily="18" charset="0"/>
                          <a:cs typeface="Times New Roman" panose="02020603050405020304" pitchFamily="18" charset="0"/>
                        </a:rPr>
                        <a:t>DistilBERT</a:t>
                      </a:r>
                      <a:r>
                        <a:rPr lang="en-IN" sz="1200" kern="100" dirty="0">
                          <a:effectLst/>
                          <a:latin typeface="Times New Roman" panose="02020603050405020304" pitchFamily="18" charset="0"/>
                          <a:cs typeface="Times New Roman" panose="02020603050405020304" pitchFamily="18" charset="0"/>
                        </a:rPr>
                        <a:t> model for intent recognition using fast-food menu data. Google TTS/STT libraries enable speech conversion, while MongoDB stores inputs and menu data, supporting both order processing and model updates. The system achieved 95% accuracy post-tuning.</a:t>
                      </a:r>
                      <a:endParaRPr lang="en-US" sz="1200" kern="100" dirty="0">
                        <a:effectLst/>
                        <a:latin typeface="Times New Roman" panose="02020603050405020304" pitchFamily="18" charset="0"/>
                        <a:cs typeface="Times New Roman" panose="02020603050405020304" pitchFamily="18" charset="0"/>
                      </a:endParaRPr>
                    </a:p>
                    <a:p>
                      <a:pPr marL="0" marR="0" algn="l">
                        <a:lnSpc>
                          <a:spcPct val="115000"/>
                        </a:lnSpc>
                        <a:spcAft>
                          <a:spcPts val="800"/>
                        </a:spcAft>
                        <a:buNone/>
                      </a:pPr>
                      <a:r>
                        <a:rPr lang="en-IN" sz="1200" kern="100" dirty="0">
                          <a:effectLst/>
                          <a:latin typeface="Times New Roman" panose="02020603050405020304" pitchFamily="18" charset="0"/>
                          <a:cs typeface="Times New Roman" panose="02020603050405020304" pitchFamily="18" charset="0"/>
                        </a:rPr>
                        <a:t> </a:t>
                      </a:r>
                      <a:endParaRPr lang="en-US" sz="12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55898" marR="55898" marT="0" marB="0"/>
                </a:tc>
                <a:tc>
                  <a:txBody>
                    <a:bodyPr/>
                    <a:lstStyle/>
                    <a:p>
                      <a:pPr marL="0" marR="0" algn="l">
                        <a:lnSpc>
                          <a:spcPct val="115000"/>
                        </a:lnSpc>
                        <a:spcAft>
                          <a:spcPts val="800"/>
                        </a:spcAft>
                        <a:buNone/>
                      </a:pPr>
                      <a:r>
                        <a:rPr lang="en-IN" sz="1200" kern="100" dirty="0">
                          <a:effectLst/>
                          <a:latin typeface="Times New Roman" panose="02020603050405020304" pitchFamily="18" charset="0"/>
                          <a:cs typeface="Times New Roman" panose="02020603050405020304" pitchFamily="18" charset="0"/>
                        </a:rPr>
                        <a:t>The voice-activated fast-food ordering assistant, powered by a fine-tuned </a:t>
                      </a:r>
                      <a:r>
                        <a:rPr lang="en-IN" sz="1200" kern="100" dirty="0" err="1">
                          <a:effectLst/>
                          <a:latin typeface="Times New Roman" panose="02020603050405020304" pitchFamily="18" charset="0"/>
                          <a:cs typeface="Times New Roman" panose="02020603050405020304" pitchFamily="18" charset="0"/>
                        </a:rPr>
                        <a:t>DistilBERT</a:t>
                      </a:r>
                      <a:r>
                        <a:rPr lang="en-IN" sz="1200" kern="100" dirty="0">
                          <a:effectLst/>
                          <a:latin typeface="Times New Roman" panose="02020603050405020304" pitchFamily="18" charset="0"/>
                          <a:cs typeface="Times New Roman" panose="02020603050405020304" pitchFamily="18" charset="0"/>
                        </a:rPr>
                        <a:t> model, achieved 95% accuracy in understanding customer queries—demonstrating its effectiveness in streamlining the order-taking process.</a:t>
                      </a:r>
                      <a:endParaRPr lang="en-US" sz="1200" kern="100" dirty="0">
                        <a:effectLst/>
                        <a:latin typeface="Times New Roman" panose="02020603050405020304" pitchFamily="18" charset="0"/>
                        <a:cs typeface="Times New Roman" panose="02020603050405020304" pitchFamily="18" charset="0"/>
                      </a:endParaRPr>
                    </a:p>
                    <a:p>
                      <a:pPr marL="0" marR="0" algn="l">
                        <a:lnSpc>
                          <a:spcPct val="115000"/>
                        </a:lnSpc>
                        <a:spcAft>
                          <a:spcPts val="800"/>
                        </a:spcAft>
                        <a:buNone/>
                      </a:pPr>
                      <a:endParaRPr lang="en-US" sz="1200" kern="100" dirty="0">
                        <a:effectLst/>
                        <a:latin typeface="Times New Roman" panose="02020603050405020304" pitchFamily="18" charset="0"/>
                        <a:cs typeface="Times New Roman" panose="02020603050405020304" pitchFamily="18" charset="0"/>
                      </a:endParaRPr>
                    </a:p>
                    <a:p>
                      <a:pPr marL="0" marR="0" algn="l">
                        <a:lnSpc>
                          <a:spcPct val="115000"/>
                        </a:lnSpc>
                        <a:spcAft>
                          <a:spcPts val="800"/>
                        </a:spcAft>
                        <a:buNone/>
                      </a:pPr>
                      <a:r>
                        <a:rPr lang="en-IN" sz="1200" kern="100" dirty="0">
                          <a:effectLst/>
                          <a:latin typeface="Times New Roman" panose="02020603050405020304" pitchFamily="18" charset="0"/>
                          <a:cs typeface="Times New Roman" panose="02020603050405020304" pitchFamily="18" charset="0"/>
                        </a:rPr>
                        <a:t> </a:t>
                      </a:r>
                      <a:endParaRPr lang="en-US" sz="12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55898" marR="55898" marT="0" marB="0"/>
                </a:tc>
                <a:tc>
                  <a:txBody>
                    <a:bodyPr/>
                    <a:lstStyle/>
                    <a:p>
                      <a:pPr marL="0" marR="0" algn="l">
                        <a:lnSpc>
                          <a:spcPct val="115000"/>
                        </a:lnSpc>
                        <a:spcAft>
                          <a:spcPts val="800"/>
                        </a:spcAft>
                        <a:buNone/>
                      </a:pPr>
                      <a:r>
                        <a:rPr lang="en-IN" sz="1200" kern="100" dirty="0">
                          <a:effectLst/>
                          <a:latin typeface="Times New Roman" panose="02020603050405020304" pitchFamily="18" charset="0"/>
                          <a:cs typeface="Times New Roman" panose="02020603050405020304" pitchFamily="18" charset="0"/>
                        </a:rPr>
                        <a:t>No explicit limitations discussed; focuses solely on system functionality without addressing drawbacks or challenges.</a:t>
                      </a:r>
                      <a:endParaRPr lang="en-US" sz="12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55898" marR="55898" marT="0" marB="0"/>
                </a:tc>
                <a:extLst>
                  <a:ext uri="{0D108BD9-81ED-4DB2-BD59-A6C34878D82A}">
                    <a16:rowId xmlns:a16="http://schemas.microsoft.com/office/drawing/2014/main" val="1216792639"/>
                  </a:ext>
                </a:extLst>
              </a:tr>
              <a:tr h="1698512">
                <a:tc>
                  <a:txBody>
                    <a:bodyPr/>
                    <a:lstStyle/>
                    <a:p>
                      <a:pPr marL="0" marR="0" algn="l">
                        <a:lnSpc>
                          <a:spcPct val="115000"/>
                        </a:lnSpc>
                        <a:spcAft>
                          <a:spcPts val="800"/>
                        </a:spcAft>
                        <a:buNone/>
                      </a:pPr>
                      <a:r>
                        <a:rPr lang="en-IN" sz="1200" kern="100" dirty="0">
                          <a:effectLst/>
                          <a:latin typeface="Times New Roman" panose="02020603050405020304" pitchFamily="18" charset="0"/>
                          <a:ea typeface="Aptos" panose="020B0004020202020204" pitchFamily="34" charset="0"/>
                          <a:cs typeface="Times New Roman" panose="02020603050405020304" pitchFamily="18" charset="0"/>
                        </a:rPr>
                        <a:t>2</a:t>
                      </a:r>
                      <a:endParaRPr lang="en-US" sz="12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tc>
                <a:tc>
                  <a:txBody>
                    <a:bodyPr/>
                    <a:lstStyle/>
                    <a:p>
                      <a:pPr marL="0" marR="0" algn="l">
                        <a:lnSpc>
                          <a:spcPct val="115000"/>
                        </a:lnSpc>
                        <a:spcAft>
                          <a:spcPts val="800"/>
                        </a:spcAft>
                        <a:buNone/>
                      </a:pPr>
                      <a:r>
                        <a:rPr lang="en-IN" sz="1200" b="1" kern="100">
                          <a:effectLst/>
                          <a:latin typeface="Times New Roman" panose="02020603050405020304" pitchFamily="18" charset="0"/>
                          <a:ea typeface="Aptos" panose="020B0004020202020204" pitchFamily="34" charset="0"/>
                          <a:cs typeface="Times New Roman" panose="02020603050405020304" pitchFamily="18" charset="0"/>
                        </a:rPr>
                        <a:t>Speech Oriented Virtual Restaurant Clerk using Web Speech API and Natural Language Processing</a:t>
                      </a:r>
                      <a:endParaRPr lang="en-US" sz="1200" kern="100">
                        <a:effectLst/>
                        <a:latin typeface="Times New Roman" panose="02020603050405020304" pitchFamily="18" charset="0"/>
                        <a:ea typeface="Aptos" panose="020B0004020202020204" pitchFamily="34" charset="0"/>
                        <a:cs typeface="Times New Roman" panose="02020603050405020304" pitchFamily="18" charset="0"/>
                      </a:endParaRPr>
                    </a:p>
                    <a:p>
                      <a:pPr marL="0" marR="0" algn="l">
                        <a:lnSpc>
                          <a:spcPct val="115000"/>
                        </a:lnSpc>
                        <a:spcAft>
                          <a:spcPts val="800"/>
                        </a:spcAft>
                        <a:buNone/>
                      </a:pPr>
                      <a:r>
                        <a:rPr lang="en-IN" sz="1200" kern="100">
                          <a:effectLst/>
                          <a:latin typeface="Times New Roman" panose="02020603050405020304" pitchFamily="18" charset="0"/>
                          <a:ea typeface="Aptos" panose="020B0004020202020204" pitchFamily="34" charset="0"/>
                          <a:cs typeface="Times New Roman" panose="02020603050405020304" pitchFamily="18" charset="0"/>
                        </a:rPr>
                        <a:t> </a:t>
                      </a:r>
                      <a:endParaRPr lang="en-US" sz="12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tc>
                <a:tc>
                  <a:txBody>
                    <a:bodyPr/>
                    <a:lstStyle/>
                    <a:p>
                      <a:pPr marL="0" marR="0" algn="l">
                        <a:lnSpc>
                          <a:spcPct val="115000"/>
                        </a:lnSpc>
                        <a:spcAft>
                          <a:spcPts val="800"/>
                        </a:spcAft>
                        <a:buNone/>
                      </a:pPr>
                      <a:r>
                        <a:rPr lang="en-IN" sz="1200" kern="100">
                          <a:effectLst/>
                          <a:latin typeface="Times New Roman" panose="02020603050405020304" pitchFamily="18" charset="0"/>
                          <a:ea typeface="Aptos" panose="020B0004020202020204" pitchFamily="34" charset="0"/>
                          <a:cs typeface="Times New Roman" panose="02020603050405020304" pitchFamily="18" charset="0"/>
                        </a:rPr>
                        <a:t>29 May 2020</a:t>
                      </a:r>
                      <a:endParaRPr lang="en-US" sz="1200" kern="100">
                        <a:effectLst/>
                        <a:latin typeface="Times New Roman" panose="02020603050405020304" pitchFamily="18" charset="0"/>
                        <a:ea typeface="Aptos" panose="020B0004020202020204" pitchFamily="34" charset="0"/>
                        <a:cs typeface="Times New Roman" panose="02020603050405020304" pitchFamily="18" charset="0"/>
                      </a:endParaRPr>
                    </a:p>
                    <a:p>
                      <a:pPr marL="0" marR="0" algn="l">
                        <a:lnSpc>
                          <a:spcPct val="115000"/>
                        </a:lnSpc>
                        <a:spcAft>
                          <a:spcPts val="800"/>
                        </a:spcAft>
                        <a:buNone/>
                      </a:pPr>
                      <a:r>
                        <a:rPr lang="en-IN" sz="1200" kern="100">
                          <a:effectLst/>
                          <a:latin typeface="Times New Roman" panose="02020603050405020304" pitchFamily="18" charset="0"/>
                          <a:ea typeface="Aptos" panose="020B0004020202020204" pitchFamily="34" charset="0"/>
                          <a:cs typeface="Times New Roman" panose="02020603050405020304" pitchFamily="18" charset="0"/>
                        </a:rPr>
                        <a:t> </a:t>
                      </a:r>
                      <a:endParaRPr lang="en-US" sz="1200" kern="100">
                        <a:effectLst/>
                        <a:latin typeface="Times New Roman" panose="02020603050405020304" pitchFamily="18" charset="0"/>
                        <a:ea typeface="Aptos" panose="020B0004020202020204" pitchFamily="34" charset="0"/>
                        <a:cs typeface="Times New Roman" panose="02020603050405020304" pitchFamily="18" charset="0"/>
                      </a:endParaRPr>
                    </a:p>
                    <a:p>
                      <a:pPr marL="0" marR="0" algn="l">
                        <a:lnSpc>
                          <a:spcPct val="115000"/>
                        </a:lnSpc>
                        <a:spcAft>
                          <a:spcPts val="800"/>
                        </a:spcAft>
                        <a:buNone/>
                      </a:pPr>
                      <a:r>
                        <a:rPr lang="en-IN" sz="1200" kern="100">
                          <a:effectLst/>
                          <a:latin typeface="Times New Roman" panose="02020603050405020304" pitchFamily="18" charset="0"/>
                          <a:ea typeface="Aptos" panose="020B0004020202020204" pitchFamily="34" charset="0"/>
                          <a:cs typeface="Times New Roman" panose="02020603050405020304" pitchFamily="18" charset="0"/>
                        </a:rPr>
                        <a:t> </a:t>
                      </a:r>
                      <a:endParaRPr lang="en-US" sz="12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tc>
                <a:tc>
                  <a:txBody>
                    <a:bodyPr/>
                    <a:lstStyle/>
                    <a:p>
                      <a:pPr marL="0" marR="0" algn="l">
                        <a:lnSpc>
                          <a:spcPct val="115000"/>
                        </a:lnSpc>
                        <a:spcAft>
                          <a:spcPts val="800"/>
                        </a:spcAft>
                        <a:buNone/>
                      </a:pPr>
                      <a:r>
                        <a:rPr lang="en-IN" sz="1200" kern="100" dirty="0">
                          <a:effectLst/>
                          <a:latin typeface="Times New Roman" panose="02020603050405020304" pitchFamily="18" charset="0"/>
                          <a:ea typeface="Aptos" panose="020B0004020202020204" pitchFamily="34" charset="0"/>
                          <a:cs typeface="Times New Roman" panose="02020603050405020304" pitchFamily="18" charset="0"/>
                        </a:rPr>
                        <a:t>Presents a voice-enabled virtual restaurant clerk using speech recognition, NLP, and biometrics to improve ordering workflows and enhance customer experience.</a:t>
                      </a:r>
                      <a:endParaRPr lang="en-US" sz="12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tc>
                <a:tc>
                  <a:txBody>
                    <a:bodyPr/>
                    <a:lstStyle/>
                    <a:p>
                      <a:pPr marL="0" marR="0" algn="l">
                        <a:lnSpc>
                          <a:spcPct val="115000"/>
                        </a:lnSpc>
                        <a:spcAft>
                          <a:spcPts val="800"/>
                        </a:spcAft>
                        <a:buNone/>
                      </a:pPr>
                      <a:r>
                        <a:rPr lang="en-IN" sz="1200" kern="100" dirty="0">
                          <a:effectLst/>
                          <a:latin typeface="Times New Roman" panose="02020603050405020304" pitchFamily="18" charset="0"/>
                          <a:ea typeface="Aptos" panose="020B0004020202020204" pitchFamily="34" charset="0"/>
                          <a:cs typeface="Times New Roman" panose="02020603050405020304" pitchFamily="18" charset="0"/>
                        </a:rPr>
                        <a:t>Implements a voice-based web app using Web Speech API, CNNs for speech and face recognition, and NLP via NLTK and </a:t>
                      </a:r>
                      <a:r>
                        <a:rPr lang="en-IN" sz="1200" kern="100" dirty="0" err="1">
                          <a:effectLst/>
                          <a:latin typeface="Times New Roman" panose="02020603050405020304" pitchFamily="18" charset="0"/>
                          <a:ea typeface="Aptos" panose="020B0004020202020204" pitchFamily="34" charset="0"/>
                          <a:cs typeface="Times New Roman" panose="02020603050405020304" pitchFamily="18" charset="0"/>
                        </a:rPr>
                        <a:t>spaCy</a:t>
                      </a:r>
                      <a:r>
                        <a:rPr lang="en-IN" sz="1200" kern="100" dirty="0">
                          <a:effectLst/>
                          <a:latin typeface="Times New Roman" panose="02020603050405020304" pitchFamily="18" charset="0"/>
                          <a:ea typeface="Aptos" panose="020B0004020202020204" pitchFamily="34" charset="0"/>
                          <a:cs typeface="Times New Roman" panose="02020603050405020304" pitchFamily="18" charset="0"/>
                        </a:rPr>
                        <a:t>; integrates a SQLite database and collaborative filtering for personalized food recommendations.</a:t>
                      </a:r>
                      <a:endParaRPr lang="en-US" sz="12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tc>
                <a:tc>
                  <a:txBody>
                    <a:bodyPr/>
                    <a:lstStyle/>
                    <a:p>
                      <a:pPr marL="0" marR="0" algn="l">
                        <a:lnSpc>
                          <a:spcPct val="115000"/>
                        </a:lnSpc>
                        <a:spcAft>
                          <a:spcPts val="800"/>
                        </a:spcAft>
                        <a:buNone/>
                      </a:pPr>
                      <a:r>
                        <a:rPr lang="en-IN" sz="1200" kern="100" dirty="0">
                          <a:effectLst/>
                          <a:latin typeface="Times New Roman" panose="02020603050405020304" pitchFamily="18" charset="0"/>
                          <a:ea typeface="Aptos" panose="020B0004020202020204" pitchFamily="34" charset="0"/>
                          <a:cs typeface="Times New Roman" panose="02020603050405020304" pitchFamily="18" charset="0"/>
                        </a:rPr>
                        <a:t>Demonstrates successful digitization of restaurant services with 89% face recognition accuracy, effective speech recognition, hands-free voice navigation, order tracking, and flexible payment options to enhance user experience and accessibility.</a:t>
                      </a:r>
                      <a:endParaRPr lang="en-US" sz="12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tc>
                <a:tc>
                  <a:txBody>
                    <a:bodyPr/>
                    <a:lstStyle/>
                    <a:p>
                      <a:pPr marL="0" marR="0" algn="l">
                        <a:lnSpc>
                          <a:spcPct val="115000"/>
                        </a:lnSpc>
                        <a:spcAft>
                          <a:spcPts val="800"/>
                        </a:spcAft>
                        <a:buNone/>
                      </a:pPr>
                      <a:r>
                        <a:rPr lang="en-IN" sz="1200" kern="100" dirty="0">
                          <a:effectLst/>
                          <a:latin typeface="Times New Roman" panose="02020603050405020304" pitchFamily="18" charset="0"/>
                          <a:ea typeface="Aptos" panose="020B0004020202020204" pitchFamily="34" charset="0"/>
                          <a:cs typeface="Times New Roman" panose="02020603050405020304" pitchFamily="18" charset="0"/>
                        </a:rPr>
                        <a:t>Relies on predefined dialogues with limited NLP flexibility, uses Web Speech API instead of native ASR, lacks mobile support, </a:t>
                      </a:r>
                      <a:endParaRPr lang="en-US" sz="12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914570298"/>
                  </a:ext>
                </a:extLst>
              </a:tr>
              <a:tr h="1941605">
                <a:tc>
                  <a:txBody>
                    <a:bodyPr/>
                    <a:lstStyle/>
                    <a:p>
                      <a:pPr marL="0" marR="0" algn="l">
                        <a:lnSpc>
                          <a:spcPct val="115000"/>
                        </a:lnSpc>
                        <a:spcAft>
                          <a:spcPts val="800"/>
                        </a:spcAft>
                        <a:buNone/>
                      </a:pPr>
                      <a:r>
                        <a:rPr lang="en-IN" sz="1200" kern="100" dirty="0">
                          <a:effectLst/>
                          <a:latin typeface="Times New Roman" panose="02020603050405020304" pitchFamily="18" charset="0"/>
                          <a:ea typeface="Aptos" panose="020B0004020202020204" pitchFamily="34" charset="0"/>
                          <a:cs typeface="Times New Roman" panose="02020603050405020304" pitchFamily="18" charset="0"/>
                        </a:rPr>
                        <a:t>3</a:t>
                      </a:r>
                      <a:endParaRPr lang="en-US" sz="12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tc>
                <a:tc>
                  <a:txBody>
                    <a:bodyPr/>
                    <a:lstStyle/>
                    <a:p>
                      <a:pPr marL="0" marR="0" algn="l">
                        <a:lnSpc>
                          <a:spcPct val="115000"/>
                        </a:lnSpc>
                        <a:spcAft>
                          <a:spcPts val="800"/>
                        </a:spcAft>
                        <a:buNone/>
                      </a:pPr>
                      <a:r>
                        <a:rPr lang="en-IN" sz="1200" b="1" kern="100" dirty="0">
                          <a:effectLst/>
                          <a:latin typeface="Times New Roman" panose="02020603050405020304" pitchFamily="18" charset="0"/>
                          <a:ea typeface="Aptos" panose="020B0004020202020204" pitchFamily="34" charset="0"/>
                          <a:cs typeface="Times New Roman" panose="02020603050405020304" pitchFamily="18" charset="0"/>
                        </a:rPr>
                        <a:t>HYLR-FO: Hybrid Approach Using Language Models and</a:t>
                      </a:r>
                      <a:r>
                        <a:rPr lang="en-US" sz="1200" b="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IN" sz="1200" b="1" kern="100" dirty="0">
                          <a:effectLst/>
                          <a:latin typeface="Times New Roman" panose="02020603050405020304" pitchFamily="18" charset="0"/>
                          <a:ea typeface="Aptos" panose="020B0004020202020204" pitchFamily="34" charset="0"/>
                          <a:cs typeface="Times New Roman" panose="02020603050405020304" pitchFamily="18" charset="0"/>
                        </a:rPr>
                        <a:t>Rule-Based Systems for On-Device Food Ordering</a:t>
                      </a:r>
                      <a:endParaRPr lang="en-US" sz="1200" kern="100" dirty="0">
                        <a:effectLst/>
                        <a:latin typeface="Times New Roman" panose="02020603050405020304" pitchFamily="18" charset="0"/>
                        <a:ea typeface="Aptos" panose="020B0004020202020204" pitchFamily="34" charset="0"/>
                        <a:cs typeface="Times New Roman" panose="02020603050405020304" pitchFamily="18" charset="0"/>
                      </a:endParaRPr>
                    </a:p>
                    <a:p>
                      <a:pPr marL="0" marR="0" algn="l">
                        <a:lnSpc>
                          <a:spcPct val="115000"/>
                        </a:lnSpc>
                        <a:spcAft>
                          <a:spcPts val="800"/>
                        </a:spcAft>
                        <a:buNone/>
                      </a:pPr>
                      <a:r>
                        <a:rPr lang="en-IN" sz="1200" kern="100" dirty="0">
                          <a:effectLst/>
                          <a:latin typeface="Times New Roman" panose="02020603050405020304" pitchFamily="18" charset="0"/>
                          <a:ea typeface="Aptos" panose="020B0004020202020204" pitchFamily="34" charset="0"/>
                          <a:cs typeface="Times New Roman" panose="02020603050405020304" pitchFamily="18" charset="0"/>
                        </a:rPr>
                        <a:t> </a:t>
                      </a:r>
                      <a:endParaRPr lang="en-US" sz="12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tc>
                <a:tc>
                  <a:txBody>
                    <a:bodyPr/>
                    <a:lstStyle/>
                    <a:p>
                      <a:pPr marL="0" marR="0" algn="l">
                        <a:lnSpc>
                          <a:spcPct val="115000"/>
                        </a:lnSpc>
                        <a:spcAft>
                          <a:spcPts val="800"/>
                        </a:spcAft>
                        <a:buNone/>
                      </a:pPr>
                      <a:r>
                        <a:rPr lang="en-IN" sz="1200" kern="100">
                          <a:effectLst/>
                          <a:latin typeface="Times New Roman" panose="02020603050405020304" pitchFamily="18" charset="0"/>
                          <a:ea typeface="Aptos" panose="020B0004020202020204" pitchFamily="34" charset="0"/>
                          <a:cs typeface="Times New Roman" panose="02020603050405020304" pitchFamily="18" charset="0"/>
                        </a:rPr>
                        <a:t>2025</a:t>
                      </a:r>
                      <a:endParaRPr lang="en-US" sz="12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tc>
                <a:tc>
                  <a:txBody>
                    <a:bodyPr/>
                    <a:lstStyle/>
                    <a:p>
                      <a:pPr marL="0" marR="0" algn="l">
                        <a:lnSpc>
                          <a:spcPct val="115000"/>
                        </a:lnSpc>
                        <a:spcAft>
                          <a:spcPts val="800"/>
                        </a:spcAft>
                        <a:buNone/>
                      </a:pPr>
                      <a:r>
                        <a:rPr lang="en-IN" sz="1200" kern="100" dirty="0">
                          <a:effectLst/>
                          <a:latin typeface="Times New Roman" panose="02020603050405020304" pitchFamily="18" charset="0"/>
                          <a:ea typeface="Aptos" panose="020B0004020202020204" pitchFamily="34" charset="0"/>
                          <a:cs typeface="Times New Roman" panose="02020603050405020304" pitchFamily="18" charset="0"/>
                        </a:rPr>
                        <a:t>The paper proposes HYLR-FO, an on-device food ordering system that combines lightweight language models with a rule-based system (RBS) to improve order accuracy ,flexible NLP handling, and order verification without relying on large LLMs or strong network connections.</a:t>
                      </a:r>
                      <a:endParaRPr lang="en-US" sz="12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tc>
                <a:tc>
                  <a:txBody>
                    <a:bodyPr/>
                    <a:lstStyle/>
                    <a:p>
                      <a:pPr marL="0" marR="0" algn="l">
                        <a:lnSpc>
                          <a:spcPct val="115000"/>
                        </a:lnSpc>
                        <a:spcAft>
                          <a:spcPts val="800"/>
                        </a:spcAft>
                        <a:buNone/>
                      </a:pPr>
                      <a:r>
                        <a:rPr lang="en-IN" sz="1200" kern="100">
                          <a:effectLst/>
                          <a:latin typeface="Times New Roman" panose="02020603050405020304" pitchFamily="18" charset="0"/>
                          <a:ea typeface="Aptos" panose="020B0004020202020204" pitchFamily="34" charset="0"/>
                          <a:cs typeface="Times New Roman" panose="02020603050405020304" pitchFamily="18" charset="0"/>
                        </a:rPr>
                        <a:t>Hybrid method using BERT/BART for order extraction, RBS for ASR error handling, tested on-device with 4000/1000 sample dataset, benchmarked vs GPT-4 &amp; Gemini.</a:t>
                      </a:r>
                      <a:endParaRPr lang="en-US" sz="12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tc>
                <a:tc>
                  <a:txBody>
                    <a:bodyPr/>
                    <a:lstStyle/>
                    <a:p>
                      <a:pPr marL="0" marR="0" algn="l">
                        <a:lnSpc>
                          <a:spcPct val="115000"/>
                        </a:lnSpc>
                        <a:spcAft>
                          <a:spcPts val="800"/>
                        </a:spcAft>
                        <a:buNone/>
                      </a:pPr>
                      <a:r>
                        <a:rPr lang="en-IN" sz="1200" kern="100">
                          <a:effectLst/>
                          <a:latin typeface="Times New Roman" panose="02020603050405020304" pitchFamily="18" charset="0"/>
                          <a:ea typeface="Aptos" panose="020B0004020202020204" pitchFamily="34" charset="0"/>
                          <a:cs typeface="Times New Roman" panose="02020603050405020304" pitchFamily="18" charset="0"/>
                        </a:rPr>
                        <a:t>HYLR-FO combines a lightweight LM and RBS to achieve 86% order accuracy and 48× faster processing than LLMs, offering a fast, reliable on-device food ordering system suitable for resource-limited environments.</a:t>
                      </a:r>
                      <a:endParaRPr lang="en-US" sz="12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tc>
                <a:tc>
                  <a:txBody>
                    <a:bodyPr/>
                    <a:lstStyle/>
                    <a:p>
                      <a:pPr marL="0" marR="0" algn="l">
                        <a:lnSpc>
                          <a:spcPct val="115000"/>
                        </a:lnSpc>
                        <a:spcAft>
                          <a:spcPts val="800"/>
                        </a:spcAft>
                        <a:buNone/>
                      </a:pPr>
                      <a:r>
                        <a:rPr lang="en-IN" sz="1200" kern="100" dirty="0">
                          <a:effectLst/>
                          <a:latin typeface="Times New Roman" panose="02020603050405020304" pitchFamily="18" charset="0"/>
                          <a:ea typeface="Aptos" panose="020B0004020202020204" pitchFamily="34" charset="0"/>
                          <a:cs typeface="Times New Roman" panose="02020603050405020304" pitchFamily="18" charset="0"/>
                        </a:rPr>
                        <a:t>Relies on a custom dataset, which may limit generalizability; rule-based system may struggle with highly varied inputs; less accurate than LLMs in some cases.</a:t>
                      </a:r>
                      <a:endParaRPr lang="en-US" sz="12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218523042"/>
                  </a:ext>
                </a:extLst>
              </a:tr>
            </a:tbl>
          </a:graphicData>
        </a:graphic>
      </p:graphicFrame>
    </p:spTree>
    <p:extLst>
      <p:ext uri="{BB962C8B-B14F-4D97-AF65-F5344CB8AC3E}">
        <p14:creationId xmlns:p14="http://schemas.microsoft.com/office/powerpoint/2010/main" val="2166577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5BFB13-45FA-5B45-8D2D-604A963E5860}"/>
              </a:ext>
            </a:extLst>
          </p:cNvPr>
          <p:cNvSpPr>
            <a:spLocks noGrp="1"/>
          </p:cNvSpPr>
          <p:nvPr>
            <p:ph type="title"/>
          </p:nvPr>
        </p:nvSpPr>
        <p:spPr/>
        <p:txBody>
          <a:bodyPr/>
          <a:lstStyle/>
          <a:p>
            <a:r>
              <a:rPr lang="en-IN" b="1" dirty="0">
                <a:latin typeface="Times New Roman" panose="02020603050405020304" pitchFamily="18" charset="0"/>
                <a:cs typeface="Times New Roman" panose="02020603050405020304" pitchFamily="18" charset="0"/>
              </a:rPr>
              <a:t>Problem Statement In Existing System</a:t>
            </a:r>
            <a:endParaRPr lang="en-US"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83FA747A-2B6A-74DF-0FCD-1E08F0A030F8}"/>
              </a:ext>
            </a:extLst>
          </p:cNvPr>
          <p:cNvSpPr>
            <a:spLocks noGrp="1"/>
          </p:cNvSpPr>
          <p:nvPr>
            <p:ph idx="1"/>
          </p:nvPr>
        </p:nvSpPr>
        <p:spPr/>
        <p:txBody>
          <a:bodyPr>
            <a:normAutofit/>
          </a:bodyPr>
          <a:lstStyle/>
          <a:p>
            <a:pPr marL="0" indent="0" algn="just">
              <a:buNone/>
            </a:pPr>
            <a:r>
              <a:rPr lang="en-US" sz="2000" dirty="0">
                <a:latin typeface="Times New Roman" panose="02020603050405020304" pitchFamily="18" charset="0"/>
                <a:cs typeface="Times New Roman" panose="02020603050405020304" pitchFamily="18" charset="0"/>
              </a:rPr>
              <a:t>In fast-food restaurants, especially in busy locations like metro stations, airports, and kiosks, order management often struggles to keep pace with high demand. Many outlets still rely on separate systems for order taking, inventory management, and analytics, leading to delays, and difficulty in coordinating kitchen operations. Voice ordering technologies, where used, often lack integration with real-time backend processes and can struggle to maintain accuracy in noisy environments. Most current platforms do not provide intelligent load balancing, instant stock checks, or secure, transparent transaction tracking. As a result, these systems fail to deliver a fully connected, efficient, and scalable solution that meets the needs of fast-paced food service environments.</a:t>
            </a:r>
          </a:p>
        </p:txBody>
      </p:sp>
    </p:spTree>
    <p:extLst>
      <p:ext uri="{BB962C8B-B14F-4D97-AF65-F5344CB8AC3E}">
        <p14:creationId xmlns:p14="http://schemas.microsoft.com/office/powerpoint/2010/main" val="11189037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E96060-76A7-2A11-5512-AE1439358BE0}"/>
              </a:ext>
            </a:extLst>
          </p:cNvPr>
          <p:cNvSpPr>
            <a:spLocks noGrp="1"/>
          </p:cNvSpPr>
          <p:nvPr>
            <p:ph type="title"/>
          </p:nvPr>
        </p:nvSpPr>
        <p:spPr/>
        <p:txBody>
          <a:bodyPr>
            <a:normAutofit fontScale="90000"/>
          </a:bodyPr>
          <a:lstStyle/>
          <a:p>
            <a:br>
              <a:rPr lang="en-IN" b="1" dirty="0">
                <a:latin typeface="Times New Roman" panose="02020603050405020304" pitchFamily="18" charset="0"/>
                <a:cs typeface="Times New Roman" panose="02020603050405020304" pitchFamily="18" charset="0"/>
              </a:rPr>
            </a:br>
            <a:r>
              <a:rPr lang="en-IN" b="1" dirty="0">
                <a:latin typeface="Times New Roman" panose="02020603050405020304" pitchFamily="18" charset="0"/>
                <a:cs typeface="Times New Roman" panose="02020603050405020304" pitchFamily="18" charset="0"/>
              </a:rPr>
              <a:t>Proposed System</a:t>
            </a:r>
            <a:br>
              <a:rPr lang="en-US" dirty="0">
                <a:latin typeface="Times New Roman" panose="02020603050405020304" pitchFamily="18"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561E0E00-4E38-8E16-75FA-A1F50E54F07F}"/>
              </a:ext>
            </a:extLst>
          </p:cNvPr>
          <p:cNvSpPr>
            <a:spLocks noGrp="1"/>
          </p:cNvSpPr>
          <p:nvPr>
            <p:ph idx="1"/>
          </p:nvPr>
        </p:nvSpPr>
        <p:spPr/>
        <p:txBody>
          <a:bodyPr>
            <a:normAutofit/>
          </a:bodyPr>
          <a:lstStyle/>
          <a:p>
            <a:pPr marL="0" indent="0" algn="just">
              <a:buNone/>
            </a:pPr>
            <a:r>
              <a:rPr lang="en-US" sz="2000" dirty="0">
                <a:latin typeface="Times New Roman" panose="02020603050405020304" pitchFamily="18" charset="0"/>
                <a:cs typeface="Times New Roman" panose="02020603050405020304" pitchFamily="18" charset="0"/>
              </a:rPr>
              <a:t>The aim is to develop an advanced and intelligent food ordering system that overcomes the limitations of existing solutions in fast-food environments.</a:t>
            </a:r>
          </a:p>
          <a:p>
            <a:pPr marL="0" indent="0" algn="just">
              <a:buNone/>
            </a:pPr>
            <a:r>
              <a:rPr lang="en-US" sz="2000" dirty="0">
                <a:latin typeface="Times New Roman" panose="02020603050405020304" pitchFamily="18" charset="0"/>
                <a:cs typeface="Times New Roman" panose="02020603050405020304" pitchFamily="18" charset="0"/>
              </a:rPr>
              <a:t>In the existing system, voice ordering platforms often work in isolation, with limited integration between order placement, inventory management, and backend analytics.</a:t>
            </a:r>
          </a:p>
          <a:p>
            <a:pPr marL="0" indent="0" algn="just">
              <a:buNone/>
            </a:pPr>
            <a:r>
              <a:rPr lang="en-US" sz="2000" i="1" dirty="0">
                <a:latin typeface="Times New Roman" panose="02020603050405020304" pitchFamily="18" charset="0"/>
                <a:cs typeface="Times New Roman" panose="02020603050405020304" pitchFamily="18" charset="0"/>
              </a:rPr>
              <a:t>Talk2Invoice</a:t>
            </a:r>
            <a:r>
              <a:rPr lang="en-US" sz="2000" dirty="0">
                <a:latin typeface="Times New Roman" panose="02020603050405020304" pitchFamily="18" charset="0"/>
                <a:cs typeface="Times New Roman" panose="02020603050405020304" pitchFamily="18" charset="0"/>
              </a:rPr>
              <a:t> combines multilingual voice recognition, real-time inventory checks, kitchen load balancing, and secure transaction management into a single, scalable platform. It uses OpenAI’s Whisper for accurate speech-to-text conversion and a fine-tuned </a:t>
            </a:r>
            <a:r>
              <a:rPr lang="en-US" sz="2000" dirty="0" err="1">
                <a:latin typeface="Times New Roman" panose="02020603050405020304" pitchFamily="18" charset="0"/>
                <a:cs typeface="Times New Roman" panose="02020603050405020304" pitchFamily="18" charset="0"/>
              </a:rPr>
              <a:t>DistilBERT</a:t>
            </a:r>
            <a:r>
              <a:rPr lang="en-US" sz="2000" dirty="0">
                <a:latin typeface="Times New Roman" panose="02020603050405020304" pitchFamily="18" charset="0"/>
                <a:cs typeface="Times New Roman" panose="02020603050405020304" pitchFamily="18" charset="0"/>
              </a:rPr>
              <a:t> model for precise intent recognition and food item extraction. The system generates automated digital invoices and provides daily analytics reports, enabling restaurants to optimize operations, improve order accuracy, reduce wait times, and enhance customer satisfaction in high-traffic locations.</a:t>
            </a:r>
          </a:p>
        </p:txBody>
      </p:sp>
    </p:spTree>
    <p:extLst>
      <p:ext uri="{BB962C8B-B14F-4D97-AF65-F5344CB8AC3E}">
        <p14:creationId xmlns:p14="http://schemas.microsoft.com/office/powerpoint/2010/main" val="28948004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CD9709-FFE7-6295-8DA5-8C120CDA0396}"/>
              </a:ext>
            </a:extLst>
          </p:cNvPr>
          <p:cNvSpPr>
            <a:spLocks noGrp="1"/>
          </p:cNvSpPr>
          <p:nvPr>
            <p:ph type="title"/>
          </p:nvPr>
        </p:nvSpPr>
        <p:spPr/>
        <p:txBody>
          <a:bodyPr/>
          <a:lstStyle/>
          <a:p>
            <a:r>
              <a:rPr lang="en-IN" b="1" dirty="0">
                <a:latin typeface="Times New Roman" panose="02020603050405020304" pitchFamily="18" charset="0"/>
                <a:cs typeface="Times New Roman" panose="02020603050405020304" pitchFamily="18" charset="0"/>
              </a:rPr>
              <a:t>Objective</a:t>
            </a:r>
            <a:endParaRPr lang="en-US" dirty="0"/>
          </a:p>
        </p:txBody>
      </p:sp>
      <p:sp>
        <p:nvSpPr>
          <p:cNvPr id="3" name="Content Placeholder 2">
            <a:extLst>
              <a:ext uri="{FF2B5EF4-FFF2-40B4-BE49-F238E27FC236}">
                <a16:creationId xmlns:a16="http://schemas.microsoft.com/office/drawing/2014/main" id="{9965CFF5-36CC-CC9B-D68A-DC280BEEDA68}"/>
              </a:ext>
            </a:extLst>
          </p:cNvPr>
          <p:cNvSpPr>
            <a:spLocks noGrp="1"/>
          </p:cNvSpPr>
          <p:nvPr>
            <p:ph idx="1"/>
          </p:nvPr>
        </p:nvSpPr>
        <p:spPr/>
        <p:txBody>
          <a:bodyPr>
            <a:normAutofit/>
          </a:bodyPr>
          <a:lstStyle/>
          <a:p>
            <a:pPr marL="0" indent="0" algn="just">
              <a:buNone/>
            </a:pPr>
            <a:r>
              <a:rPr lang="en-US" sz="2000" dirty="0">
                <a:latin typeface="Times New Roman" panose="02020603050405020304" pitchFamily="18" charset="0"/>
                <a:cs typeface="Times New Roman" panose="02020603050405020304" pitchFamily="18" charset="0"/>
              </a:rPr>
              <a:t>To transform the food ordering experience in fast-food environments by providing an intelligent, voice-enabled ordering service. The system delivers fast, accurate, and personalized order processing by leveraging multilingual speech recognition, natural language understanding, and real-time backend operations. It empowers both customers and restaurant operators with a seamless, efficient, and transparent ordering process, ultimately improving customer satisfaction, reducing wait times, and enhancing operational performance in high-demand locations.</a:t>
            </a:r>
          </a:p>
        </p:txBody>
      </p:sp>
      <p:pic>
        <p:nvPicPr>
          <p:cNvPr id="4" name="Picture 3" descr="ChatGPT Image Aug 6, 2025, 07_36_45 PM">
            <a:extLst>
              <a:ext uri="{FF2B5EF4-FFF2-40B4-BE49-F238E27FC236}">
                <a16:creationId xmlns:a16="http://schemas.microsoft.com/office/drawing/2014/main" id="{2AD39798-FF14-44F5-1F8D-9C7FF7F67F64}"/>
              </a:ext>
            </a:extLst>
          </p:cNvPr>
          <p:cNvPicPr>
            <a:picLocks noChangeAspect="1"/>
          </p:cNvPicPr>
          <p:nvPr/>
        </p:nvPicPr>
        <p:blipFill>
          <a:blip r:embed="rId2"/>
          <a:stretch>
            <a:fillRect/>
          </a:stretch>
        </p:blipFill>
        <p:spPr>
          <a:xfrm>
            <a:off x="7979410" y="3429000"/>
            <a:ext cx="3374390" cy="3325641"/>
          </a:xfrm>
          <a:prstGeom prst="rect">
            <a:avLst/>
          </a:prstGeom>
        </p:spPr>
      </p:pic>
    </p:spTree>
    <p:extLst>
      <p:ext uri="{BB962C8B-B14F-4D97-AF65-F5344CB8AC3E}">
        <p14:creationId xmlns:p14="http://schemas.microsoft.com/office/powerpoint/2010/main" val="1478322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E8B7DA-6A35-AD47-DA81-0763315B8DF0}"/>
              </a:ext>
            </a:extLst>
          </p:cNvPr>
          <p:cNvSpPr>
            <a:spLocks noGrp="1"/>
          </p:cNvSpPr>
          <p:nvPr>
            <p:ph type="title"/>
          </p:nvPr>
        </p:nvSpPr>
        <p:spPr/>
        <p:txBody>
          <a:bodyPr>
            <a:normAutofit fontScale="90000"/>
          </a:bodyPr>
          <a:lstStyle/>
          <a:p>
            <a:br>
              <a:rPr lang="en-US" b="1" dirty="0">
                <a:latin typeface="Times New Roman" panose="02020603050405020304" pitchFamily="18" charset="0"/>
                <a:cs typeface="Times New Roman" panose="02020603050405020304" pitchFamily="18" charset="0"/>
              </a:rPr>
            </a:br>
            <a:r>
              <a:rPr lang="en-US" b="1" dirty="0">
                <a:latin typeface="Times New Roman" panose="02020603050405020304" pitchFamily="18" charset="0"/>
                <a:cs typeface="Times New Roman" panose="02020603050405020304" pitchFamily="18" charset="0"/>
              </a:rPr>
              <a:t>Project domain </a:t>
            </a:r>
            <a:br>
              <a:rPr lang="en-US" dirty="0">
                <a:latin typeface="Times New Roman" panose="02020603050405020304" pitchFamily="18"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26D209E5-DBE9-20FD-7AA2-A4627E82E435}"/>
              </a:ext>
            </a:extLst>
          </p:cNvPr>
          <p:cNvSpPr>
            <a:spLocks noGrp="1"/>
          </p:cNvSpPr>
          <p:nvPr>
            <p:ph idx="1"/>
          </p:nvPr>
        </p:nvSpPr>
        <p:spPr/>
        <p:txBody>
          <a:bodyPr>
            <a:normAutofit fontScale="70000" lnSpcReduction="20000"/>
          </a:bodyPr>
          <a:lstStyle/>
          <a:p>
            <a:pPr marL="0" indent="0" algn="just">
              <a:buNone/>
            </a:pPr>
            <a:r>
              <a:rPr lang="en-US" b="1" dirty="0">
                <a:latin typeface="Times New Roman" panose="02020603050405020304" pitchFamily="18" charset="0"/>
                <a:cs typeface="Times New Roman" panose="02020603050405020304" pitchFamily="18" charset="0"/>
              </a:rPr>
              <a:t>Domain: Artificial Intelligence (AI) with Blockchain Integration</a:t>
            </a:r>
            <a:endParaRPr lang="en-US" dirty="0">
              <a:latin typeface="Times New Roman" panose="02020603050405020304" pitchFamily="18" charset="0"/>
              <a:cs typeface="Times New Roman" panose="02020603050405020304" pitchFamily="18" charset="0"/>
            </a:endParaRPr>
          </a:p>
          <a:p>
            <a:pPr marL="0" indent="0" algn="just">
              <a:buNone/>
            </a:pPr>
            <a:r>
              <a:rPr lang="en-US" dirty="0">
                <a:latin typeface="Times New Roman" panose="02020603050405020304" pitchFamily="18" charset="0"/>
                <a:cs typeface="Times New Roman" panose="02020603050405020304" pitchFamily="18" charset="0"/>
              </a:rPr>
              <a:t> The core domain of this project is </a:t>
            </a:r>
            <a:r>
              <a:rPr lang="en-US" b="1" dirty="0">
                <a:latin typeface="Times New Roman" panose="02020603050405020304" pitchFamily="18" charset="0"/>
                <a:cs typeface="Times New Roman" panose="02020603050405020304" pitchFamily="18" charset="0"/>
              </a:rPr>
              <a:t>Artificial Intelligence (AI)</a:t>
            </a:r>
            <a:r>
              <a:rPr lang="en-US" dirty="0">
                <a:latin typeface="Times New Roman" panose="02020603050405020304" pitchFamily="18" charset="0"/>
                <a:cs typeface="Times New Roman" panose="02020603050405020304" pitchFamily="18" charset="0"/>
              </a:rPr>
              <a:t>, specifically focusing on </a:t>
            </a:r>
            <a:r>
              <a:rPr lang="en-US" b="1" dirty="0">
                <a:latin typeface="Times New Roman" panose="02020603050405020304" pitchFamily="18" charset="0"/>
                <a:cs typeface="Times New Roman" panose="02020603050405020304" pitchFamily="18" charset="0"/>
              </a:rPr>
              <a:t>Natural Language Processing (NLP)</a:t>
            </a:r>
            <a:r>
              <a:rPr lang="en-US" dirty="0">
                <a:latin typeface="Times New Roman" panose="02020603050405020304" pitchFamily="18" charset="0"/>
                <a:cs typeface="Times New Roman" panose="02020603050405020304" pitchFamily="18" charset="0"/>
              </a:rPr>
              <a:t> and </a:t>
            </a:r>
            <a:r>
              <a:rPr lang="en-US" b="1" dirty="0">
                <a:latin typeface="Times New Roman" panose="02020603050405020304" pitchFamily="18" charset="0"/>
                <a:cs typeface="Times New Roman" panose="02020603050405020304" pitchFamily="18" charset="0"/>
              </a:rPr>
              <a:t>Speech Recognition</a:t>
            </a:r>
            <a:r>
              <a:rPr lang="en-US" dirty="0">
                <a:latin typeface="Times New Roman" panose="02020603050405020304" pitchFamily="18" charset="0"/>
                <a:cs typeface="Times New Roman" panose="02020603050405020304" pitchFamily="18" charset="0"/>
              </a:rPr>
              <a:t> to enable accurate, multilingual voice-based food ordering. The project also incorporates </a:t>
            </a:r>
            <a:r>
              <a:rPr lang="en-US" b="1" dirty="0">
                <a:latin typeface="Times New Roman" panose="02020603050405020304" pitchFamily="18" charset="0"/>
                <a:cs typeface="Times New Roman" panose="02020603050405020304" pitchFamily="18" charset="0"/>
              </a:rPr>
              <a:t>Blockchain</a:t>
            </a:r>
            <a:r>
              <a:rPr lang="en-US" dirty="0">
                <a:latin typeface="Times New Roman" panose="02020603050405020304" pitchFamily="18" charset="0"/>
                <a:cs typeface="Times New Roman" panose="02020603050405020304" pitchFamily="18" charset="0"/>
              </a:rPr>
              <a:t> as a supporting domain to ensure secure, tamper-proof transaction management and operational transparency.</a:t>
            </a:r>
          </a:p>
          <a:p>
            <a:pPr marL="0" indent="0" algn="just">
              <a:buNone/>
            </a:pPr>
            <a:endParaRPr lang="en-US" dirty="0">
              <a:latin typeface="Times New Roman" panose="02020603050405020304" pitchFamily="18" charset="0"/>
              <a:cs typeface="Times New Roman" panose="02020603050405020304" pitchFamily="18" charset="0"/>
            </a:endParaRPr>
          </a:p>
          <a:p>
            <a:pPr marL="0" indent="0" algn="just">
              <a:buNone/>
            </a:pPr>
            <a:r>
              <a:rPr lang="en-US" b="1" dirty="0">
                <a:latin typeface="Times New Roman" panose="02020603050405020304" pitchFamily="18" charset="0"/>
                <a:cs typeface="Times New Roman" panose="02020603050405020304" pitchFamily="18" charset="0"/>
              </a:rPr>
              <a:t>Key Areas within the Project Domain:</a:t>
            </a:r>
            <a:endParaRPr lang="en-US" dirty="0">
              <a:latin typeface="Times New Roman" panose="02020603050405020304" pitchFamily="18" charset="0"/>
              <a:cs typeface="Times New Roman" panose="02020603050405020304" pitchFamily="18" charset="0"/>
            </a:endParaRPr>
          </a:p>
          <a:p>
            <a:pPr algn="just"/>
            <a:r>
              <a:rPr lang="en-US" b="1" dirty="0">
                <a:latin typeface="Times New Roman" panose="02020603050405020304" pitchFamily="18" charset="0"/>
                <a:cs typeface="Times New Roman" panose="02020603050405020304" pitchFamily="18" charset="0"/>
              </a:rPr>
              <a:t>Speech Recognition (OpenAI’s Whisper):</a:t>
            </a:r>
            <a:r>
              <a:rPr lang="en-US" dirty="0">
                <a:latin typeface="Times New Roman" panose="02020603050405020304" pitchFamily="18" charset="0"/>
                <a:cs typeface="Times New Roman" panose="02020603050405020304" pitchFamily="18" charset="0"/>
              </a:rPr>
              <a:t> Converts multilingual speech into text with high accuracy, even in noisy environments.</a:t>
            </a:r>
          </a:p>
          <a:p>
            <a:pPr algn="just"/>
            <a:r>
              <a:rPr lang="en-US" b="1" dirty="0">
                <a:latin typeface="Times New Roman" panose="02020603050405020304" pitchFamily="18" charset="0"/>
                <a:cs typeface="Times New Roman" panose="02020603050405020304" pitchFamily="18" charset="0"/>
              </a:rPr>
              <a:t>Natural Language Processing (</a:t>
            </a:r>
            <a:r>
              <a:rPr lang="en-US" b="1" dirty="0" err="1">
                <a:latin typeface="Times New Roman" panose="02020603050405020304" pitchFamily="18" charset="0"/>
                <a:cs typeface="Times New Roman" panose="02020603050405020304" pitchFamily="18" charset="0"/>
              </a:rPr>
              <a:t>DistilBERT</a:t>
            </a:r>
            <a:r>
              <a:rPr lang="en-US" b="1" dirty="0">
                <a:latin typeface="Times New Roman" panose="02020603050405020304" pitchFamily="18" charset="0"/>
                <a:cs typeface="Times New Roman" panose="02020603050405020304" pitchFamily="18" charset="0"/>
              </a:rPr>
              <a:t>):</a:t>
            </a:r>
            <a:r>
              <a:rPr lang="en-US" dirty="0">
                <a:latin typeface="Times New Roman" panose="02020603050405020304" pitchFamily="18" charset="0"/>
                <a:cs typeface="Times New Roman" panose="02020603050405020304" pitchFamily="18" charset="0"/>
              </a:rPr>
              <a:t> Identifies user intent and extracts food order details from transcribed text.</a:t>
            </a:r>
          </a:p>
          <a:p>
            <a:pPr algn="just"/>
            <a:r>
              <a:rPr lang="en-US" b="1" dirty="0">
                <a:latin typeface="Times New Roman" panose="02020603050405020304" pitchFamily="18" charset="0"/>
                <a:cs typeface="Times New Roman" panose="02020603050405020304" pitchFamily="18" charset="0"/>
              </a:rPr>
              <a:t>Blockchain Integration:</a:t>
            </a:r>
            <a:r>
              <a:rPr lang="en-US" dirty="0">
                <a:latin typeface="Times New Roman" panose="02020603050405020304" pitchFamily="18" charset="0"/>
                <a:cs typeface="Times New Roman" panose="02020603050405020304" pitchFamily="18" charset="0"/>
              </a:rPr>
              <a:t> Provides a decentralized, secure ledger for transaction logging, inventory updates, and queue management.</a:t>
            </a:r>
          </a:p>
          <a:p>
            <a:pPr algn="just"/>
            <a:r>
              <a:rPr lang="en-US" b="1" dirty="0">
                <a:latin typeface="Times New Roman" panose="02020603050405020304" pitchFamily="18" charset="0"/>
                <a:cs typeface="Times New Roman" panose="02020603050405020304" pitchFamily="18" charset="0"/>
              </a:rPr>
              <a:t>AI-Driven Backend Automation:</a:t>
            </a:r>
            <a:r>
              <a:rPr lang="en-US" dirty="0">
                <a:latin typeface="Times New Roman" panose="02020603050405020304" pitchFamily="18" charset="0"/>
                <a:cs typeface="Times New Roman" panose="02020603050405020304" pitchFamily="18" charset="0"/>
              </a:rPr>
              <a:t> Handles real-time inventory checks, kitchen load balancing, and automated invoice generation.</a:t>
            </a:r>
          </a:p>
          <a:p>
            <a:pPr marL="0" indent="0">
              <a:buNone/>
            </a:pPr>
            <a:endParaRPr lang="en-US" dirty="0"/>
          </a:p>
        </p:txBody>
      </p:sp>
    </p:spTree>
    <p:extLst>
      <p:ext uri="{BB962C8B-B14F-4D97-AF65-F5344CB8AC3E}">
        <p14:creationId xmlns:p14="http://schemas.microsoft.com/office/powerpoint/2010/main" val="22572929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180C482-0DEE-B684-10AD-847D285F3373}"/>
              </a:ext>
            </a:extLst>
          </p:cNvPr>
          <p:cNvSpPr>
            <a:spLocks noGrp="1"/>
          </p:cNvSpPr>
          <p:nvPr>
            <p:ph idx="1"/>
          </p:nvPr>
        </p:nvSpPr>
        <p:spPr>
          <a:xfrm>
            <a:off x="838200" y="855662"/>
            <a:ext cx="10515600" cy="5545138"/>
          </a:xfrm>
        </p:spPr>
        <p:txBody>
          <a:bodyPr>
            <a:normAutofit fontScale="62500" lnSpcReduction="20000"/>
          </a:bodyPr>
          <a:lstStyle/>
          <a:p>
            <a:pPr marL="0" indent="0" eaLnBrk="0" fontAlgn="base" hangingPunct="0">
              <a:buNone/>
            </a:pPr>
            <a:r>
              <a:rPr lang="en-US" sz="5400" b="1" dirty="0">
                <a:latin typeface="Times New Roman" panose="02020603050405020304" pitchFamily="18" charset="0"/>
                <a:cs typeface="Times New Roman" panose="02020603050405020304" pitchFamily="18" charset="0"/>
              </a:rPr>
              <a:t>Requirement Analysis</a:t>
            </a:r>
            <a:endParaRPr lang="en-US" sz="5400" dirty="0">
              <a:latin typeface="Times New Roman" panose="02020603050405020304" pitchFamily="18" charset="0"/>
              <a:cs typeface="Times New Roman" panose="02020603050405020304" pitchFamily="18" charset="0"/>
            </a:endParaRPr>
          </a:p>
          <a:p>
            <a:pPr marL="0" indent="0" eaLnBrk="0" fontAlgn="base" hangingPunct="0">
              <a:buNone/>
            </a:pPr>
            <a:endParaRPr lang="en-US" sz="5200" b="1" dirty="0">
              <a:latin typeface="Times New Roman" panose="02020603050405020304" pitchFamily="18" charset="0"/>
              <a:cs typeface="Times New Roman" panose="02020603050405020304" pitchFamily="18" charset="0"/>
            </a:endParaRPr>
          </a:p>
          <a:p>
            <a:pPr marL="0" indent="0" eaLnBrk="0" fontAlgn="base" hangingPunct="0">
              <a:buNone/>
            </a:pPr>
            <a:r>
              <a:rPr lang="en-US" sz="5200" b="1" dirty="0">
                <a:latin typeface="Times New Roman" panose="02020603050405020304" pitchFamily="18" charset="0"/>
                <a:cs typeface="Times New Roman" panose="02020603050405020304" pitchFamily="18" charset="0"/>
              </a:rPr>
              <a:t>Functional Requirements </a:t>
            </a:r>
          </a:p>
          <a:p>
            <a:pPr eaLnBrk="0" fontAlgn="base" hangingPunct="0"/>
            <a:r>
              <a:rPr lang="en-US" sz="2600" b="1" dirty="0">
                <a:latin typeface="Times New Roman" panose="02020603050405020304" pitchFamily="18" charset="0"/>
                <a:cs typeface="Times New Roman" panose="02020603050405020304" pitchFamily="18" charset="0"/>
              </a:rPr>
              <a:t>Voice Order Collection</a:t>
            </a:r>
            <a:r>
              <a:rPr lang="en-US" sz="2600" dirty="0">
                <a:latin typeface="Times New Roman" panose="02020603050405020304" pitchFamily="18" charset="0"/>
                <a:cs typeface="Times New Roman" panose="02020603050405020304" pitchFamily="18" charset="0"/>
              </a:rPr>
              <a:t> – Capture and process user voice orders along with preferences.</a:t>
            </a:r>
            <a:endParaRPr lang="en-US" sz="2600" dirty="0">
              <a:effectLst/>
              <a:latin typeface="Times New Roman" panose="02020603050405020304" pitchFamily="18" charset="0"/>
              <a:cs typeface="Times New Roman" panose="02020603050405020304" pitchFamily="18" charset="0"/>
            </a:endParaRPr>
          </a:p>
          <a:p>
            <a:pPr eaLnBrk="0" fontAlgn="base" hangingPunct="0"/>
            <a:r>
              <a:rPr lang="en-US" sz="2600" b="1" dirty="0">
                <a:latin typeface="Times New Roman" panose="02020603050405020304" pitchFamily="18" charset="0"/>
                <a:cs typeface="Times New Roman" panose="02020603050405020304" pitchFamily="18" charset="0"/>
              </a:rPr>
              <a:t>Speech-to-Text Processing</a:t>
            </a:r>
            <a:r>
              <a:rPr lang="en-US" sz="2600" dirty="0">
                <a:latin typeface="Times New Roman" panose="02020603050405020304" pitchFamily="18" charset="0"/>
                <a:cs typeface="Times New Roman" panose="02020603050405020304" pitchFamily="18" charset="0"/>
              </a:rPr>
              <a:t> – Use Whisper to convert multilingual speech to text accurately.</a:t>
            </a:r>
            <a:endParaRPr lang="en-US" sz="2600" dirty="0">
              <a:effectLst/>
              <a:latin typeface="Times New Roman" panose="02020603050405020304" pitchFamily="18" charset="0"/>
              <a:cs typeface="Times New Roman" panose="02020603050405020304" pitchFamily="18" charset="0"/>
            </a:endParaRPr>
          </a:p>
          <a:p>
            <a:pPr eaLnBrk="0" fontAlgn="base" hangingPunct="0"/>
            <a:r>
              <a:rPr lang="en-US" sz="2600" b="1" dirty="0">
                <a:latin typeface="Times New Roman" panose="02020603050405020304" pitchFamily="18" charset="0"/>
                <a:cs typeface="Times New Roman" panose="02020603050405020304" pitchFamily="18" charset="0"/>
              </a:rPr>
              <a:t>Intent Recognition</a:t>
            </a:r>
            <a:r>
              <a:rPr lang="en-US" sz="2600" dirty="0">
                <a:latin typeface="Times New Roman" panose="02020603050405020304" pitchFamily="18" charset="0"/>
                <a:cs typeface="Times New Roman" panose="02020603050405020304" pitchFamily="18" charset="0"/>
              </a:rPr>
              <a:t> – Apply </a:t>
            </a:r>
            <a:r>
              <a:rPr lang="en-US" sz="2600" dirty="0" err="1">
                <a:latin typeface="Times New Roman" panose="02020603050405020304" pitchFamily="18" charset="0"/>
                <a:cs typeface="Times New Roman" panose="02020603050405020304" pitchFamily="18" charset="0"/>
              </a:rPr>
              <a:t>DistilBERT</a:t>
            </a:r>
            <a:r>
              <a:rPr lang="en-US" sz="2600" dirty="0">
                <a:latin typeface="Times New Roman" panose="02020603050405020304" pitchFamily="18" charset="0"/>
                <a:cs typeface="Times New Roman" panose="02020603050405020304" pitchFamily="18" charset="0"/>
              </a:rPr>
              <a:t> to detect order intent and extract food items.</a:t>
            </a:r>
            <a:endParaRPr lang="en-US" sz="2600" dirty="0">
              <a:effectLst/>
              <a:latin typeface="Times New Roman" panose="02020603050405020304" pitchFamily="18" charset="0"/>
              <a:cs typeface="Times New Roman" panose="02020603050405020304" pitchFamily="18" charset="0"/>
            </a:endParaRPr>
          </a:p>
          <a:p>
            <a:pPr eaLnBrk="0" fontAlgn="base" hangingPunct="0"/>
            <a:r>
              <a:rPr lang="en-US" sz="2600" b="1" dirty="0">
                <a:latin typeface="Times New Roman" panose="02020603050405020304" pitchFamily="18" charset="0"/>
                <a:cs typeface="Times New Roman" panose="02020603050405020304" pitchFamily="18" charset="0"/>
              </a:rPr>
              <a:t>Inventory &amp; Load Check</a:t>
            </a:r>
            <a:r>
              <a:rPr lang="en-US" sz="2600" dirty="0">
                <a:latin typeface="Times New Roman" panose="02020603050405020304" pitchFamily="18" charset="0"/>
                <a:cs typeface="Times New Roman" panose="02020603050405020304" pitchFamily="18" charset="0"/>
              </a:rPr>
              <a:t> – Verify stock and balance kitchen load in real time.</a:t>
            </a:r>
            <a:endParaRPr lang="en-US" sz="2600" dirty="0">
              <a:effectLst/>
              <a:latin typeface="Times New Roman" panose="02020603050405020304" pitchFamily="18" charset="0"/>
              <a:cs typeface="Times New Roman" panose="02020603050405020304" pitchFamily="18" charset="0"/>
            </a:endParaRPr>
          </a:p>
          <a:p>
            <a:pPr eaLnBrk="0" fontAlgn="base" hangingPunct="0"/>
            <a:r>
              <a:rPr lang="en-US" sz="2600" b="1" dirty="0">
                <a:latin typeface="Times New Roman" panose="02020603050405020304" pitchFamily="18" charset="0"/>
                <a:cs typeface="Times New Roman" panose="02020603050405020304" pitchFamily="18" charset="0"/>
              </a:rPr>
              <a:t>Blockchain Integration</a:t>
            </a:r>
            <a:r>
              <a:rPr lang="en-US" sz="2600" dirty="0">
                <a:latin typeface="Times New Roman" panose="02020603050405020304" pitchFamily="18" charset="0"/>
                <a:cs typeface="Times New Roman" panose="02020603050405020304" pitchFamily="18" charset="0"/>
              </a:rPr>
              <a:t> – Ensure secure order tracking and transaction logging.</a:t>
            </a:r>
            <a:endParaRPr lang="en-US" sz="2600" dirty="0">
              <a:effectLst/>
              <a:latin typeface="Times New Roman" panose="02020603050405020304" pitchFamily="18" charset="0"/>
              <a:cs typeface="Times New Roman" panose="02020603050405020304" pitchFamily="18" charset="0"/>
            </a:endParaRPr>
          </a:p>
          <a:p>
            <a:pPr eaLnBrk="0" fontAlgn="base" hangingPunct="0"/>
            <a:r>
              <a:rPr lang="en-US" sz="2600" b="1" dirty="0">
                <a:latin typeface="Times New Roman" panose="02020603050405020304" pitchFamily="18" charset="0"/>
                <a:cs typeface="Times New Roman" panose="02020603050405020304" pitchFamily="18" charset="0"/>
              </a:rPr>
              <a:t>Order Confirmation &amp; Payment</a:t>
            </a:r>
            <a:r>
              <a:rPr lang="en-US" sz="2600" dirty="0">
                <a:latin typeface="Times New Roman" panose="02020603050405020304" pitchFamily="18" charset="0"/>
                <a:cs typeface="Times New Roman" panose="02020603050405020304" pitchFamily="18" charset="0"/>
              </a:rPr>
              <a:t> – Confirm order and enable secure QR-based payments.</a:t>
            </a:r>
            <a:endParaRPr lang="en-US" sz="2600" dirty="0">
              <a:effectLst/>
              <a:latin typeface="Times New Roman" panose="02020603050405020304" pitchFamily="18" charset="0"/>
              <a:cs typeface="Times New Roman" panose="02020603050405020304" pitchFamily="18" charset="0"/>
            </a:endParaRPr>
          </a:p>
          <a:p>
            <a:pPr eaLnBrk="0" fontAlgn="base" hangingPunct="0"/>
            <a:r>
              <a:rPr lang="en-US" sz="2600" b="1" dirty="0">
                <a:latin typeface="Times New Roman" panose="02020603050405020304" pitchFamily="18" charset="0"/>
                <a:cs typeface="Times New Roman" panose="02020603050405020304" pitchFamily="18" charset="0"/>
              </a:rPr>
              <a:t>Invoice Generation</a:t>
            </a:r>
            <a:r>
              <a:rPr lang="en-US" sz="2600" dirty="0">
                <a:latin typeface="Times New Roman" panose="02020603050405020304" pitchFamily="18" charset="0"/>
                <a:cs typeface="Times New Roman" panose="02020603050405020304" pitchFamily="18" charset="0"/>
              </a:rPr>
              <a:t> – Auto-create and send digital invoices to users.</a:t>
            </a:r>
            <a:endParaRPr lang="en-US" sz="2600" dirty="0">
              <a:effectLst/>
              <a:latin typeface="Times New Roman" panose="02020603050405020304" pitchFamily="18" charset="0"/>
              <a:cs typeface="Times New Roman" panose="02020603050405020304" pitchFamily="18" charset="0"/>
            </a:endParaRPr>
          </a:p>
          <a:p>
            <a:pPr eaLnBrk="0" fontAlgn="base" hangingPunct="0"/>
            <a:r>
              <a:rPr lang="en-US" sz="2600" b="1" dirty="0">
                <a:latin typeface="Times New Roman" panose="02020603050405020304" pitchFamily="18" charset="0"/>
                <a:cs typeface="Times New Roman" panose="02020603050405020304" pitchFamily="18" charset="0"/>
              </a:rPr>
              <a:t>Analytics &amp; Learning</a:t>
            </a:r>
            <a:r>
              <a:rPr lang="en-US" sz="2600" dirty="0">
                <a:latin typeface="Times New Roman" panose="02020603050405020304" pitchFamily="18" charset="0"/>
                <a:cs typeface="Times New Roman" panose="02020603050405020304" pitchFamily="18" charset="0"/>
              </a:rPr>
              <a:t> – Generate daily reports and improve accuracy via feedback.</a:t>
            </a:r>
          </a:p>
          <a:p>
            <a:pPr eaLnBrk="0" fontAlgn="base" hangingPunct="0"/>
            <a:endParaRPr lang="en-US" sz="2600" dirty="0">
              <a:effectLst/>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None/>
            </a:pPr>
            <a:r>
              <a:rPr kumimoji="0" lang="en-US" altLang="en-US" sz="5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Non-Functional Requirements </a:t>
            </a:r>
          </a:p>
          <a:p>
            <a:pPr marL="0" lvl="0" indent="0" eaLnBrk="0" fontAlgn="base" hangingPunct="0">
              <a:lnSpc>
                <a:spcPct val="100000"/>
              </a:lnSpc>
              <a:spcBef>
                <a:spcPct val="0"/>
              </a:spcBef>
              <a:spcAft>
                <a:spcPct val="0"/>
              </a:spcAft>
              <a:buFontTx/>
              <a:buAutoNum type="arabicPeriod"/>
            </a:pPr>
            <a:r>
              <a:rPr kumimoji="0" lang="en-US" altLang="en-US" sz="2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Performance</a:t>
            </a:r>
            <a:r>
              <a:rPr lang="en-US" altLang="en-US" sz="2600" dirty="0">
                <a:latin typeface="Times New Roman" panose="02020603050405020304" pitchFamily="18" charset="0"/>
                <a:cs typeface="Times New Roman" panose="02020603050405020304" pitchFamily="18" charset="0"/>
              </a:rPr>
              <a:t> – Process multiple voice orders with low latency</a:t>
            </a:r>
          </a:p>
          <a:p>
            <a:pPr marL="0" lvl="0" indent="0" eaLnBrk="0" fontAlgn="base" hangingPunct="0">
              <a:lnSpc>
                <a:spcPct val="100000"/>
              </a:lnSpc>
              <a:spcBef>
                <a:spcPct val="0"/>
              </a:spcBef>
              <a:spcAft>
                <a:spcPct val="0"/>
              </a:spcAft>
              <a:buNone/>
            </a:pPr>
            <a:r>
              <a:rPr lang="en-US" altLang="en-US" sz="2600" b="1" dirty="0">
                <a:latin typeface="Times New Roman" panose="02020603050405020304" pitchFamily="18" charset="0"/>
                <a:cs typeface="Times New Roman" panose="02020603050405020304" pitchFamily="18" charset="0"/>
              </a:rPr>
              <a:t>2.Security</a:t>
            </a:r>
            <a:r>
              <a:rPr lang="en-US" altLang="en-US" sz="2600" dirty="0">
                <a:latin typeface="Times New Roman" panose="02020603050405020304" pitchFamily="18" charset="0"/>
                <a:cs typeface="Times New Roman" panose="02020603050405020304" pitchFamily="18" charset="0"/>
              </a:rPr>
              <a:t> – Encrypt user/order data; blockchain ensures secure transactions.</a:t>
            </a:r>
          </a:p>
          <a:p>
            <a:pPr marL="0" lvl="0" indent="0" eaLnBrk="0" fontAlgn="base" hangingPunct="0">
              <a:lnSpc>
                <a:spcPct val="100000"/>
              </a:lnSpc>
              <a:spcBef>
                <a:spcPct val="0"/>
              </a:spcBef>
              <a:spcAft>
                <a:spcPct val="0"/>
              </a:spcAft>
              <a:buNone/>
            </a:pPr>
            <a:r>
              <a:rPr lang="en-US" altLang="en-US" sz="2600" b="1" dirty="0">
                <a:latin typeface="Times New Roman" panose="02020603050405020304" pitchFamily="18" charset="0"/>
                <a:cs typeface="Times New Roman" panose="02020603050405020304" pitchFamily="18" charset="0"/>
              </a:rPr>
              <a:t>3.Reliability</a:t>
            </a:r>
            <a:r>
              <a:rPr lang="en-US" altLang="en-US" sz="2600" dirty="0">
                <a:latin typeface="Times New Roman" panose="02020603050405020304" pitchFamily="18" charset="0"/>
                <a:cs typeface="Times New Roman" panose="02020603050405020304" pitchFamily="18" charset="0"/>
              </a:rPr>
              <a:t> – Operate without crashes even under heavy load.</a:t>
            </a:r>
          </a:p>
          <a:p>
            <a:pPr marL="0" lvl="0" indent="0" eaLnBrk="0" fontAlgn="base" hangingPunct="0">
              <a:lnSpc>
                <a:spcPct val="100000"/>
              </a:lnSpc>
              <a:spcBef>
                <a:spcPct val="0"/>
              </a:spcBef>
              <a:spcAft>
                <a:spcPct val="0"/>
              </a:spcAft>
              <a:buNone/>
            </a:pPr>
            <a:r>
              <a:rPr lang="en-US" altLang="en-US" sz="2600" b="1" dirty="0">
                <a:latin typeface="Times New Roman" panose="02020603050405020304" pitchFamily="18" charset="0"/>
                <a:cs typeface="Times New Roman" panose="02020603050405020304" pitchFamily="18" charset="0"/>
              </a:rPr>
              <a:t>4.Usability</a:t>
            </a:r>
            <a:r>
              <a:rPr lang="en-US" altLang="en-US" sz="2600" dirty="0">
                <a:latin typeface="Times New Roman" panose="02020603050405020304" pitchFamily="18" charset="0"/>
                <a:cs typeface="Times New Roman" panose="02020603050405020304" pitchFamily="18" charset="0"/>
              </a:rPr>
              <a:t> – Provide a simple, natural voice interface for all users.</a:t>
            </a:r>
          </a:p>
          <a:p>
            <a:endParaRPr lang="en-US" dirty="0"/>
          </a:p>
        </p:txBody>
      </p:sp>
    </p:spTree>
    <p:extLst>
      <p:ext uri="{BB962C8B-B14F-4D97-AF65-F5344CB8AC3E}">
        <p14:creationId xmlns:p14="http://schemas.microsoft.com/office/powerpoint/2010/main" val="42384996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0239365-9E59-81C0-B149-ED51EDC19EB7}"/>
              </a:ext>
            </a:extLst>
          </p:cNvPr>
          <p:cNvSpPr>
            <a:spLocks noGrp="1"/>
          </p:cNvSpPr>
          <p:nvPr>
            <p:ph idx="1"/>
          </p:nvPr>
        </p:nvSpPr>
        <p:spPr>
          <a:xfrm>
            <a:off x="1001486" y="0"/>
            <a:ext cx="9289143" cy="6857999"/>
          </a:xfrm>
        </p:spPr>
        <p:txBody>
          <a:bodyPr>
            <a:normAutofit fontScale="92500" lnSpcReduction="10000"/>
          </a:bodyPr>
          <a:lstStyle/>
          <a:p>
            <a:pPr marL="0" indent="0">
              <a:buNone/>
            </a:pPr>
            <a:r>
              <a:rPr lang="en-US" sz="4300" b="1" dirty="0">
                <a:latin typeface="Times New Roman" panose="02020603050405020304" pitchFamily="18" charset="0"/>
                <a:cs typeface="Times New Roman" panose="02020603050405020304" pitchFamily="18" charset="0"/>
              </a:rPr>
              <a:t>Software Requirements</a:t>
            </a:r>
          </a:p>
          <a:p>
            <a:pPr marL="0" indent="0">
              <a:buNone/>
            </a:pPr>
            <a:r>
              <a:rPr lang="en-US" sz="1900" b="1" dirty="0">
                <a:latin typeface="Times New Roman" panose="02020603050405020304" pitchFamily="18" charset="0"/>
                <a:cs typeface="Times New Roman" panose="02020603050405020304" pitchFamily="18" charset="0"/>
              </a:rPr>
              <a:t>Programming Language</a:t>
            </a:r>
            <a:r>
              <a:rPr lang="en-US" sz="1900" dirty="0">
                <a:latin typeface="Times New Roman" panose="02020603050405020304" pitchFamily="18" charset="0"/>
                <a:cs typeface="Times New Roman" panose="02020603050405020304" pitchFamily="18" charset="0"/>
              </a:rPr>
              <a:t>:</a:t>
            </a:r>
          </a:p>
          <a:p>
            <a:r>
              <a:rPr lang="en-US" sz="1800" dirty="0">
                <a:latin typeface="Times New Roman" panose="02020603050405020304" pitchFamily="18" charset="0"/>
                <a:cs typeface="Times New Roman" panose="02020603050405020304" pitchFamily="18" charset="0"/>
              </a:rPr>
              <a:t> Python (core development and ML implementation)</a:t>
            </a:r>
          </a:p>
          <a:p>
            <a:pPr marL="0" indent="0">
              <a:buNone/>
            </a:pPr>
            <a:r>
              <a:rPr lang="en-US" sz="1700" b="1" dirty="0">
                <a:latin typeface="Times New Roman" panose="02020603050405020304" pitchFamily="18" charset="0"/>
                <a:cs typeface="Times New Roman" panose="02020603050405020304" pitchFamily="18" charset="0"/>
              </a:rPr>
              <a:t>Libraries/Frameworks</a:t>
            </a:r>
            <a:r>
              <a:rPr lang="en-US" sz="1700" dirty="0">
                <a:latin typeface="Times New Roman" panose="02020603050405020304" pitchFamily="18" charset="0"/>
                <a:cs typeface="Times New Roman" panose="02020603050405020304" pitchFamily="18" charset="0"/>
              </a:rPr>
              <a:t>:</a:t>
            </a:r>
          </a:p>
          <a:p>
            <a:pPr eaLnBrk="0" fontAlgn="base" hangingPunct="0">
              <a:lnSpc>
                <a:spcPct val="100000"/>
              </a:lnSpc>
              <a:spcBef>
                <a:spcPct val="0"/>
              </a:spcBef>
              <a:spcAft>
                <a:spcPct val="0"/>
              </a:spcAft>
            </a:pPr>
            <a:r>
              <a:rPr lang="en-US" altLang="en-US" sz="1800" dirty="0">
                <a:latin typeface="Times New Roman" panose="02020603050405020304" pitchFamily="18" charset="0"/>
                <a:cs typeface="Times New Roman" panose="02020603050405020304" pitchFamily="18" charset="0"/>
              </a:rPr>
              <a:t>OpenAI Whisper – Multilingual speech-to-text conversion</a:t>
            </a:r>
          </a:p>
          <a:p>
            <a:pPr eaLnBrk="0" fontAlgn="base" hangingPunct="0">
              <a:lnSpc>
                <a:spcPct val="100000"/>
              </a:lnSpc>
              <a:spcBef>
                <a:spcPct val="0"/>
              </a:spcBef>
              <a:spcAft>
                <a:spcPct val="0"/>
              </a:spcAft>
            </a:pPr>
            <a:r>
              <a:rPr lang="en-US" altLang="en-US" sz="1800" dirty="0">
                <a:latin typeface="Times New Roman" panose="02020603050405020304" pitchFamily="18" charset="0"/>
                <a:cs typeface="Times New Roman" panose="02020603050405020304" pitchFamily="18" charset="0"/>
              </a:rPr>
              <a:t>Transformers (</a:t>
            </a:r>
            <a:r>
              <a:rPr lang="en-US" altLang="en-US" sz="1800" dirty="0" err="1">
                <a:latin typeface="Times New Roman" panose="02020603050405020304" pitchFamily="18" charset="0"/>
                <a:cs typeface="Times New Roman" panose="02020603050405020304" pitchFamily="18" charset="0"/>
              </a:rPr>
              <a:t>HuggingFace</a:t>
            </a:r>
            <a:r>
              <a:rPr lang="en-US" altLang="en-US" sz="1800" dirty="0">
                <a:latin typeface="Times New Roman" panose="02020603050405020304" pitchFamily="18" charset="0"/>
                <a:cs typeface="Times New Roman" panose="02020603050405020304" pitchFamily="18" charset="0"/>
              </a:rPr>
              <a:t>) – For fine-tuned </a:t>
            </a:r>
            <a:r>
              <a:rPr lang="en-US" altLang="en-US" sz="1800" dirty="0" err="1">
                <a:latin typeface="Times New Roman" panose="02020603050405020304" pitchFamily="18" charset="0"/>
                <a:cs typeface="Times New Roman" panose="02020603050405020304" pitchFamily="18" charset="0"/>
              </a:rPr>
              <a:t>DistilBERT</a:t>
            </a:r>
            <a:r>
              <a:rPr lang="en-US" altLang="en-US" sz="1800" dirty="0">
                <a:latin typeface="Times New Roman" panose="02020603050405020304" pitchFamily="18" charset="0"/>
                <a:cs typeface="Times New Roman" panose="02020603050405020304" pitchFamily="18" charset="0"/>
              </a:rPr>
              <a:t> intent recognition</a:t>
            </a:r>
          </a:p>
          <a:p>
            <a:pPr eaLnBrk="0" fontAlgn="base" hangingPunct="0">
              <a:lnSpc>
                <a:spcPct val="100000"/>
              </a:lnSpc>
              <a:spcBef>
                <a:spcPct val="0"/>
              </a:spcBef>
              <a:spcAft>
                <a:spcPct val="0"/>
              </a:spcAft>
            </a:pPr>
            <a:r>
              <a:rPr lang="en-US" altLang="en-US" sz="1800" dirty="0">
                <a:latin typeface="Times New Roman" panose="02020603050405020304" pitchFamily="18" charset="0"/>
                <a:cs typeface="Times New Roman" panose="02020603050405020304" pitchFamily="18" charset="0"/>
              </a:rPr>
              <a:t>Flask / </a:t>
            </a:r>
            <a:r>
              <a:rPr lang="en-US" altLang="en-US" sz="1800" dirty="0" err="1">
                <a:latin typeface="Times New Roman" panose="02020603050405020304" pitchFamily="18" charset="0"/>
                <a:cs typeface="Times New Roman" panose="02020603050405020304" pitchFamily="18" charset="0"/>
              </a:rPr>
              <a:t>FastAPI</a:t>
            </a:r>
            <a:r>
              <a:rPr lang="en-US" altLang="en-US" sz="1800" dirty="0">
                <a:latin typeface="Times New Roman" panose="02020603050405020304" pitchFamily="18" charset="0"/>
                <a:cs typeface="Times New Roman" panose="02020603050405020304" pitchFamily="18" charset="0"/>
              </a:rPr>
              <a:t> – Backend REST API development</a:t>
            </a:r>
          </a:p>
          <a:p>
            <a:pPr eaLnBrk="0" fontAlgn="base" hangingPunct="0">
              <a:lnSpc>
                <a:spcPct val="100000"/>
              </a:lnSpc>
              <a:spcBef>
                <a:spcPct val="0"/>
              </a:spcBef>
              <a:spcAft>
                <a:spcPct val="0"/>
              </a:spcAft>
            </a:pPr>
            <a:r>
              <a:rPr lang="en-US" altLang="en-US" sz="1800" dirty="0">
                <a:latin typeface="Times New Roman" panose="02020603050405020304" pitchFamily="18" charset="0"/>
                <a:cs typeface="Times New Roman" panose="02020603050405020304" pitchFamily="18" charset="0"/>
              </a:rPr>
              <a:t>scikit-learn – Additional NLP or ML tasks</a:t>
            </a:r>
          </a:p>
          <a:p>
            <a:pPr eaLnBrk="0" fontAlgn="base" hangingPunct="0">
              <a:lnSpc>
                <a:spcPct val="100000"/>
              </a:lnSpc>
              <a:spcBef>
                <a:spcPct val="0"/>
              </a:spcBef>
              <a:spcAft>
                <a:spcPct val="0"/>
              </a:spcAft>
            </a:pPr>
            <a:r>
              <a:rPr lang="en-US" altLang="en-US" sz="1800" dirty="0">
                <a:latin typeface="Times New Roman" panose="02020603050405020304" pitchFamily="18" charset="0"/>
                <a:cs typeface="Times New Roman" panose="02020603050405020304" pitchFamily="18" charset="0"/>
              </a:rPr>
              <a:t>Web3.py – Ethereum blockchain integration</a:t>
            </a:r>
          </a:p>
          <a:p>
            <a:pPr eaLnBrk="0" fontAlgn="base" hangingPunct="0">
              <a:lnSpc>
                <a:spcPct val="100000"/>
              </a:lnSpc>
              <a:spcBef>
                <a:spcPct val="0"/>
              </a:spcBef>
              <a:spcAft>
                <a:spcPct val="0"/>
              </a:spcAft>
            </a:pPr>
            <a:r>
              <a:rPr lang="en-US" altLang="en-US" sz="1800" dirty="0">
                <a:latin typeface="Times New Roman" panose="02020603050405020304" pitchFamily="18" charset="0"/>
                <a:cs typeface="Times New Roman" panose="02020603050405020304" pitchFamily="18" charset="0"/>
              </a:rPr>
              <a:t>Matplotlib– Analytics dashboard visualization</a:t>
            </a:r>
          </a:p>
          <a:p>
            <a:pPr marL="0" lvl="0" indent="0" eaLnBrk="0" fontAlgn="base" hangingPunct="0">
              <a:lnSpc>
                <a:spcPct val="100000"/>
              </a:lnSpc>
              <a:spcBef>
                <a:spcPct val="0"/>
              </a:spcBef>
              <a:spcAft>
                <a:spcPct val="0"/>
              </a:spcAft>
              <a:buNone/>
            </a:pPr>
            <a:r>
              <a:rPr lang="en-US" altLang="en-US" sz="1700" b="1" dirty="0">
                <a:latin typeface="Times New Roman" panose="02020603050405020304" pitchFamily="18" charset="0"/>
                <a:cs typeface="Times New Roman" panose="02020603050405020304" pitchFamily="18" charset="0"/>
              </a:rPr>
              <a:t>Development Environment</a:t>
            </a:r>
            <a:r>
              <a:rPr lang="en-US" altLang="en-US" sz="1700" dirty="0">
                <a:latin typeface="Times New Roman" panose="02020603050405020304" pitchFamily="18" charset="0"/>
                <a:cs typeface="Times New Roman" panose="02020603050405020304" pitchFamily="18" charset="0"/>
              </a:rPr>
              <a:t>:</a:t>
            </a:r>
          </a:p>
          <a:p>
            <a:pPr eaLnBrk="0" fontAlgn="base" hangingPunct="0">
              <a:lnSpc>
                <a:spcPct val="100000"/>
              </a:lnSpc>
              <a:spcBef>
                <a:spcPct val="0"/>
              </a:spcBef>
              <a:spcAft>
                <a:spcPct val="0"/>
              </a:spcAft>
            </a:pPr>
            <a:r>
              <a:rPr lang="en-US" altLang="en-US" sz="1800" dirty="0" err="1">
                <a:latin typeface="Times New Roman" panose="02020603050405020304" pitchFamily="18" charset="0"/>
                <a:cs typeface="Times New Roman" panose="02020603050405020304" pitchFamily="18" charset="0"/>
              </a:rPr>
              <a:t>Jupyter</a:t>
            </a:r>
            <a:r>
              <a:rPr lang="en-US" altLang="en-US" sz="1800" dirty="0">
                <a:latin typeface="Times New Roman" panose="02020603050405020304" pitchFamily="18" charset="0"/>
                <a:cs typeface="Times New Roman" panose="02020603050405020304" pitchFamily="18" charset="0"/>
              </a:rPr>
              <a:t> Notebook</a:t>
            </a:r>
          </a:p>
          <a:p>
            <a:pPr eaLnBrk="0" fontAlgn="base" hangingPunct="0">
              <a:lnSpc>
                <a:spcPct val="100000"/>
              </a:lnSpc>
              <a:spcBef>
                <a:spcPct val="0"/>
              </a:spcBef>
              <a:spcAft>
                <a:spcPct val="0"/>
              </a:spcAft>
            </a:pPr>
            <a:r>
              <a:rPr lang="en-US" altLang="en-US" sz="1800" dirty="0">
                <a:latin typeface="Times New Roman" panose="02020603050405020304" pitchFamily="18" charset="0"/>
                <a:cs typeface="Times New Roman" panose="02020603050405020304" pitchFamily="18" charset="0"/>
              </a:rPr>
              <a:t>Google </a:t>
            </a:r>
            <a:r>
              <a:rPr lang="en-US" altLang="en-US" sz="1800" dirty="0" err="1">
                <a:latin typeface="Times New Roman" panose="02020603050405020304" pitchFamily="18" charset="0"/>
                <a:cs typeface="Times New Roman" panose="02020603050405020304" pitchFamily="18" charset="0"/>
              </a:rPr>
              <a:t>Colab</a:t>
            </a:r>
            <a:endParaRPr lang="en-US" altLang="en-US" sz="1800" dirty="0">
              <a:latin typeface="Times New Roman" panose="02020603050405020304" pitchFamily="18" charset="0"/>
              <a:cs typeface="Times New Roman" panose="02020603050405020304" pitchFamily="18" charset="0"/>
            </a:endParaRPr>
          </a:p>
          <a:p>
            <a:pPr eaLnBrk="0" fontAlgn="base" hangingPunct="0">
              <a:lnSpc>
                <a:spcPct val="100000"/>
              </a:lnSpc>
              <a:spcBef>
                <a:spcPct val="0"/>
              </a:spcBef>
              <a:spcAft>
                <a:spcPct val="0"/>
              </a:spcAft>
            </a:pPr>
            <a:r>
              <a:rPr lang="en-US" altLang="en-US" sz="1800" dirty="0">
                <a:latin typeface="Times New Roman" panose="02020603050405020304" pitchFamily="18" charset="0"/>
                <a:cs typeface="Times New Roman" panose="02020603050405020304" pitchFamily="18" charset="0"/>
              </a:rPr>
              <a:t>VS Code / PyCharm</a:t>
            </a:r>
          </a:p>
          <a:p>
            <a:pPr marL="0" lvl="0" indent="0" eaLnBrk="0" fontAlgn="base" hangingPunct="0">
              <a:lnSpc>
                <a:spcPct val="100000"/>
              </a:lnSpc>
              <a:spcBef>
                <a:spcPct val="0"/>
              </a:spcBef>
              <a:spcAft>
                <a:spcPct val="0"/>
              </a:spcAft>
              <a:buNone/>
            </a:pPr>
            <a:r>
              <a:rPr lang="en-US" altLang="en-US" sz="1700" b="1" dirty="0">
                <a:latin typeface="Times New Roman" panose="02020603050405020304" pitchFamily="18" charset="0"/>
                <a:cs typeface="Times New Roman" panose="02020603050405020304" pitchFamily="18" charset="0"/>
              </a:rPr>
              <a:t>Database</a:t>
            </a:r>
            <a:r>
              <a:rPr lang="en-US" altLang="en-US" sz="1700" dirty="0">
                <a:latin typeface="Times New Roman" panose="02020603050405020304" pitchFamily="18" charset="0"/>
                <a:cs typeface="Times New Roman" panose="02020603050405020304" pitchFamily="18" charset="0"/>
              </a:rPr>
              <a:t>:</a:t>
            </a:r>
          </a:p>
          <a:p>
            <a:pPr eaLnBrk="0" fontAlgn="base" hangingPunct="0">
              <a:lnSpc>
                <a:spcPct val="100000"/>
              </a:lnSpc>
              <a:spcBef>
                <a:spcPct val="0"/>
              </a:spcBef>
              <a:spcAft>
                <a:spcPct val="0"/>
              </a:spcAft>
            </a:pPr>
            <a:r>
              <a:rPr lang="en-US" altLang="en-US" sz="1800" dirty="0">
                <a:latin typeface="Times New Roman" panose="02020603050405020304" pitchFamily="18" charset="0"/>
                <a:cs typeface="Times New Roman" panose="02020603050405020304" pitchFamily="18" charset="0"/>
              </a:rPr>
              <a:t>MongoDB (Order, inventory, user management)</a:t>
            </a:r>
          </a:p>
          <a:p>
            <a:pPr>
              <a:lnSpc>
                <a:spcPct val="100000"/>
              </a:lnSpc>
              <a:spcBef>
                <a:spcPct val="0"/>
              </a:spcBef>
              <a:buFontTx/>
              <a:buNone/>
              <a:defRPr/>
            </a:pPr>
            <a:r>
              <a:rPr lang="en-US" altLang="en-US" sz="4300" b="1" dirty="0">
                <a:latin typeface="Times New Roman" panose="02020603050405020304" pitchFamily="18" charset="0"/>
                <a:cs typeface="Times New Roman" panose="02020603050405020304" pitchFamily="18" charset="0"/>
              </a:rPr>
              <a:t>Hardware Requirements</a:t>
            </a:r>
            <a:endParaRPr lang="en-US" altLang="en-US" sz="4300" dirty="0">
              <a:latin typeface="Times New Roman" panose="02020603050405020304" pitchFamily="18" charset="0"/>
              <a:cs typeface="Times New Roman" panose="02020603050405020304" pitchFamily="18" charset="0"/>
            </a:endParaRPr>
          </a:p>
          <a:p>
            <a:pPr marL="0" indent="0">
              <a:lnSpc>
                <a:spcPct val="100000"/>
              </a:lnSpc>
              <a:spcBef>
                <a:spcPct val="0"/>
              </a:spcBef>
              <a:buNone/>
              <a:defRPr/>
            </a:pPr>
            <a:r>
              <a:rPr lang="en-US" altLang="en-US" sz="1700" b="1" dirty="0">
                <a:latin typeface="Times New Roman" panose="02020603050405020304" pitchFamily="18" charset="0"/>
                <a:cs typeface="Times New Roman" panose="02020603050405020304" pitchFamily="18" charset="0"/>
              </a:rPr>
              <a:t>Processors</a:t>
            </a:r>
            <a:r>
              <a:rPr lang="en-US" altLang="en-US" sz="1800" b="1" dirty="0">
                <a:latin typeface="Times New Roman" panose="02020603050405020304" pitchFamily="18" charset="0"/>
                <a:cs typeface="Times New Roman" panose="02020603050405020304" pitchFamily="18" charset="0"/>
              </a:rPr>
              <a:t>:  </a:t>
            </a:r>
            <a:r>
              <a:rPr lang="en-US" altLang="en-US" sz="1800" dirty="0">
                <a:latin typeface="Times New Roman" panose="02020603050405020304" pitchFamily="18" charset="0"/>
                <a:cs typeface="Times New Roman" panose="02020603050405020304" pitchFamily="18" charset="0"/>
              </a:rPr>
              <a:t>Multi-core CPUs or GPUs </a:t>
            </a:r>
            <a:r>
              <a:rPr lang="en-US" sz="1800" dirty="0">
                <a:latin typeface="Times New Roman" panose="02020603050405020304" pitchFamily="18" charset="0"/>
                <a:cs typeface="Times New Roman" panose="02020603050405020304" pitchFamily="18" charset="0"/>
              </a:rPr>
              <a:t>for faster Whisper and NLP model execution</a:t>
            </a:r>
          </a:p>
          <a:p>
            <a:pPr marL="0" indent="0">
              <a:buNone/>
            </a:pPr>
            <a:r>
              <a:rPr lang="en-US" sz="1700" b="1" dirty="0">
                <a:latin typeface="Times New Roman" panose="02020603050405020304" pitchFamily="18" charset="0"/>
                <a:cs typeface="Times New Roman" panose="02020603050405020304" pitchFamily="18" charset="0"/>
              </a:rPr>
              <a:t>Memory (RAM)</a:t>
            </a:r>
            <a:r>
              <a:rPr lang="en-US" sz="1700" dirty="0">
                <a:latin typeface="Times New Roman" panose="02020603050405020304" pitchFamily="18" charset="0"/>
                <a:cs typeface="Times New Roman" panose="02020603050405020304" pitchFamily="18" charset="0"/>
              </a:rPr>
              <a:t>:</a:t>
            </a:r>
          </a:p>
          <a:p>
            <a:r>
              <a:rPr lang="en-US" sz="1800" dirty="0">
                <a:latin typeface="Times New Roman" panose="02020603050405020304" pitchFamily="18" charset="0"/>
                <a:cs typeface="Times New Roman" panose="02020603050405020304" pitchFamily="18" charset="0"/>
              </a:rPr>
              <a:t>Minimum 8 GB or  Recommended 16 GB or more (for parallel processing and inference in real time)</a:t>
            </a:r>
          </a:p>
          <a:p>
            <a:pPr marL="0" indent="0">
              <a:buNone/>
            </a:pPr>
            <a:r>
              <a:rPr lang="en-US" sz="1700" b="1" dirty="0">
                <a:latin typeface="Times New Roman" panose="02020603050405020304" pitchFamily="18" charset="0"/>
                <a:cs typeface="Times New Roman" panose="02020603050405020304" pitchFamily="18" charset="0"/>
              </a:rPr>
              <a:t>Networking</a:t>
            </a:r>
            <a:r>
              <a:rPr lang="en-US" sz="1700" dirty="0">
                <a:latin typeface="Times New Roman" panose="02020603050405020304" pitchFamily="18" charset="0"/>
                <a:cs typeface="Times New Roman" panose="02020603050405020304" pitchFamily="18" charset="0"/>
              </a:rPr>
              <a:t>:</a:t>
            </a:r>
          </a:p>
          <a:p>
            <a:r>
              <a:rPr lang="en-US" sz="1800" dirty="0">
                <a:latin typeface="Times New Roman" panose="02020603050405020304" pitchFamily="18" charset="0"/>
                <a:cs typeface="Times New Roman" panose="02020603050405020304" pitchFamily="18" charset="0"/>
              </a:rPr>
              <a:t>Stable internet for real-time Whisper API or self-hosted models</a:t>
            </a:r>
          </a:p>
          <a:p>
            <a:r>
              <a:rPr lang="en-US" sz="1800" dirty="0">
                <a:latin typeface="Times New Roman" panose="02020603050405020304" pitchFamily="18" charset="0"/>
                <a:cs typeface="Times New Roman" panose="02020603050405020304" pitchFamily="18" charset="0"/>
              </a:rPr>
              <a:t>Local network (for deployment in kiosks or metro stations)</a:t>
            </a:r>
          </a:p>
          <a:p>
            <a:endParaRPr lang="en-US" sz="1800" dirty="0"/>
          </a:p>
          <a:p>
            <a:pPr marL="0" indent="0">
              <a:lnSpc>
                <a:spcPct val="100000"/>
              </a:lnSpc>
              <a:spcBef>
                <a:spcPct val="0"/>
              </a:spcBef>
              <a:buNone/>
              <a:defRPr/>
            </a:pPr>
            <a:endParaRPr lang="en-US" altLang="en-US" sz="1800" dirty="0">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FontTx/>
              <a:buChar char="•"/>
            </a:pPr>
            <a:endParaRPr lang="en-US" altLang="en-US" sz="1800" dirty="0">
              <a:latin typeface="Arial" panose="020B0604020202020204" pitchFamily="34" charset="0"/>
            </a:endParaRPr>
          </a:p>
          <a:p>
            <a:pPr marL="0" lvl="0" indent="0" eaLnBrk="0" fontAlgn="base" hangingPunct="0">
              <a:lnSpc>
                <a:spcPct val="100000"/>
              </a:lnSpc>
              <a:spcBef>
                <a:spcPct val="0"/>
              </a:spcBef>
              <a:spcAft>
                <a:spcPct val="0"/>
              </a:spcAft>
              <a:buNone/>
            </a:pPr>
            <a:endParaRPr lang="en-US" altLang="en-US" sz="1800" dirty="0"/>
          </a:p>
          <a:p>
            <a:pPr marL="0" lvl="0" indent="0" eaLnBrk="0" fontAlgn="base" hangingPunct="0">
              <a:lnSpc>
                <a:spcPct val="100000"/>
              </a:lnSpc>
              <a:spcBef>
                <a:spcPct val="0"/>
              </a:spcBef>
              <a:spcAft>
                <a:spcPct val="0"/>
              </a:spcAft>
              <a:buFontTx/>
              <a:buChar char="•"/>
            </a:pPr>
            <a:endParaRPr lang="en-US" altLang="en-US" sz="4400" dirty="0">
              <a:latin typeface="Arial" panose="020B0604020202020204" pitchFamily="34" charset="0"/>
            </a:endParaRPr>
          </a:p>
          <a:p>
            <a:pPr marL="0" lvl="0" indent="0" eaLnBrk="0" fontAlgn="base" hangingPunct="0">
              <a:lnSpc>
                <a:spcPct val="100000"/>
              </a:lnSpc>
              <a:spcBef>
                <a:spcPct val="0"/>
              </a:spcBef>
              <a:spcAft>
                <a:spcPct val="0"/>
              </a:spcAft>
              <a:buFontTx/>
              <a:buChar char="•"/>
            </a:pPr>
            <a:endParaRPr lang="en-US" altLang="en-US" sz="4400" dirty="0">
              <a:latin typeface="Arial" panose="020B0604020202020204" pitchFamily="34" charset="0"/>
            </a:endParaRPr>
          </a:p>
          <a:p>
            <a:pPr marL="0" indent="0">
              <a:buNone/>
            </a:pPr>
            <a:endParaRPr lang="en-US" dirty="0"/>
          </a:p>
        </p:txBody>
      </p:sp>
      <p:pic>
        <p:nvPicPr>
          <p:cNvPr id="6" name="Picture 5">
            <a:extLst>
              <a:ext uri="{FF2B5EF4-FFF2-40B4-BE49-F238E27FC236}">
                <a16:creationId xmlns:a16="http://schemas.microsoft.com/office/drawing/2014/main" id="{8971C770-0399-B737-FC2C-2025693EFA1E}"/>
              </a:ext>
            </a:extLst>
          </p:cNvPr>
          <p:cNvPicPr>
            <a:picLocks noChangeAspect="1"/>
          </p:cNvPicPr>
          <p:nvPr/>
        </p:nvPicPr>
        <p:blipFill>
          <a:blip r:embed="rId2"/>
          <a:stretch>
            <a:fillRect/>
          </a:stretch>
        </p:blipFill>
        <p:spPr>
          <a:xfrm>
            <a:off x="8386763" y="681038"/>
            <a:ext cx="3090862" cy="3084024"/>
          </a:xfrm>
          <a:prstGeom prst="rect">
            <a:avLst/>
          </a:prstGeom>
        </p:spPr>
      </p:pic>
    </p:spTree>
    <p:extLst>
      <p:ext uri="{BB962C8B-B14F-4D97-AF65-F5344CB8AC3E}">
        <p14:creationId xmlns:p14="http://schemas.microsoft.com/office/powerpoint/2010/main" val="15918792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597432-F63B-9241-324E-37142FD99187}"/>
              </a:ext>
            </a:extLst>
          </p:cNvPr>
          <p:cNvSpPr>
            <a:spLocks noGrp="1"/>
          </p:cNvSpPr>
          <p:nvPr>
            <p:ph type="title"/>
          </p:nvPr>
        </p:nvSpPr>
        <p:spPr/>
        <p:txBody>
          <a:bodyPr>
            <a:normAutofit/>
          </a:bodyPr>
          <a:lstStyle/>
          <a:p>
            <a:r>
              <a:rPr lang="en-US" b="1" dirty="0">
                <a:latin typeface="Times New Roman" panose="02020603050405020304" pitchFamily="18" charset="0"/>
                <a:cs typeface="Times New Roman" panose="02020603050405020304" pitchFamily="18" charset="0"/>
              </a:rPr>
              <a:t>System Architecture</a:t>
            </a:r>
            <a:br>
              <a:rPr lang="en-US" dirty="0">
                <a:latin typeface="Times New Roman" panose="02020603050405020304" pitchFamily="18" charset="0"/>
                <a:cs typeface="Times New Roman" panose="02020603050405020304" pitchFamily="18" charset="0"/>
              </a:rPr>
            </a:br>
            <a:endParaRPr lang="en-US" dirty="0"/>
          </a:p>
        </p:txBody>
      </p:sp>
      <p:pic>
        <p:nvPicPr>
          <p:cNvPr id="6" name="Content Placeholder 5">
            <a:extLst>
              <a:ext uri="{FF2B5EF4-FFF2-40B4-BE49-F238E27FC236}">
                <a16:creationId xmlns:a16="http://schemas.microsoft.com/office/drawing/2014/main" id="{847B8718-384D-A9E5-2464-3DCED587F9F0}"/>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l="35875" r="35625"/>
          <a:stretch>
            <a:fillRect/>
          </a:stretch>
        </p:blipFill>
        <p:spPr>
          <a:xfrm>
            <a:off x="2636138" y="5195490"/>
            <a:ext cx="1085850" cy="1190625"/>
          </a:xfrm>
        </p:spPr>
      </p:pic>
      <p:pic>
        <p:nvPicPr>
          <p:cNvPr id="8" name="Picture 7">
            <a:extLst>
              <a:ext uri="{FF2B5EF4-FFF2-40B4-BE49-F238E27FC236}">
                <a16:creationId xmlns:a16="http://schemas.microsoft.com/office/drawing/2014/main" id="{7054257F-4C2F-E8B8-1635-4F9B5525EEF1}"/>
              </a:ext>
            </a:extLst>
          </p:cNvPr>
          <p:cNvPicPr>
            <a:picLocks noChangeAspect="1"/>
          </p:cNvPicPr>
          <p:nvPr/>
        </p:nvPicPr>
        <p:blipFill>
          <a:blip r:embed="rId3">
            <a:extLst>
              <a:ext uri="{28A0092B-C50C-407E-A947-70E740481C1C}">
                <a14:useLocalDpi xmlns:a14="http://schemas.microsoft.com/office/drawing/2010/main" val="0"/>
              </a:ext>
            </a:extLst>
          </a:blip>
          <a:srcRect l="17694" r="27573"/>
          <a:stretch>
            <a:fillRect/>
          </a:stretch>
        </p:blipFill>
        <p:spPr>
          <a:xfrm>
            <a:off x="4694586" y="4309664"/>
            <a:ext cx="1260355" cy="2076451"/>
          </a:xfrm>
          <a:prstGeom prst="rect">
            <a:avLst/>
          </a:prstGeom>
        </p:spPr>
      </p:pic>
      <p:pic>
        <p:nvPicPr>
          <p:cNvPr id="10" name="Picture 9">
            <a:extLst>
              <a:ext uri="{FF2B5EF4-FFF2-40B4-BE49-F238E27FC236}">
                <a16:creationId xmlns:a16="http://schemas.microsoft.com/office/drawing/2014/main" id="{CF61C762-2168-248C-F9DA-71AD23F7E6D1}"/>
              </a:ext>
            </a:extLst>
          </p:cNvPr>
          <p:cNvPicPr>
            <a:picLocks noChangeAspect="1"/>
          </p:cNvPicPr>
          <p:nvPr/>
        </p:nvPicPr>
        <p:blipFill>
          <a:blip r:embed="rId4">
            <a:extLst>
              <a:ext uri="{28A0092B-C50C-407E-A947-70E740481C1C}">
                <a14:useLocalDpi xmlns:a14="http://schemas.microsoft.com/office/drawing/2010/main" val="0"/>
              </a:ext>
            </a:extLst>
          </a:blip>
          <a:srcRect l="10637" t="9483" r="52589" b="53123"/>
          <a:stretch>
            <a:fillRect/>
          </a:stretch>
        </p:blipFill>
        <p:spPr>
          <a:xfrm>
            <a:off x="10313982" y="5062140"/>
            <a:ext cx="1260355" cy="1196976"/>
          </a:xfrm>
          <a:prstGeom prst="rect">
            <a:avLst/>
          </a:prstGeom>
        </p:spPr>
      </p:pic>
      <p:pic>
        <p:nvPicPr>
          <p:cNvPr id="3074" name="Picture 2" descr="What is a payment processor?">
            <a:extLst>
              <a:ext uri="{FF2B5EF4-FFF2-40B4-BE49-F238E27FC236}">
                <a16:creationId xmlns:a16="http://schemas.microsoft.com/office/drawing/2014/main" id="{25F7738C-6B8E-6F96-47EE-DB5BF23EBAB7}"/>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33863" t="36716" r="33699" b="15999"/>
          <a:stretch>
            <a:fillRect/>
          </a:stretch>
        </p:blipFill>
        <p:spPr bwMode="auto">
          <a:xfrm>
            <a:off x="7814095" y="5023868"/>
            <a:ext cx="1587500" cy="1325563"/>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17">
            <a:extLst>
              <a:ext uri="{FF2B5EF4-FFF2-40B4-BE49-F238E27FC236}">
                <a16:creationId xmlns:a16="http://schemas.microsoft.com/office/drawing/2014/main" id="{5AABA8AF-6984-7E2D-631B-D7780A380F22}"/>
              </a:ext>
            </a:extLst>
          </p:cNvPr>
          <p:cNvPicPr>
            <a:picLocks noChangeAspect="1"/>
          </p:cNvPicPr>
          <p:nvPr/>
        </p:nvPicPr>
        <p:blipFill>
          <a:blip r:embed="rId6">
            <a:extLst>
              <a:ext uri="{28A0092B-C50C-407E-A947-70E740481C1C}">
                <a14:useLocalDpi xmlns:a14="http://schemas.microsoft.com/office/drawing/2010/main" val="0"/>
              </a:ext>
            </a:extLst>
          </a:blip>
          <a:srcRect l="-566" t="5264" r="566" b="15921"/>
          <a:stretch>
            <a:fillRect/>
          </a:stretch>
        </p:blipFill>
        <p:spPr>
          <a:xfrm>
            <a:off x="6610913" y="1752655"/>
            <a:ext cx="1822331" cy="1325564"/>
          </a:xfrm>
          <a:prstGeom prst="rect">
            <a:avLst/>
          </a:prstGeom>
        </p:spPr>
      </p:pic>
      <p:pic>
        <p:nvPicPr>
          <p:cNvPr id="20" name="Picture 19">
            <a:extLst>
              <a:ext uri="{FF2B5EF4-FFF2-40B4-BE49-F238E27FC236}">
                <a16:creationId xmlns:a16="http://schemas.microsoft.com/office/drawing/2014/main" id="{8CCAD3F3-D93A-B84D-15BF-2C2A500A90E5}"/>
              </a:ext>
            </a:extLst>
          </p:cNvPr>
          <p:cNvPicPr>
            <a:picLocks noChangeAspect="1"/>
          </p:cNvPicPr>
          <p:nvPr/>
        </p:nvPicPr>
        <p:blipFill>
          <a:blip r:embed="rId7">
            <a:extLst>
              <a:ext uri="{28A0092B-C50C-407E-A947-70E740481C1C}">
                <a14:useLocalDpi xmlns:a14="http://schemas.microsoft.com/office/drawing/2010/main" val="0"/>
              </a:ext>
            </a:extLst>
          </a:blip>
          <a:srcRect l="18113" t="36606" r="18113" b="35864"/>
          <a:stretch>
            <a:fillRect/>
          </a:stretch>
        </p:blipFill>
        <p:spPr>
          <a:xfrm rot="5400000">
            <a:off x="5643216" y="5127623"/>
            <a:ext cx="2076452" cy="440532"/>
          </a:xfrm>
          <a:prstGeom prst="rect">
            <a:avLst/>
          </a:prstGeom>
        </p:spPr>
      </p:pic>
      <p:pic>
        <p:nvPicPr>
          <p:cNvPr id="24" name="Picture 23">
            <a:extLst>
              <a:ext uri="{FF2B5EF4-FFF2-40B4-BE49-F238E27FC236}">
                <a16:creationId xmlns:a16="http://schemas.microsoft.com/office/drawing/2014/main" id="{1CD347CC-A93A-BA8C-A24F-C3D715FA08FF}"/>
              </a:ext>
            </a:extLst>
          </p:cNvPr>
          <p:cNvPicPr>
            <a:picLocks noChangeAspect="1"/>
          </p:cNvPicPr>
          <p:nvPr/>
        </p:nvPicPr>
        <p:blipFill>
          <a:blip r:embed="rId8">
            <a:extLst>
              <a:ext uri="{28A0092B-C50C-407E-A947-70E740481C1C}">
                <a14:useLocalDpi xmlns:a14="http://schemas.microsoft.com/office/drawing/2010/main" val="0"/>
              </a:ext>
            </a:extLst>
          </a:blip>
          <a:srcRect l="11481" t="4363" r="10988" b="8055"/>
          <a:stretch>
            <a:fillRect/>
          </a:stretch>
        </p:blipFill>
        <p:spPr>
          <a:xfrm>
            <a:off x="646094" y="2415437"/>
            <a:ext cx="1085851" cy="2525315"/>
          </a:xfrm>
          <a:prstGeom prst="rect">
            <a:avLst/>
          </a:prstGeom>
        </p:spPr>
      </p:pic>
      <p:pic>
        <p:nvPicPr>
          <p:cNvPr id="28" name="Picture 27">
            <a:extLst>
              <a:ext uri="{FF2B5EF4-FFF2-40B4-BE49-F238E27FC236}">
                <a16:creationId xmlns:a16="http://schemas.microsoft.com/office/drawing/2014/main" id="{407A143F-36E7-B5B3-985B-493E288E8B2F}"/>
              </a:ext>
            </a:extLst>
          </p:cNvPr>
          <p:cNvPicPr>
            <a:picLocks noChangeAspect="1"/>
          </p:cNvPicPr>
          <p:nvPr/>
        </p:nvPicPr>
        <p:blipFill>
          <a:blip r:embed="rId9">
            <a:extLst>
              <a:ext uri="{28A0092B-C50C-407E-A947-70E740481C1C}">
                <a14:useLocalDpi xmlns:a14="http://schemas.microsoft.com/office/drawing/2010/main" val="0"/>
              </a:ext>
            </a:extLst>
          </a:blip>
          <a:srcRect l="37748" t="59153" r="39828" b="12365"/>
          <a:stretch>
            <a:fillRect/>
          </a:stretch>
        </p:blipFill>
        <p:spPr>
          <a:xfrm>
            <a:off x="9101982" y="2951654"/>
            <a:ext cx="1260355" cy="829932"/>
          </a:xfrm>
          <a:prstGeom prst="rect">
            <a:avLst/>
          </a:prstGeom>
        </p:spPr>
      </p:pic>
      <p:pic>
        <p:nvPicPr>
          <p:cNvPr id="30" name="Picture 29">
            <a:extLst>
              <a:ext uri="{FF2B5EF4-FFF2-40B4-BE49-F238E27FC236}">
                <a16:creationId xmlns:a16="http://schemas.microsoft.com/office/drawing/2014/main" id="{27404453-BC54-9435-CC6C-1CF82EAF3D85}"/>
              </a:ext>
            </a:extLst>
          </p:cNvPr>
          <p:cNvPicPr>
            <a:picLocks noChangeAspect="1"/>
          </p:cNvPicPr>
          <p:nvPr/>
        </p:nvPicPr>
        <p:blipFill>
          <a:blip r:embed="rId9">
            <a:extLst>
              <a:ext uri="{28A0092B-C50C-407E-A947-70E740481C1C}">
                <a14:useLocalDpi xmlns:a14="http://schemas.microsoft.com/office/drawing/2010/main" val="0"/>
              </a:ext>
            </a:extLst>
          </a:blip>
          <a:srcRect l="4103" t="7303" r="85250" b="69671"/>
          <a:stretch>
            <a:fillRect/>
          </a:stretch>
        </p:blipFill>
        <p:spPr>
          <a:xfrm>
            <a:off x="10040748" y="1690688"/>
            <a:ext cx="1098281" cy="920240"/>
          </a:xfrm>
          <a:prstGeom prst="rect">
            <a:avLst/>
          </a:prstGeom>
        </p:spPr>
      </p:pic>
      <p:pic>
        <p:nvPicPr>
          <p:cNvPr id="32" name="Picture 31">
            <a:extLst>
              <a:ext uri="{FF2B5EF4-FFF2-40B4-BE49-F238E27FC236}">
                <a16:creationId xmlns:a16="http://schemas.microsoft.com/office/drawing/2014/main" id="{631402EB-C664-C4B7-47BD-66F9E70016E3}"/>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10773907" y="3040314"/>
            <a:ext cx="1159786" cy="1012926"/>
          </a:xfrm>
          <a:prstGeom prst="rect">
            <a:avLst/>
          </a:prstGeom>
        </p:spPr>
      </p:pic>
      <p:pic>
        <p:nvPicPr>
          <p:cNvPr id="34" name="Graphic 33">
            <a:extLst>
              <a:ext uri="{FF2B5EF4-FFF2-40B4-BE49-F238E27FC236}">
                <a16:creationId xmlns:a16="http://schemas.microsoft.com/office/drawing/2014/main" id="{03651904-AF33-6FE0-55A0-912BE97B67F6}"/>
              </a:ext>
            </a:extLst>
          </p:cNvPr>
          <p:cNvPicPr>
            <a:picLocks noChangeAspect="1"/>
          </p:cNvPicPr>
          <p:nvPr/>
        </p:nvPicPr>
        <p:blipFill>
          <a:blip r:embed="rId11">
            <a:extLst>
              <a:ext uri="{96DAC541-7B7A-43D3-8B79-37D633B846F1}">
                <asvg:svgBlip xmlns:asvg="http://schemas.microsoft.com/office/drawing/2016/SVG/main" r:embed="rId12"/>
              </a:ext>
              <a:ext uri="{837473B0-CC2E-450A-ABE3-18F120FF3D39}">
                <a1611:picAttrSrcUrl xmlns:a1611="http://schemas.microsoft.com/office/drawing/2016/11/main" r:id="rId13"/>
              </a:ext>
            </a:extLst>
          </a:blip>
          <a:stretch>
            <a:fillRect/>
          </a:stretch>
        </p:blipFill>
        <p:spPr>
          <a:xfrm flipH="1">
            <a:off x="2608" y="5180189"/>
            <a:ext cx="1807326" cy="1012923"/>
          </a:xfrm>
          <a:prstGeom prst="rect">
            <a:avLst/>
          </a:prstGeom>
        </p:spPr>
      </p:pic>
      <p:pic>
        <p:nvPicPr>
          <p:cNvPr id="37" name="Picture 36">
            <a:extLst>
              <a:ext uri="{FF2B5EF4-FFF2-40B4-BE49-F238E27FC236}">
                <a16:creationId xmlns:a16="http://schemas.microsoft.com/office/drawing/2014/main" id="{BB2ABB75-F201-D786-05A8-3A4083A8A76E}"/>
              </a:ext>
            </a:extLst>
          </p:cNvPr>
          <p:cNvPicPr>
            <a:picLocks noChangeAspect="1"/>
          </p:cNvPicPr>
          <p:nvPr/>
        </p:nvPicPr>
        <p:blipFill>
          <a:blip r:embed="rId14">
            <a:extLst>
              <a:ext uri="{28A0092B-C50C-407E-A947-70E740481C1C}">
                <a14:useLocalDpi xmlns:a14="http://schemas.microsoft.com/office/drawing/2010/main" val="0"/>
              </a:ext>
            </a:extLst>
          </a:blip>
          <a:srcRect l="14969" t="16329" r="17082" b="16722"/>
          <a:stretch>
            <a:fillRect/>
          </a:stretch>
        </p:blipFill>
        <p:spPr>
          <a:xfrm>
            <a:off x="1871358" y="3980528"/>
            <a:ext cx="1085851" cy="828332"/>
          </a:xfrm>
          <a:prstGeom prst="rect">
            <a:avLst/>
          </a:prstGeom>
        </p:spPr>
      </p:pic>
      <p:sp>
        <p:nvSpPr>
          <p:cNvPr id="38" name="Arrow: Down 37">
            <a:extLst>
              <a:ext uri="{FF2B5EF4-FFF2-40B4-BE49-F238E27FC236}">
                <a16:creationId xmlns:a16="http://schemas.microsoft.com/office/drawing/2014/main" id="{4E8566D5-2D4C-932A-4CA1-0AE74FCDCE18}"/>
              </a:ext>
            </a:extLst>
          </p:cNvPr>
          <p:cNvSpPr/>
          <p:nvPr/>
        </p:nvSpPr>
        <p:spPr>
          <a:xfrm rot="16200000">
            <a:off x="2148557" y="5706769"/>
            <a:ext cx="198712" cy="841196"/>
          </a:xfrm>
          <a:prstGeom prst="downArrow">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Arrow: Down 38">
            <a:extLst>
              <a:ext uri="{FF2B5EF4-FFF2-40B4-BE49-F238E27FC236}">
                <a16:creationId xmlns:a16="http://schemas.microsoft.com/office/drawing/2014/main" id="{F1D41A02-9152-D6BA-9AEF-F496BAADFE08}"/>
              </a:ext>
            </a:extLst>
          </p:cNvPr>
          <p:cNvSpPr/>
          <p:nvPr/>
        </p:nvSpPr>
        <p:spPr>
          <a:xfrm rot="5400000">
            <a:off x="2097757" y="5121427"/>
            <a:ext cx="198712" cy="841196"/>
          </a:xfrm>
          <a:prstGeom prst="downArrow">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Arrow: Down 39">
            <a:extLst>
              <a:ext uri="{FF2B5EF4-FFF2-40B4-BE49-F238E27FC236}">
                <a16:creationId xmlns:a16="http://schemas.microsoft.com/office/drawing/2014/main" id="{3A52AEA3-7801-7B4D-CCE5-768C54AB37E3}"/>
              </a:ext>
            </a:extLst>
          </p:cNvPr>
          <p:cNvSpPr/>
          <p:nvPr/>
        </p:nvSpPr>
        <p:spPr>
          <a:xfrm rot="16200000">
            <a:off x="4108931" y="5339386"/>
            <a:ext cx="198712" cy="841196"/>
          </a:xfrm>
          <a:prstGeom prst="downArrow">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Arrow: Down 40">
            <a:extLst>
              <a:ext uri="{FF2B5EF4-FFF2-40B4-BE49-F238E27FC236}">
                <a16:creationId xmlns:a16="http://schemas.microsoft.com/office/drawing/2014/main" id="{BDDBBFE5-E0F4-8479-E569-2A1D1DABD204}"/>
              </a:ext>
            </a:extLst>
          </p:cNvPr>
          <p:cNvSpPr/>
          <p:nvPr/>
        </p:nvSpPr>
        <p:spPr>
          <a:xfrm rot="16200000">
            <a:off x="6082251" y="5480415"/>
            <a:ext cx="317315" cy="440534"/>
          </a:xfrm>
          <a:prstGeom prst="downArrow">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Arrow: Down 42">
            <a:extLst>
              <a:ext uri="{FF2B5EF4-FFF2-40B4-BE49-F238E27FC236}">
                <a16:creationId xmlns:a16="http://schemas.microsoft.com/office/drawing/2014/main" id="{F6BD0454-8849-D564-6834-0BB4C8710532}"/>
              </a:ext>
            </a:extLst>
          </p:cNvPr>
          <p:cNvSpPr/>
          <p:nvPr/>
        </p:nvSpPr>
        <p:spPr>
          <a:xfrm rot="10800000" flipH="1">
            <a:off x="6645419" y="3167340"/>
            <a:ext cx="209845" cy="1153139"/>
          </a:xfrm>
          <a:prstGeom prst="downArrow">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Arrow: Down 43">
            <a:extLst>
              <a:ext uri="{FF2B5EF4-FFF2-40B4-BE49-F238E27FC236}">
                <a16:creationId xmlns:a16="http://schemas.microsoft.com/office/drawing/2014/main" id="{C592898C-B83B-4DCA-4930-2A969DDE9E38}"/>
              </a:ext>
            </a:extLst>
          </p:cNvPr>
          <p:cNvSpPr/>
          <p:nvPr/>
        </p:nvSpPr>
        <p:spPr>
          <a:xfrm>
            <a:off x="8160552" y="3129260"/>
            <a:ext cx="209846" cy="1811492"/>
          </a:xfrm>
          <a:prstGeom prst="downArrow">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Arrow: Down 44">
            <a:extLst>
              <a:ext uri="{FF2B5EF4-FFF2-40B4-BE49-F238E27FC236}">
                <a16:creationId xmlns:a16="http://schemas.microsoft.com/office/drawing/2014/main" id="{119BD61A-91ED-5E52-B4E6-586F96F5EAE1}"/>
              </a:ext>
            </a:extLst>
          </p:cNvPr>
          <p:cNvSpPr/>
          <p:nvPr/>
        </p:nvSpPr>
        <p:spPr>
          <a:xfrm rot="16200000">
            <a:off x="9758432" y="5319247"/>
            <a:ext cx="198712" cy="841196"/>
          </a:xfrm>
          <a:prstGeom prst="downArrow">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Arrow: Down 45">
            <a:extLst>
              <a:ext uri="{FF2B5EF4-FFF2-40B4-BE49-F238E27FC236}">
                <a16:creationId xmlns:a16="http://schemas.microsoft.com/office/drawing/2014/main" id="{D1BF4359-9048-1C3D-18B4-0E34EDF14639}"/>
              </a:ext>
            </a:extLst>
          </p:cNvPr>
          <p:cNvSpPr/>
          <p:nvPr/>
        </p:nvSpPr>
        <p:spPr>
          <a:xfrm rot="5400000" flipH="1">
            <a:off x="9224029" y="1479467"/>
            <a:ext cx="145185" cy="1726756"/>
          </a:xfrm>
          <a:prstGeom prst="downArrow">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8" name="Picture 47">
            <a:extLst>
              <a:ext uri="{FF2B5EF4-FFF2-40B4-BE49-F238E27FC236}">
                <a16:creationId xmlns:a16="http://schemas.microsoft.com/office/drawing/2014/main" id="{31C207F6-8A41-137E-41BC-103AD210D3C6}"/>
              </a:ext>
            </a:extLst>
          </p:cNvPr>
          <p:cNvPicPr>
            <a:picLocks noChangeAspect="1"/>
          </p:cNvPicPr>
          <p:nvPr/>
        </p:nvPicPr>
        <p:blipFill>
          <a:blip r:embed="rId15"/>
          <a:stretch>
            <a:fillRect/>
          </a:stretch>
        </p:blipFill>
        <p:spPr>
          <a:xfrm rot="8108491">
            <a:off x="9612122" y="2801994"/>
            <a:ext cx="857250" cy="228600"/>
          </a:xfrm>
          <a:prstGeom prst="rect">
            <a:avLst/>
          </a:prstGeom>
        </p:spPr>
      </p:pic>
      <p:pic>
        <p:nvPicPr>
          <p:cNvPr id="50" name="Picture 49">
            <a:extLst>
              <a:ext uri="{FF2B5EF4-FFF2-40B4-BE49-F238E27FC236}">
                <a16:creationId xmlns:a16="http://schemas.microsoft.com/office/drawing/2014/main" id="{7518483C-0C2A-D0C0-FB28-74E122B7A9FB}"/>
              </a:ext>
            </a:extLst>
          </p:cNvPr>
          <p:cNvPicPr>
            <a:picLocks noChangeAspect="1"/>
          </p:cNvPicPr>
          <p:nvPr/>
        </p:nvPicPr>
        <p:blipFill>
          <a:blip r:embed="rId15"/>
          <a:stretch>
            <a:fillRect/>
          </a:stretch>
        </p:blipFill>
        <p:spPr>
          <a:xfrm rot="3148546" flipV="1">
            <a:off x="10787589" y="2759525"/>
            <a:ext cx="615748" cy="247844"/>
          </a:xfrm>
          <a:prstGeom prst="rect">
            <a:avLst/>
          </a:prstGeom>
        </p:spPr>
      </p:pic>
      <p:sp>
        <p:nvSpPr>
          <p:cNvPr id="52" name="TextBox 51">
            <a:extLst>
              <a:ext uri="{FF2B5EF4-FFF2-40B4-BE49-F238E27FC236}">
                <a16:creationId xmlns:a16="http://schemas.microsoft.com/office/drawing/2014/main" id="{DA42A7FA-9297-5580-3360-1EB50C54E512}"/>
              </a:ext>
            </a:extLst>
          </p:cNvPr>
          <p:cNvSpPr txBox="1"/>
          <p:nvPr/>
        </p:nvSpPr>
        <p:spPr>
          <a:xfrm>
            <a:off x="1724584" y="6123543"/>
            <a:ext cx="1143062" cy="369332"/>
          </a:xfrm>
          <a:prstGeom prst="rect">
            <a:avLst/>
          </a:prstGeom>
          <a:noFill/>
        </p:spPr>
        <p:txBody>
          <a:bodyPr wrap="square">
            <a:spAutoFit/>
          </a:bodyPr>
          <a:lstStyle/>
          <a:p>
            <a:r>
              <a:rPr lang="en-US" dirty="0"/>
              <a:t>Scan me</a:t>
            </a:r>
          </a:p>
        </p:txBody>
      </p:sp>
      <p:sp>
        <p:nvSpPr>
          <p:cNvPr id="54" name="TextBox 53">
            <a:extLst>
              <a:ext uri="{FF2B5EF4-FFF2-40B4-BE49-F238E27FC236}">
                <a16:creationId xmlns:a16="http://schemas.microsoft.com/office/drawing/2014/main" id="{3FFC6FB4-A49D-0E27-6516-FAF9D74D948D}"/>
              </a:ext>
            </a:extLst>
          </p:cNvPr>
          <p:cNvSpPr txBox="1"/>
          <p:nvPr/>
        </p:nvSpPr>
        <p:spPr>
          <a:xfrm>
            <a:off x="3808503" y="5092890"/>
            <a:ext cx="739689" cy="646331"/>
          </a:xfrm>
          <a:prstGeom prst="rect">
            <a:avLst/>
          </a:prstGeom>
          <a:noFill/>
        </p:spPr>
        <p:txBody>
          <a:bodyPr wrap="square">
            <a:spAutoFit/>
          </a:bodyPr>
          <a:lstStyle/>
          <a:p>
            <a:r>
              <a:rPr lang="en-US" dirty="0"/>
              <a:t>Voice input</a:t>
            </a:r>
          </a:p>
        </p:txBody>
      </p:sp>
      <p:sp>
        <p:nvSpPr>
          <p:cNvPr id="56" name="TextBox 55">
            <a:extLst>
              <a:ext uri="{FF2B5EF4-FFF2-40B4-BE49-F238E27FC236}">
                <a16:creationId xmlns:a16="http://schemas.microsoft.com/office/drawing/2014/main" id="{81A64747-4E63-E6D4-7682-A947AF8A68C6}"/>
              </a:ext>
            </a:extLst>
          </p:cNvPr>
          <p:cNvSpPr txBox="1"/>
          <p:nvPr/>
        </p:nvSpPr>
        <p:spPr>
          <a:xfrm>
            <a:off x="6526978" y="1089874"/>
            <a:ext cx="1990200" cy="646331"/>
          </a:xfrm>
          <a:prstGeom prst="rect">
            <a:avLst/>
          </a:prstGeom>
          <a:noFill/>
        </p:spPr>
        <p:txBody>
          <a:bodyPr wrap="square">
            <a:spAutoFit/>
          </a:bodyPr>
          <a:lstStyle/>
          <a:p>
            <a:r>
              <a:rPr lang="en-US" dirty="0">
                <a:highlight>
                  <a:srgbClr val="00FF00"/>
                </a:highlight>
              </a:rPr>
              <a:t>Inventory             &amp;      </a:t>
            </a:r>
          </a:p>
          <a:p>
            <a:r>
              <a:rPr lang="en-US" dirty="0">
                <a:highlight>
                  <a:srgbClr val="00FF00"/>
                </a:highlight>
              </a:rPr>
              <a:t>kitchen load check</a:t>
            </a:r>
          </a:p>
        </p:txBody>
      </p:sp>
      <p:sp>
        <p:nvSpPr>
          <p:cNvPr id="58" name="TextBox 57">
            <a:extLst>
              <a:ext uri="{FF2B5EF4-FFF2-40B4-BE49-F238E27FC236}">
                <a16:creationId xmlns:a16="http://schemas.microsoft.com/office/drawing/2014/main" id="{A10C1A01-905C-F0B1-B145-0B88E8AB81AA}"/>
              </a:ext>
            </a:extLst>
          </p:cNvPr>
          <p:cNvSpPr txBox="1"/>
          <p:nvPr/>
        </p:nvSpPr>
        <p:spPr>
          <a:xfrm>
            <a:off x="10213127" y="1370226"/>
            <a:ext cx="841196" cy="369332"/>
          </a:xfrm>
          <a:prstGeom prst="rect">
            <a:avLst/>
          </a:prstGeom>
          <a:noFill/>
        </p:spPr>
        <p:txBody>
          <a:bodyPr wrap="square">
            <a:spAutoFit/>
          </a:bodyPr>
          <a:lstStyle/>
          <a:p>
            <a:r>
              <a:rPr lang="en-US" dirty="0"/>
              <a:t>Admin</a:t>
            </a:r>
          </a:p>
        </p:txBody>
      </p:sp>
      <p:sp>
        <p:nvSpPr>
          <p:cNvPr id="60" name="TextBox 59">
            <a:extLst>
              <a:ext uri="{FF2B5EF4-FFF2-40B4-BE49-F238E27FC236}">
                <a16:creationId xmlns:a16="http://schemas.microsoft.com/office/drawing/2014/main" id="{AFB4F703-9E09-EEBC-F4A9-D9ADA11953D4}"/>
              </a:ext>
            </a:extLst>
          </p:cNvPr>
          <p:cNvSpPr txBox="1"/>
          <p:nvPr/>
        </p:nvSpPr>
        <p:spPr>
          <a:xfrm>
            <a:off x="9115034" y="3636409"/>
            <a:ext cx="1085850" cy="600164"/>
          </a:xfrm>
          <a:prstGeom prst="rect">
            <a:avLst/>
          </a:prstGeom>
          <a:noFill/>
        </p:spPr>
        <p:txBody>
          <a:bodyPr wrap="square">
            <a:spAutoFit/>
          </a:bodyPr>
          <a:lstStyle/>
          <a:p>
            <a:r>
              <a:rPr lang="en-US" sz="1100" dirty="0"/>
              <a:t>Blockchain </a:t>
            </a:r>
            <a:br>
              <a:rPr lang="en-US" sz="1100" dirty="0"/>
            </a:br>
            <a:r>
              <a:rPr lang="en-US" sz="1100" dirty="0"/>
              <a:t>transaction </a:t>
            </a:r>
            <a:br>
              <a:rPr lang="en-US" sz="1100" dirty="0"/>
            </a:br>
            <a:r>
              <a:rPr lang="en-US" sz="1100" dirty="0"/>
              <a:t>management</a:t>
            </a:r>
          </a:p>
        </p:txBody>
      </p:sp>
      <p:sp>
        <p:nvSpPr>
          <p:cNvPr id="62" name="TextBox 61">
            <a:extLst>
              <a:ext uri="{FF2B5EF4-FFF2-40B4-BE49-F238E27FC236}">
                <a16:creationId xmlns:a16="http://schemas.microsoft.com/office/drawing/2014/main" id="{5E2F6C38-5354-E479-88BE-910E8190E24E}"/>
              </a:ext>
            </a:extLst>
          </p:cNvPr>
          <p:cNvSpPr txBox="1"/>
          <p:nvPr/>
        </p:nvSpPr>
        <p:spPr>
          <a:xfrm>
            <a:off x="10683305" y="3940331"/>
            <a:ext cx="1500192" cy="369332"/>
          </a:xfrm>
          <a:prstGeom prst="rect">
            <a:avLst/>
          </a:prstGeom>
          <a:noFill/>
        </p:spPr>
        <p:txBody>
          <a:bodyPr wrap="square">
            <a:spAutoFit/>
          </a:bodyPr>
          <a:lstStyle/>
          <a:p>
            <a:r>
              <a:rPr lang="en-US" dirty="0"/>
              <a:t>Daily analysis</a:t>
            </a:r>
          </a:p>
        </p:txBody>
      </p:sp>
    </p:spTree>
    <p:extLst>
      <p:ext uri="{BB962C8B-B14F-4D97-AF65-F5344CB8AC3E}">
        <p14:creationId xmlns:p14="http://schemas.microsoft.com/office/powerpoint/2010/main" val="13603793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4F4366-359A-D739-5512-5FB0B041C85A}"/>
              </a:ext>
            </a:extLst>
          </p:cNvPr>
          <p:cNvSpPr>
            <a:spLocks noGrp="1"/>
          </p:cNvSpPr>
          <p:nvPr>
            <p:ph type="title"/>
          </p:nvPr>
        </p:nvSpPr>
        <p:spPr>
          <a:xfrm>
            <a:off x="838200" y="365125"/>
            <a:ext cx="10515600" cy="1135063"/>
          </a:xfrm>
        </p:spPr>
        <p:txBody>
          <a:bodyPr/>
          <a:lstStyle/>
          <a:p>
            <a:r>
              <a:rPr lang="en-US" altLang="en-US" b="1" dirty="0">
                <a:latin typeface="Times New Roman" panose="02020603050405020304" pitchFamily="18" charset="0"/>
                <a:cs typeface="Times New Roman" panose="02020603050405020304" pitchFamily="18" charset="0"/>
              </a:rPr>
              <a:t>Methodology</a:t>
            </a:r>
            <a:endParaRPr lang="en-US" dirty="0"/>
          </a:p>
        </p:txBody>
      </p:sp>
      <p:sp>
        <p:nvSpPr>
          <p:cNvPr id="6" name="Rectangle 3">
            <a:extLst>
              <a:ext uri="{FF2B5EF4-FFF2-40B4-BE49-F238E27FC236}">
                <a16:creationId xmlns:a16="http://schemas.microsoft.com/office/drawing/2014/main" id="{3A6EE519-437C-4979-0804-AF12D8165DDF}"/>
              </a:ext>
            </a:extLst>
          </p:cNvPr>
          <p:cNvSpPr>
            <a:spLocks noGrp="1" noChangeArrowheads="1"/>
          </p:cNvSpPr>
          <p:nvPr>
            <p:ph idx="1"/>
          </p:nvPr>
        </p:nvSpPr>
        <p:spPr bwMode="auto">
          <a:xfrm>
            <a:off x="981075" y="1506895"/>
            <a:ext cx="10515600" cy="49859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AutoNum type="arabicPeriod"/>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QR Code Access</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Customers scan a QR code (generated via Python </a:t>
            </a:r>
            <a:r>
              <a:rPr kumimoji="0" lang="en-US" altLang="en-US"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qrcode</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to access the digital menu.</a:t>
            </a:r>
          </a:p>
          <a:p>
            <a:pPr marL="0" marR="0" lvl="0" indent="0" algn="just" defTabSz="914400" rtl="0" eaLnBrk="0" fontAlgn="base" latinLnBrk="0" hangingPunct="0">
              <a:lnSpc>
                <a:spcPct val="100000"/>
              </a:lnSpc>
              <a:spcBef>
                <a:spcPct val="0"/>
              </a:spcBef>
              <a:spcAft>
                <a:spcPct val="0"/>
              </a:spcAft>
              <a:buClrTx/>
              <a:buSzTx/>
              <a:buFontTx/>
              <a:buAutoNum type="arabicPeriod" startAt="2"/>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Dynamic Menu Display</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Menu updates in real-time using Flask with live inventory status.</a:t>
            </a:r>
          </a:p>
          <a:p>
            <a:pPr marL="0" marR="0" lvl="0" indent="0" algn="just" defTabSz="914400" rtl="0" eaLnBrk="0" fontAlgn="base" latinLnBrk="0" hangingPunct="0">
              <a:lnSpc>
                <a:spcPct val="100000"/>
              </a:lnSpc>
              <a:spcBef>
                <a:spcPct val="0"/>
              </a:spcBef>
              <a:spcAft>
                <a:spcPct val="0"/>
              </a:spcAft>
              <a:buClrTx/>
              <a:buSzTx/>
              <a:buFontTx/>
              <a:buAutoNum type="arabicPeriod" startAt="3"/>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Voice + Manual Ordering</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Orders placed via voice (Whisper + </a:t>
            </a:r>
            <a:r>
              <a:rPr kumimoji="0" lang="en-US" altLang="en-US"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DistilBERT</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for NLP) or manually through the interface.</a:t>
            </a:r>
          </a:p>
          <a:p>
            <a:pPr marL="0" marR="0" lvl="0" indent="0" algn="just" defTabSz="914400" rtl="0" eaLnBrk="0" fontAlgn="base" latinLnBrk="0" hangingPunct="0">
              <a:lnSpc>
                <a:spcPct val="100000"/>
              </a:lnSpc>
              <a:spcBef>
                <a:spcPct val="0"/>
              </a:spcBef>
              <a:spcAft>
                <a:spcPct val="0"/>
              </a:spcAft>
              <a:buClrTx/>
              <a:buSzTx/>
              <a:buFontTx/>
              <a:buAutoNum type="arabicPeriod" startAt="4"/>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Inventory &amp; Load Check</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Backend verifies stock availability and balances kitchen load using blockchain for secure tracking.</a:t>
            </a:r>
          </a:p>
          <a:p>
            <a:pPr marL="0" marR="0" lvl="0" indent="0" algn="just" defTabSz="914400" rtl="0" eaLnBrk="0" fontAlgn="base" latinLnBrk="0" hangingPunct="0">
              <a:lnSpc>
                <a:spcPct val="100000"/>
              </a:lnSpc>
              <a:spcBef>
                <a:spcPct val="0"/>
              </a:spcBef>
              <a:spcAft>
                <a:spcPct val="0"/>
              </a:spcAft>
              <a:buClrTx/>
              <a:buSzTx/>
              <a:buFontTx/>
              <a:buAutoNum type="arabicPeriod" startAt="5"/>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Digital Invoice Generation</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Itemized invoices automatically created with </a:t>
            </a:r>
            <a:r>
              <a:rPr kumimoji="0" lang="en-US" altLang="en-US"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reportlab</a:t>
            </a:r>
            <a:r>
              <a:rPr lang="en-US" altLang="en-US" sz="2000" dirty="0">
                <a:latin typeface="Times New Roman" panose="02020603050405020304" pitchFamily="18" charset="0"/>
                <a:cs typeface="Times New Roman" panose="02020603050405020304" pitchFamily="18" charset="0"/>
              </a:rPr>
              <a:t> </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and sent to users.</a:t>
            </a:r>
          </a:p>
          <a:p>
            <a:pPr marL="0" marR="0" lvl="0" indent="0" algn="just" defTabSz="914400" rtl="0" eaLnBrk="0" fontAlgn="base" latinLnBrk="0" hangingPunct="0">
              <a:lnSpc>
                <a:spcPct val="100000"/>
              </a:lnSpc>
              <a:spcBef>
                <a:spcPct val="0"/>
              </a:spcBef>
              <a:spcAft>
                <a:spcPct val="0"/>
              </a:spcAft>
              <a:buClrTx/>
              <a:buSzTx/>
              <a:buFontTx/>
              <a:buAutoNum type="arabicPeriod" startAt="6"/>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Secure Payments</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Supports blockchain payments (web3.py), gateways with tamper-proof logging.</a:t>
            </a:r>
          </a:p>
          <a:p>
            <a:pPr marL="0" marR="0" lvl="0" indent="0" algn="just" defTabSz="914400" rtl="0" eaLnBrk="0" fontAlgn="base" latinLnBrk="0" hangingPunct="0">
              <a:lnSpc>
                <a:spcPct val="100000"/>
              </a:lnSpc>
              <a:spcBef>
                <a:spcPct val="0"/>
              </a:spcBef>
              <a:spcAft>
                <a:spcPct val="0"/>
              </a:spcAft>
              <a:buClrTx/>
              <a:buSzTx/>
              <a:buFontTx/>
              <a:buAutoNum type="arabicPeriod" startAt="7"/>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Unique Order Tracking</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UUIDs assigned for each order, enabling real-time tracking.</a:t>
            </a:r>
          </a:p>
          <a:p>
            <a:pPr marL="0" marR="0" lvl="0" indent="0" algn="just" defTabSz="914400" rtl="0" eaLnBrk="0" fontAlgn="base" latinLnBrk="0" hangingPunct="0">
              <a:lnSpc>
                <a:spcPct val="100000"/>
              </a:lnSpc>
              <a:spcBef>
                <a:spcPct val="0"/>
              </a:spcBef>
              <a:spcAft>
                <a:spcPct val="0"/>
              </a:spcAft>
              <a:buClrTx/>
              <a:buSzTx/>
              <a:buFontTx/>
              <a:buAutoNum type="arabicPeriod" startAt="8"/>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Order Time Estimation</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Preparation time dynamically calculated and displayed.</a:t>
            </a:r>
          </a:p>
          <a:p>
            <a:pPr marL="0" marR="0" lvl="0" indent="0" algn="just" defTabSz="914400" rtl="0" eaLnBrk="0" fontAlgn="base" latinLnBrk="0" hangingPunct="0">
              <a:lnSpc>
                <a:spcPct val="100000"/>
              </a:lnSpc>
              <a:spcBef>
                <a:spcPct val="0"/>
              </a:spcBef>
              <a:spcAft>
                <a:spcPct val="0"/>
              </a:spcAft>
              <a:buClrTx/>
              <a:buSzTx/>
              <a:buFontTx/>
              <a:buAutoNum type="arabicPeriod" startAt="9"/>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Admin Panel &amp; Analytics</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Staff manage orders and inventory via Flask-Admin; daily analytics reports generated automatically.</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8125782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98"/>
            <a:ext cx="12192000" cy="6858000"/>
          </a:xfrm>
          <a:prstGeom prst="rect">
            <a:avLst/>
          </a:prstGeom>
        </p:spPr>
      </p:pic>
      <p:sp>
        <p:nvSpPr>
          <p:cNvPr id="3" name="Shape 0"/>
          <p:cNvSpPr/>
          <p:nvPr/>
        </p:nvSpPr>
        <p:spPr>
          <a:xfrm>
            <a:off x="0" y="0"/>
            <a:ext cx="12192000" cy="6858000"/>
          </a:xfrm>
          <a:prstGeom prst="rect">
            <a:avLst/>
          </a:prstGeom>
          <a:solidFill>
            <a:srgbClr val="FFFFFF">
              <a:alpha val="75000"/>
            </a:srgbClr>
          </a:solidFill>
        </p:spPr>
      </p:sp>
      <p:sp>
        <p:nvSpPr>
          <p:cNvPr id="6" name="Text 1"/>
          <p:cNvSpPr/>
          <p:nvPr/>
        </p:nvSpPr>
        <p:spPr>
          <a:xfrm>
            <a:off x="654546" y="514846"/>
            <a:ext cx="4675188" cy="549969"/>
          </a:xfrm>
          <a:prstGeom prst="rect">
            <a:avLst/>
          </a:prstGeom>
          <a:noFill/>
        </p:spPr>
        <p:txBody>
          <a:bodyPr wrap="none" rtlCol="0" anchor="t"/>
          <a:lstStyle/>
          <a:p>
            <a:pPr>
              <a:lnSpc>
                <a:spcPts val="4330"/>
              </a:lnSpc>
            </a:pPr>
            <a:endParaRPr lang="en-US" sz="3465" dirty="0"/>
          </a:p>
        </p:txBody>
      </p:sp>
      <p:sp>
        <p:nvSpPr>
          <p:cNvPr id="7" name="Text 2"/>
          <p:cNvSpPr/>
          <p:nvPr/>
        </p:nvSpPr>
        <p:spPr>
          <a:xfrm>
            <a:off x="654546" y="1345306"/>
            <a:ext cx="6310908" cy="299243"/>
          </a:xfrm>
          <a:prstGeom prst="rect">
            <a:avLst/>
          </a:prstGeom>
          <a:noFill/>
        </p:spPr>
        <p:txBody>
          <a:bodyPr wrap="none" rtlCol="0" anchor="t"/>
          <a:lstStyle/>
          <a:p>
            <a:pPr>
              <a:lnSpc>
                <a:spcPts val="2355"/>
              </a:lnSpc>
            </a:pPr>
            <a:endParaRPr lang="en-US" sz="1470" dirty="0"/>
          </a:p>
        </p:txBody>
      </p:sp>
      <p:sp>
        <p:nvSpPr>
          <p:cNvPr id="9" name="Text 3"/>
          <p:cNvSpPr/>
          <p:nvPr/>
        </p:nvSpPr>
        <p:spPr>
          <a:xfrm>
            <a:off x="1870075" y="2041822"/>
            <a:ext cx="2200176" cy="275034"/>
          </a:xfrm>
          <a:prstGeom prst="rect">
            <a:avLst/>
          </a:prstGeom>
          <a:noFill/>
        </p:spPr>
        <p:txBody>
          <a:bodyPr wrap="none" rtlCol="0" anchor="t"/>
          <a:lstStyle/>
          <a:p>
            <a:pPr>
              <a:lnSpc>
                <a:spcPts val="2165"/>
              </a:lnSpc>
            </a:pPr>
            <a:endParaRPr lang="en-US" sz="1730" dirty="0"/>
          </a:p>
        </p:txBody>
      </p:sp>
      <p:sp>
        <p:nvSpPr>
          <p:cNvPr id="10" name="Text 4"/>
          <p:cNvSpPr/>
          <p:nvPr/>
        </p:nvSpPr>
        <p:spPr>
          <a:xfrm>
            <a:off x="1870076" y="2428974"/>
            <a:ext cx="5095379" cy="299243"/>
          </a:xfrm>
          <a:prstGeom prst="rect">
            <a:avLst/>
          </a:prstGeom>
          <a:noFill/>
        </p:spPr>
        <p:txBody>
          <a:bodyPr wrap="none" rtlCol="0" anchor="t"/>
          <a:lstStyle/>
          <a:p>
            <a:pPr>
              <a:lnSpc>
                <a:spcPts val="2355"/>
              </a:lnSpc>
            </a:pPr>
            <a:endParaRPr lang="en-US" sz="1470" dirty="0"/>
          </a:p>
        </p:txBody>
      </p:sp>
      <p:sp>
        <p:nvSpPr>
          <p:cNvPr id="12" name="Text 5"/>
          <p:cNvSpPr/>
          <p:nvPr/>
        </p:nvSpPr>
        <p:spPr>
          <a:xfrm>
            <a:off x="1870075" y="3537942"/>
            <a:ext cx="2200176" cy="275034"/>
          </a:xfrm>
          <a:prstGeom prst="rect">
            <a:avLst/>
          </a:prstGeom>
          <a:noFill/>
        </p:spPr>
        <p:txBody>
          <a:bodyPr wrap="none" rtlCol="0" anchor="t"/>
          <a:lstStyle/>
          <a:p>
            <a:pPr>
              <a:lnSpc>
                <a:spcPts val="2165"/>
              </a:lnSpc>
            </a:pPr>
            <a:endParaRPr lang="en-US" sz="1730" dirty="0"/>
          </a:p>
        </p:txBody>
      </p:sp>
      <p:sp>
        <p:nvSpPr>
          <p:cNvPr id="13" name="Text 6"/>
          <p:cNvSpPr/>
          <p:nvPr/>
        </p:nvSpPr>
        <p:spPr>
          <a:xfrm>
            <a:off x="1870076" y="3925093"/>
            <a:ext cx="5095379" cy="299243"/>
          </a:xfrm>
          <a:prstGeom prst="rect">
            <a:avLst/>
          </a:prstGeom>
          <a:noFill/>
        </p:spPr>
        <p:txBody>
          <a:bodyPr wrap="none" rtlCol="0" anchor="t"/>
          <a:lstStyle/>
          <a:p>
            <a:pPr>
              <a:lnSpc>
                <a:spcPts val="2355"/>
              </a:lnSpc>
            </a:pPr>
            <a:endParaRPr lang="en-US" sz="1470" dirty="0"/>
          </a:p>
        </p:txBody>
      </p:sp>
      <p:sp>
        <p:nvSpPr>
          <p:cNvPr id="15" name="Text 7"/>
          <p:cNvSpPr/>
          <p:nvPr/>
        </p:nvSpPr>
        <p:spPr>
          <a:xfrm>
            <a:off x="1870075" y="5034061"/>
            <a:ext cx="2200176" cy="275034"/>
          </a:xfrm>
          <a:prstGeom prst="rect">
            <a:avLst/>
          </a:prstGeom>
          <a:noFill/>
        </p:spPr>
        <p:txBody>
          <a:bodyPr wrap="none" rtlCol="0" anchor="t"/>
          <a:lstStyle/>
          <a:p>
            <a:pPr>
              <a:lnSpc>
                <a:spcPts val="2165"/>
              </a:lnSpc>
            </a:pPr>
            <a:endParaRPr lang="en-US" sz="1730" dirty="0"/>
          </a:p>
        </p:txBody>
      </p:sp>
      <p:sp>
        <p:nvSpPr>
          <p:cNvPr id="16" name="Text 8"/>
          <p:cNvSpPr/>
          <p:nvPr/>
        </p:nvSpPr>
        <p:spPr>
          <a:xfrm>
            <a:off x="1870076" y="5421213"/>
            <a:ext cx="5095379" cy="299243"/>
          </a:xfrm>
          <a:prstGeom prst="rect">
            <a:avLst/>
          </a:prstGeom>
          <a:noFill/>
        </p:spPr>
        <p:txBody>
          <a:bodyPr wrap="none" rtlCol="0" anchor="t"/>
          <a:lstStyle/>
          <a:p>
            <a:pPr>
              <a:lnSpc>
                <a:spcPts val="2355"/>
              </a:lnSpc>
            </a:pPr>
            <a:endParaRPr lang="en-US" sz="1470" dirty="0"/>
          </a:p>
        </p:txBody>
      </p:sp>
      <p:sp>
        <p:nvSpPr>
          <p:cNvPr id="4" name="TextBox 3"/>
          <p:cNvSpPr txBox="1"/>
          <p:nvPr/>
        </p:nvSpPr>
        <p:spPr>
          <a:xfrm>
            <a:off x="2773019" y="2628694"/>
            <a:ext cx="6505160" cy="1569660"/>
          </a:xfrm>
          <a:prstGeom prst="rect">
            <a:avLst/>
          </a:prstGeom>
          <a:noFill/>
        </p:spPr>
        <p:txBody>
          <a:bodyPr wrap="square" rtlCol="0">
            <a:spAutoFit/>
          </a:bodyPr>
          <a:lstStyle/>
          <a:p>
            <a:pPr algn="ctr"/>
            <a:r>
              <a:rPr lang="en-IN" sz="96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Thank</a:t>
            </a:r>
            <a:r>
              <a:rPr lang="en-IN" sz="9600" b="1" dirty="0">
                <a:effectLst>
                  <a:outerShdw blurRad="38100" dist="38100" dir="2700000" algn="tl">
                    <a:srgbClr val="000000">
                      <a:alpha val="43137"/>
                    </a:srgbClr>
                  </a:outerShdw>
                </a:effectLst>
              </a:rPr>
              <a:t> </a:t>
            </a:r>
            <a:r>
              <a:rPr lang="en-IN" sz="96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You</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TABLE_ENDDRAG_ORIGIN_RECT" val="238*57"/>
  <p:tag name="TABLE_ENDDRAG_RECT" val="624*396*238*57"/>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613</TotalTime>
  <Words>1978</Words>
  <Application>Microsoft Office PowerPoint</Application>
  <PresentationFormat>Widescreen</PresentationFormat>
  <Paragraphs>167</Paragraphs>
  <Slides>14</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Calibri</vt:lpstr>
      <vt:lpstr>Calibri Light</vt:lpstr>
      <vt:lpstr>Calisto MT</vt:lpstr>
      <vt:lpstr>Times New Roman</vt:lpstr>
      <vt:lpstr>Office Theme</vt:lpstr>
      <vt:lpstr>PowerPoint Presentation</vt:lpstr>
      <vt:lpstr>MAJOR PROJECT REVIEW 1-CONTENTS</vt:lpstr>
      <vt:lpstr>Abstract</vt:lpstr>
      <vt:lpstr>Introduction</vt:lpstr>
      <vt:lpstr>Literature Survey</vt:lpstr>
      <vt:lpstr>Problem Statement In Existing System</vt:lpstr>
      <vt:lpstr> Proposed System </vt:lpstr>
      <vt:lpstr>Objective</vt:lpstr>
      <vt:lpstr> Project domain  </vt:lpstr>
      <vt:lpstr>PowerPoint Presentation</vt:lpstr>
      <vt:lpstr>PowerPoint Presentation</vt:lpstr>
      <vt:lpstr>System Architecture </vt:lpstr>
      <vt:lpstr>Methodology</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sailu bandi</dc:creator>
  <cp:lastModifiedBy>sailu bandi</cp:lastModifiedBy>
  <cp:revision>4</cp:revision>
  <dcterms:created xsi:type="dcterms:W3CDTF">2025-08-06T19:53:03Z</dcterms:created>
  <dcterms:modified xsi:type="dcterms:W3CDTF">2025-08-17T13:36:47Z</dcterms:modified>
</cp:coreProperties>
</file>