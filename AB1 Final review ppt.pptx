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310" r:id="rId2"/>
    <p:sldId id="257" r:id="rId3"/>
    <p:sldId id="258" r:id="rId4"/>
    <p:sldId id="321" r:id="rId5"/>
    <p:sldId id="260" r:id="rId6"/>
    <p:sldId id="261" r:id="rId7"/>
    <p:sldId id="311" r:id="rId8"/>
    <p:sldId id="312" r:id="rId9"/>
    <p:sldId id="313" r:id="rId10"/>
    <p:sldId id="263" r:id="rId11"/>
    <p:sldId id="265" r:id="rId12"/>
    <p:sldId id="314" r:id="rId13"/>
    <p:sldId id="262" r:id="rId14"/>
    <p:sldId id="322" r:id="rId15"/>
    <p:sldId id="281" r:id="rId16"/>
    <p:sldId id="323" r:id="rId17"/>
    <p:sldId id="325" r:id="rId18"/>
    <p:sldId id="272" r:id="rId19"/>
    <p:sldId id="324" r:id="rId20"/>
    <p:sldId id="273" r:id="rId21"/>
    <p:sldId id="274" r:id="rId22"/>
    <p:sldId id="275" r:id="rId23"/>
    <p:sldId id="277" r:id="rId24"/>
    <p:sldId id="326" r:id="rId25"/>
    <p:sldId id="266" r:id="rId26"/>
    <p:sldId id="328" r:id="rId27"/>
    <p:sldId id="32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142846-1302-465A-A94C-8D171F3E1E62}"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D2C99F-B1CE-45B0-965C-475A9D97B0BA}" type="slidenum">
              <a:rPr lang="en-US" smtClean="0"/>
              <a:t>‹#›</a:t>
            </a:fld>
            <a:endParaRPr lang="en-US"/>
          </a:p>
        </p:txBody>
      </p:sp>
    </p:spTree>
    <p:extLst>
      <p:ext uri="{BB962C8B-B14F-4D97-AF65-F5344CB8AC3E}">
        <p14:creationId xmlns:p14="http://schemas.microsoft.com/office/powerpoint/2010/main" val="2896844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D2C99F-B1CE-45B0-965C-475A9D97B0BA}" type="slidenum">
              <a:rPr lang="en-US" smtClean="0"/>
              <a:t>27</a:t>
            </a:fld>
            <a:endParaRPr lang="en-US"/>
          </a:p>
        </p:txBody>
      </p:sp>
    </p:spTree>
    <p:extLst>
      <p:ext uri="{BB962C8B-B14F-4D97-AF65-F5344CB8AC3E}">
        <p14:creationId xmlns:p14="http://schemas.microsoft.com/office/powerpoint/2010/main" val="1889523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46E9A-8B86-998C-F8E5-4154218813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A988B-0381-1FD4-39F9-83517CC25F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553832-232D-83F4-E5F6-B9853616A901}"/>
              </a:ext>
            </a:extLst>
          </p:cNvPr>
          <p:cNvSpPr>
            <a:spLocks noGrp="1"/>
          </p:cNvSpPr>
          <p:nvPr>
            <p:ph type="dt" sz="half" idx="10"/>
          </p:nvPr>
        </p:nvSpPr>
        <p:spPr/>
        <p:txBody>
          <a:bodyPr/>
          <a:lstStyle/>
          <a:p>
            <a:fld id="{8706CAE6-D5C3-4460-95F4-D299A9BDCCDC}" type="datetimeFigureOut">
              <a:rPr lang="en-US" smtClean="0"/>
              <a:t>3/31/2026</a:t>
            </a:fld>
            <a:endParaRPr lang="en-US"/>
          </a:p>
        </p:txBody>
      </p:sp>
      <p:sp>
        <p:nvSpPr>
          <p:cNvPr id="5" name="Footer Placeholder 4">
            <a:extLst>
              <a:ext uri="{FF2B5EF4-FFF2-40B4-BE49-F238E27FC236}">
                <a16:creationId xmlns:a16="http://schemas.microsoft.com/office/drawing/2014/main" id="{23CEEF9A-BB80-7DC8-6B8F-4F70895929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8DC4C0-F944-38CA-C45B-391B3B4614AF}"/>
              </a:ext>
            </a:extLst>
          </p:cNvPr>
          <p:cNvSpPr>
            <a:spLocks noGrp="1"/>
          </p:cNvSpPr>
          <p:nvPr>
            <p:ph type="sldNum" sz="quarter" idx="12"/>
          </p:nvPr>
        </p:nvSpPr>
        <p:spPr/>
        <p:txBody>
          <a:bodyPr/>
          <a:lstStyle/>
          <a:p>
            <a:fld id="{3A2D770C-1510-4F5E-BC0C-A8F51E4D8BB6}" type="slidenum">
              <a:rPr lang="en-US" smtClean="0"/>
              <a:t>‹#›</a:t>
            </a:fld>
            <a:endParaRPr lang="en-US"/>
          </a:p>
        </p:txBody>
      </p:sp>
    </p:spTree>
    <p:extLst>
      <p:ext uri="{BB962C8B-B14F-4D97-AF65-F5344CB8AC3E}">
        <p14:creationId xmlns:p14="http://schemas.microsoft.com/office/powerpoint/2010/main" val="3211240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57941-7376-6CE6-8866-26D2A3B80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978AAA-82E1-4F74-8689-43AEDB077B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5EC59C-47F6-6E01-1D73-3709F0940280}"/>
              </a:ext>
            </a:extLst>
          </p:cNvPr>
          <p:cNvSpPr>
            <a:spLocks noGrp="1"/>
          </p:cNvSpPr>
          <p:nvPr>
            <p:ph type="dt" sz="half" idx="10"/>
          </p:nvPr>
        </p:nvSpPr>
        <p:spPr/>
        <p:txBody>
          <a:bodyPr/>
          <a:lstStyle/>
          <a:p>
            <a:fld id="{8706CAE6-D5C3-4460-95F4-D299A9BDCCDC}" type="datetimeFigureOut">
              <a:rPr lang="en-US" smtClean="0"/>
              <a:t>3/31/2026</a:t>
            </a:fld>
            <a:endParaRPr lang="en-US"/>
          </a:p>
        </p:txBody>
      </p:sp>
      <p:sp>
        <p:nvSpPr>
          <p:cNvPr id="5" name="Footer Placeholder 4">
            <a:extLst>
              <a:ext uri="{FF2B5EF4-FFF2-40B4-BE49-F238E27FC236}">
                <a16:creationId xmlns:a16="http://schemas.microsoft.com/office/drawing/2014/main" id="{7AD83A34-78B2-D21F-E063-37F72F35A9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FE4057-C6A7-0FFC-C3B4-4A71B3DC6EA0}"/>
              </a:ext>
            </a:extLst>
          </p:cNvPr>
          <p:cNvSpPr>
            <a:spLocks noGrp="1"/>
          </p:cNvSpPr>
          <p:nvPr>
            <p:ph type="sldNum" sz="quarter" idx="12"/>
          </p:nvPr>
        </p:nvSpPr>
        <p:spPr/>
        <p:txBody>
          <a:bodyPr/>
          <a:lstStyle/>
          <a:p>
            <a:fld id="{3A2D770C-1510-4F5E-BC0C-A8F51E4D8BB6}" type="slidenum">
              <a:rPr lang="en-US" smtClean="0"/>
              <a:t>‹#›</a:t>
            </a:fld>
            <a:endParaRPr lang="en-US"/>
          </a:p>
        </p:txBody>
      </p:sp>
    </p:spTree>
    <p:extLst>
      <p:ext uri="{BB962C8B-B14F-4D97-AF65-F5344CB8AC3E}">
        <p14:creationId xmlns:p14="http://schemas.microsoft.com/office/powerpoint/2010/main" val="4006229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47EBE-FA58-A53E-DE62-EF76D96B6B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E1B459-320B-87E3-EEC1-5E1791C28E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B0EFF4-F9A1-6B18-B37E-9236BAE84CBE}"/>
              </a:ext>
            </a:extLst>
          </p:cNvPr>
          <p:cNvSpPr>
            <a:spLocks noGrp="1"/>
          </p:cNvSpPr>
          <p:nvPr>
            <p:ph type="dt" sz="half" idx="10"/>
          </p:nvPr>
        </p:nvSpPr>
        <p:spPr/>
        <p:txBody>
          <a:bodyPr/>
          <a:lstStyle/>
          <a:p>
            <a:fld id="{8706CAE6-D5C3-4460-95F4-D299A9BDCCDC}" type="datetimeFigureOut">
              <a:rPr lang="en-US" smtClean="0"/>
              <a:t>3/31/2026</a:t>
            </a:fld>
            <a:endParaRPr lang="en-US"/>
          </a:p>
        </p:txBody>
      </p:sp>
      <p:sp>
        <p:nvSpPr>
          <p:cNvPr id="5" name="Footer Placeholder 4">
            <a:extLst>
              <a:ext uri="{FF2B5EF4-FFF2-40B4-BE49-F238E27FC236}">
                <a16:creationId xmlns:a16="http://schemas.microsoft.com/office/drawing/2014/main" id="{00383B0C-AA01-9F22-94EE-A3147C44F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155D1E-3FFA-5A71-F297-409EE5998B61}"/>
              </a:ext>
            </a:extLst>
          </p:cNvPr>
          <p:cNvSpPr>
            <a:spLocks noGrp="1"/>
          </p:cNvSpPr>
          <p:nvPr>
            <p:ph type="sldNum" sz="quarter" idx="12"/>
          </p:nvPr>
        </p:nvSpPr>
        <p:spPr/>
        <p:txBody>
          <a:bodyPr/>
          <a:lstStyle/>
          <a:p>
            <a:fld id="{3A2D770C-1510-4F5E-BC0C-A8F51E4D8BB6}" type="slidenum">
              <a:rPr lang="en-US" smtClean="0"/>
              <a:t>‹#›</a:t>
            </a:fld>
            <a:endParaRPr lang="en-US"/>
          </a:p>
        </p:txBody>
      </p:sp>
    </p:spTree>
    <p:extLst>
      <p:ext uri="{BB962C8B-B14F-4D97-AF65-F5344CB8AC3E}">
        <p14:creationId xmlns:p14="http://schemas.microsoft.com/office/powerpoint/2010/main" val="3162897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3BB09-3E7E-427B-1E5F-3E64952287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6F8AEE-BDA3-C7B2-3728-F93D0F69F4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6395C8-8A70-D1DF-26BE-6DB5247A56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A9DA62-1164-6452-4480-4243B36D3455}"/>
              </a:ext>
            </a:extLst>
          </p:cNvPr>
          <p:cNvSpPr>
            <a:spLocks noGrp="1"/>
          </p:cNvSpPr>
          <p:nvPr>
            <p:ph type="dt" sz="half" idx="10"/>
          </p:nvPr>
        </p:nvSpPr>
        <p:spPr/>
        <p:txBody>
          <a:bodyPr/>
          <a:lstStyle/>
          <a:p>
            <a:fld id="{8706CAE6-D5C3-4460-95F4-D299A9BDCCDC}" type="datetimeFigureOut">
              <a:rPr lang="en-US" smtClean="0"/>
              <a:t>3/31/2026</a:t>
            </a:fld>
            <a:endParaRPr lang="en-US"/>
          </a:p>
        </p:txBody>
      </p:sp>
      <p:sp>
        <p:nvSpPr>
          <p:cNvPr id="6" name="Footer Placeholder 5">
            <a:extLst>
              <a:ext uri="{FF2B5EF4-FFF2-40B4-BE49-F238E27FC236}">
                <a16:creationId xmlns:a16="http://schemas.microsoft.com/office/drawing/2014/main" id="{1E650541-F4B9-BEE0-6EEB-B7C926C6FD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8F6D42-B47C-C74B-1E4A-C046EFBBDF12}"/>
              </a:ext>
            </a:extLst>
          </p:cNvPr>
          <p:cNvSpPr>
            <a:spLocks noGrp="1"/>
          </p:cNvSpPr>
          <p:nvPr>
            <p:ph type="sldNum" sz="quarter" idx="12"/>
          </p:nvPr>
        </p:nvSpPr>
        <p:spPr/>
        <p:txBody>
          <a:bodyPr/>
          <a:lstStyle/>
          <a:p>
            <a:fld id="{3A2D770C-1510-4F5E-BC0C-A8F51E4D8BB6}" type="slidenum">
              <a:rPr lang="en-US" smtClean="0"/>
              <a:t>‹#›</a:t>
            </a:fld>
            <a:endParaRPr lang="en-US"/>
          </a:p>
        </p:txBody>
      </p:sp>
    </p:spTree>
    <p:extLst>
      <p:ext uri="{BB962C8B-B14F-4D97-AF65-F5344CB8AC3E}">
        <p14:creationId xmlns:p14="http://schemas.microsoft.com/office/powerpoint/2010/main" val="2801914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7D9FC-763C-4F30-C2E5-B6653D1B62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A7873C-9F8D-7DF1-D6D3-A529A17310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E43AB3-E762-5693-1608-891665F099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61889B-C37E-2250-C9C3-6EA0802250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2CE30C-C4DE-9130-CBA9-19C72B89BF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9A51DB-DD26-3218-B30A-A59A0528E275}"/>
              </a:ext>
            </a:extLst>
          </p:cNvPr>
          <p:cNvSpPr>
            <a:spLocks noGrp="1"/>
          </p:cNvSpPr>
          <p:nvPr>
            <p:ph type="dt" sz="half" idx="10"/>
          </p:nvPr>
        </p:nvSpPr>
        <p:spPr/>
        <p:txBody>
          <a:bodyPr/>
          <a:lstStyle/>
          <a:p>
            <a:fld id="{8706CAE6-D5C3-4460-95F4-D299A9BDCCDC}" type="datetimeFigureOut">
              <a:rPr lang="en-US" smtClean="0"/>
              <a:t>3/31/2026</a:t>
            </a:fld>
            <a:endParaRPr lang="en-US"/>
          </a:p>
        </p:txBody>
      </p:sp>
      <p:sp>
        <p:nvSpPr>
          <p:cNvPr id="8" name="Footer Placeholder 7">
            <a:extLst>
              <a:ext uri="{FF2B5EF4-FFF2-40B4-BE49-F238E27FC236}">
                <a16:creationId xmlns:a16="http://schemas.microsoft.com/office/drawing/2014/main" id="{910A7A61-A90D-838E-DBB1-55CB36E7F2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D1F743-9833-C038-90F6-ABCDD8B52D5D}"/>
              </a:ext>
            </a:extLst>
          </p:cNvPr>
          <p:cNvSpPr>
            <a:spLocks noGrp="1"/>
          </p:cNvSpPr>
          <p:nvPr>
            <p:ph type="sldNum" sz="quarter" idx="12"/>
          </p:nvPr>
        </p:nvSpPr>
        <p:spPr/>
        <p:txBody>
          <a:bodyPr/>
          <a:lstStyle/>
          <a:p>
            <a:fld id="{3A2D770C-1510-4F5E-BC0C-A8F51E4D8BB6}" type="slidenum">
              <a:rPr lang="en-US" smtClean="0"/>
              <a:t>‹#›</a:t>
            </a:fld>
            <a:endParaRPr lang="en-US"/>
          </a:p>
        </p:txBody>
      </p:sp>
    </p:spTree>
    <p:extLst>
      <p:ext uri="{BB962C8B-B14F-4D97-AF65-F5344CB8AC3E}">
        <p14:creationId xmlns:p14="http://schemas.microsoft.com/office/powerpoint/2010/main" val="2579088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74E3A-D196-879D-AC66-4BA897545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84E520-B966-2625-D0D6-616FBA0FBCC4}"/>
              </a:ext>
            </a:extLst>
          </p:cNvPr>
          <p:cNvSpPr>
            <a:spLocks noGrp="1"/>
          </p:cNvSpPr>
          <p:nvPr>
            <p:ph type="dt" sz="half" idx="10"/>
          </p:nvPr>
        </p:nvSpPr>
        <p:spPr/>
        <p:txBody>
          <a:bodyPr/>
          <a:lstStyle/>
          <a:p>
            <a:fld id="{8706CAE6-D5C3-4460-95F4-D299A9BDCCDC}" type="datetimeFigureOut">
              <a:rPr lang="en-US" smtClean="0"/>
              <a:t>3/31/2026</a:t>
            </a:fld>
            <a:endParaRPr lang="en-US"/>
          </a:p>
        </p:txBody>
      </p:sp>
      <p:sp>
        <p:nvSpPr>
          <p:cNvPr id="4" name="Footer Placeholder 3">
            <a:extLst>
              <a:ext uri="{FF2B5EF4-FFF2-40B4-BE49-F238E27FC236}">
                <a16:creationId xmlns:a16="http://schemas.microsoft.com/office/drawing/2014/main" id="{C05040E2-8742-5B6D-E4B8-1ABA70ABD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29FA6D6-1B3E-C318-B892-46099A23314A}"/>
              </a:ext>
            </a:extLst>
          </p:cNvPr>
          <p:cNvSpPr>
            <a:spLocks noGrp="1"/>
          </p:cNvSpPr>
          <p:nvPr>
            <p:ph type="sldNum" sz="quarter" idx="12"/>
          </p:nvPr>
        </p:nvSpPr>
        <p:spPr/>
        <p:txBody>
          <a:bodyPr/>
          <a:lstStyle/>
          <a:p>
            <a:fld id="{3A2D770C-1510-4F5E-BC0C-A8F51E4D8BB6}" type="slidenum">
              <a:rPr lang="en-US" smtClean="0"/>
              <a:t>‹#›</a:t>
            </a:fld>
            <a:endParaRPr lang="en-US"/>
          </a:p>
        </p:txBody>
      </p:sp>
    </p:spTree>
    <p:extLst>
      <p:ext uri="{BB962C8B-B14F-4D97-AF65-F5344CB8AC3E}">
        <p14:creationId xmlns:p14="http://schemas.microsoft.com/office/powerpoint/2010/main" val="1242639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180485-7A71-55DE-5A10-138296C09AEF}"/>
              </a:ext>
            </a:extLst>
          </p:cNvPr>
          <p:cNvSpPr>
            <a:spLocks noGrp="1"/>
          </p:cNvSpPr>
          <p:nvPr>
            <p:ph type="dt" sz="half" idx="10"/>
          </p:nvPr>
        </p:nvSpPr>
        <p:spPr/>
        <p:txBody>
          <a:bodyPr/>
          <a:lstStyle/>
          <a:p>
            <a:fld id="{8706CAE6-D5C3-4460-95F4-D299A9BDCCDC}" type="datetimeFigureOut">
              <a:rPr lang="en-US" smtClean="0"/>
              <a:t>3/31/2026</a:t>
            </a:fld>
            <a:endParaRPr lang="en-US"/>
          </a:p>
        </p:txBody>
      </p:sp>
      <p:sp>
        <p:nvSpPr>
          <p:cNvPr id="3" name="Footer Placeholder 2">
            <a:extLst>
              <a:ext uri="{FF2B5EF4-FFF2-40B4-BE49-F238E27FC236}">
                <a16:creationId xmlns:a16="http://schemas.microsoft.com/office/drawing/2014/main" id="{91EDB66D-A3CD-2636-E037-59BC49E799C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5495BF-1483-5F07-AA77-9207A890FF96}"/>
              </a:ext>
            </a:extLst>
          </p:cNvPr>
          <p:cNvSpPr>
            <a:spLocks noGrp="1"/>
          </p:cNvSpPr>
          <p:nvPr>
            <p:ph type="sldNum" sz="quarter" idx="12"/>
          </p:nvPr>
        </p:nvSpPr>
        <p:spPr/>
        <p:txBody>
          <a:bodyPr/>
          <a:lstStyle/>
          <a:p>
            <a:fld id="{3A2D770C-1510-4F5E-BC0C-A8F51E4D8BB6}" type="slidenum">
              <a:rPr lang="en-US" smtClean="0"/>
              <a:t>‹#›</a:t>
            </a:fld>
            <a:endParaRPr lang="en-US"/>
          </a:p>
        </p:txBody>
      </p:sp>
    </p:spTree>
    <p:extLst>
      <p:ext uri="{BB962C8B-B14F-4D97-AF65-F5344CB8AC3E}">
        <p14:creationId xmlns:p14="http://schemas.microsoft.com/office/powerpoint/2010/main" val="3243842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79FAC-7916-2CBD-B940-2679A2B20C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400DD75-9251-25A0-61E0-4A293EF592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4CE4F9-2FA0-F6E7-19D2-73923DE2D4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40B2B6-F627-99B7-15E3-BD0AC86F2D7D}"/>
              </a:ext>
            </a:extLst>
          </p:cNvPr>
          <p:cNvSpPr>
            <a:spLocks noGrp="1"/>
          </p:cNvSpPr>
          <p:nvPr>
            <p:ph type="dt" sz="half" idx="10"/>
          </p:nvPr>
        </p:nvSpPr>
        <p:spPr/>
        <p:txBody>
          <a:bodyPr/>
          <a:lstStyle/>
          <a:p>
            <a:fld id="{8706CAE6-D5C3-4460-95F4-D299A9BDCCDC}" type="datetimeFigureOut">
              <a:rPr lang="en-US" smtClean="0"/>
              <a:t>3/31/2026</a:t>
            </a:fld>
            <a:endParaRPr lang="en-US"/>
          </a:p>
        </p:txBody>
      </p:sp>
      <p:sp>
        <p:nvSpPr>
          <p:cNvPr id="6" name="Footer Placeholder 5">
            <a:extLst>
              <a:ext uri="{FF2B5EF4-FFF2-40B4-BE49-F238E27FC236}">
                <a16:creationId xmlns:a16="http://schemas.microsoft.com/office/drawing/2014/main" id="{D4036E26-6D2D-A32E-14C1-10E3A8063F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C2CDC2-A768-71FE-7E5E-5B4FBA1A3AB0}"/>
              </a:ext>
            </a:extLst>
          </p:cNvPr>
          <p:cNvSpPr>
            <a:spLocks noGrp="1"/>
          </p:cNvSpPr>
          <p:nvPr>
            <p:ph type="sldNum" sz="quarter" idx="12"/>
          </p:nvPr>
        </p:nvSpPr>
        <p:spPr/>
        <p:txBody>
          <a:bodyPr/>
          <a:lstStyle/>
          <a:p>
            <a:fld id="{3A2D770C-1510-4F5E-BC0C-A8F51E4D8BB6}" type="slidenum">
              <a:rPr lang="en-US" smtClean="0"/>
              <a:t>‹#›</a:t>
            </a:fld>
            <a:endParaRPr lang="en-US"/>
          </a:p>
        </p:txBody>
      </p:sp>
    </p:spTree>
    <p:extLst>
      <p:ext uri="{BB962C8B-B14F-4D97-AF65-F5344CB8AC3E}">
        <p14:creationId xmlns:p14="http://schemas.microsoft.com/office/powerpoint/2010/main" val="1751793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91B88-3562-4A6F-F764-F71547FEE3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16791C-2DE3-C3EC-E0C0-6CA2B16BE2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48393C-4AEE-4FAE-F254-7BFA9AA93C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CAB8E1-3488-169E-6E6B-EFA55F0603BD}"/>
              </a:ext>
            </a:extLst>
          </p:cNvPr>
          <p:cNvSpPr>
            <a:spLocks noGrp="1"/>
          </p:cNvSpPr>
          <p:nvPr>
            <p:ph type="dt" sz="half" idx="10"/>
          </p:nvPr>
        </p:nvSpPr>
        <p:spPr/>
        <p:txBody>
          <a:bodyPr/>
          <a:lstStyle/>
          <a:p>
            <a:fld id="{8706CAE6-D5C3-4460-95F4-D299A9BDCCDC}" type="datetimeFigureOut">
              <a:rPr lang="en-US" smtClean="0"/>
              <a:t>3/31/2026</a:t>
            </a:fld>
            <a:endParaRPr lang="en-US"/>
          </a:p>
        </p:txBody>
      </p:sp>
      <p:sp>
        <p:nvSpPr>
          <p:cNvPr id="6" name="Footer Placeholder 5">
            <a:extLst>
              <a:ext uri="{FF2B5EF4-FFF2-40B4-BE49-F238E27FC236}">
                <a16:creationId xmlns:a16="http://schemas.microsoft.com/office/drawing/2014/main" id="{8222FCAB-0DE5-6293-1408-1A50AD356A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9160A9-E6BF-3556-6F30-E47469E77FB0}"/>
              </a:ext>
            </a:extLst>
          </p:cNvPr>
          <p:cNvSpPr>
            <a:spLocks noGrp="1"/>
          </p:cNvSpPr>
          <p:nvPr>
            <p:ph type="sldNum" sz="quarter" idx="12"/>
          </p:nvPr>
        </p:nvSpPr>
        <p:spPr/>
        <p:txBody>
          <a:bodyPr/>
          <a:lstStyle/>
          <a:p>
            <a:fld id="{3A2D770C-1510-4F5E-BC0C-A8F51E4D8BB6}" type="slidenum">
              <a:rPr lang="en-US" smtClean="0"/>
              <a:t>‹#›</a:t>
            </a:fld>
            <a:endParaRPr lang="en-US"/>
          </a:p>
        </p:txBody>
      </p:sp>
    </p:spTree>
    <p:extLst>
      <p:ext uri="{BB962C8B-B14F-4D97-AF65-F5344CB8AC3E}">
        <p14:creationId xmlns:p14="http://schemas.microsoft.com/office/powerpoint/2010/main" val="3302911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8CC5A-4A0F-B661-A9B2-3E110A4328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FCD800-3F32-D539-DB13-7CCDD555FA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AEAF60-021E-06BD-B958-4B45833CED11}"/>
              </a:ext>
            </a:extLst>
          </p:cNvPr>
          <p:cNvSpPr>
            <a:spLocks noGrp="1"/>
          </p:cNvSpPr>
          <p:nvPr>
            <p:ph type="dt" sz="half" idx="10"/>
          </p:nvPr>
        </p:nvSpPr>
        <p:spPr/>
        <p:txBody>
          <a:bodyPr/>
          <a:lstStyle/>
          <a:p>
            <a:fld id="{8706CAE6-D5C3-4460-95F4-D299A9BDCCDC}" type="datetimeFigureOut">
              <a:rPr lang="en-US" smtClean="0"/>
              <a:t>3/31/2026</a:t>
            </a:fld>
            <a:endParaRPr lang="en-US"/>
          </a:p>
        </p:txBody>
      </p:sp>
      <p:sp>
        <p:nvSpPr>
          <p:cNvPr id="5" name="Footer Placeholder 4">
            <a:extLst>
              <a:ext uri="{FF2B5EF4-FFF2-40B4-BE49-F238E27FC236}">
                <a16:creationId xmlns:a16="http://schemas.microsoft.com/office/drawing/2014/main" id="{7BC7E7F6-2D4C-DFF2-D936-031002D761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1B2AC-8C67-1087-C708-DE9BB7A93A3F}"/>
              </a:ext>
            </a:extLst>
          </p:cNvPr>
          <p:cNvSpPr>
            <a:spLocks noGrp="1"/>
          </p:cNvSpPr>
          <p:nvPr>
            <p:ph type="sldNum" sz="quarter" idx="12"/>
          </p:nvPr>
        </p:nvSpPr>
        <p:spPr/>
        <p:txBody>
          <a:bodyPr/>
          <a:lstStyle/>
          <a:p>
            <a:fld id="{3A2D770C-1510-4F5E-BC0C-A8F51E4D8BB6}" type="slidenum">
              <a:rPr lang="en-US" smtClean="0"/>
              <a:t>‹#›</a:t>
            </a:fld>
            <a:endParaRPr lang="en-US"/>
          </a:p>
        </p:txBody>
      </p:sp>
    </p:spTree>
    <p:extLst>
      <p:ext uri="{BB962C8B-B14F-4D97-AF65-F5344CB8AC3E}">
        <p14:creationId xmlns:p14="http://schemas.microsoft.com/office/powerpoint/2010/main" val="866761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0B0791-72CF-BADC-1310-FBB5DACC1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C22D61-1706-D36A-1470-34F1854245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8F693-FE78-1B36-BE4D-C7597FC4D8E2}"/>
              </a:ext>
            </a:extLst>
          </p:cNvPr>
          <p:cNvSpPr>
            <a:spLocks noGrp="1"/>
          </p:cNvSpPr>
          <p:nvPr>
            <p:ph type="dt" sz="half" idx="10"/>
          </p:nvPr>
        </p:nvSpPr>
        <p:spPr/>
        <p:txBody>
          <a:bodyPr/>
          <a:lstStyle/>
          <a:p>
            <a:fld id="{8706CAE6-D5C3-4460-95F4-D299A9BDCCDC}" type="datetimeFigureOut">
              <a:rPr lang="en-US" smtClean="0"/>
              <a:t>3/31/2026</a:t>
            </a:fld>
            <a:endParaRPr lang="en-US"/>
          </a:p>
        </p:txBody>
      </p:sp>
      <p:sp>
        <p:nvSpPr>
          <p:cNvPr id="5" name="Footer Placeholder 4">
            <a:extLst>
              <a:ext uri="{FF2B5EF4-FFF2-40B4-BE49-F238E27FC236}">
                <a16:creationId xmlns:a16="http://schemas.microsoft.com/office/drawing/2014/main" id="{8EF8C2D4-0886-7856-3784-8BF71F1C21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7ADBD1-FF06-DEF4-6193-300550475579}"/>
              </a:ext>
            </a:extLst>
          </p:cNvPr>
          <p:cNvSpPr>
            <a:spLocks noGrp="1"/>
          </p:cNvSpPr>
          <p:nvPr>
            <p:ph type="sldNum" sz="quarter" idx="12"/>
          </p:nvPr>
        </p:nvSpPr>
        <p:spPr/>
        <p:txBody>
          <a:bodyPr/>
          <a:lstStyle/>
          <a:p>
            <a:fld id="{3A2D770C-1510-4F5E-BC0C-A8F51E4D8BB6}" type="slidenum">
              <a:rPr lang="en-US" smtClean="0"/>
              <a:t>‹#›</a:t>
            </a:fld>
            <a:endParaRPr lang="en-US"/>
          </a:p>
        </p:txBody>
      </p:sp>
    </p:spTree>
    <p:extLst>
      <p:ext uri="{BB962C8B-B14F-4D97-AF65-F5344CB8AC3E}">
        <p14:creationId xmlns:p14="http://schemas.microsoft.com/office/powerpoint/2010/main" val="3830648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C040FF-7318-0B04-DF44-1DC64F8B41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B710FAB-0D92-8B56-E399-3B3BB7CAFF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D7E1D3-8B4D-4F12-9C86-243244A974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06CAE6-D5C3-4460-95F4-D299A9BDCCDC}" type="datetimeFigureOut">
              <a:rPr lang="en-US" smtClean="0"/>
              <a:t>3/31/2026</a:t>
            </a:fld>
            <a:endParaRPr lang="en-US"/>
          </a:p>
        </p:txBody>
      </p:sp>
      <p:sp>
        <p:nvSpPr>
          <p:cNvPr id="5" name="Footer Placeholder 4">
            <a:extLst>
              <a:ext uri="{FF2B5EF4-FFF2-40B4-BE49-F238E27FC236}">
                <a16:creationId xmlns:a16="http://schemas.microsoft.com/office/drawing/2014/main" id="{AE942512-9BC4-04E0-A327-FFB89920FC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C51ECE-00BA-AB76-1940-478A91B6B4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D770C-1510-4F5E-BC0C-A8F51E4D8BB6}" type="slidenum">
              <a:rPr lang="en-US" smtClean="0"/>
              <a:t>‹#›</a:t>
            </a:fld>
            <a:endParaRPr lang="en-US"/>
          </a:p>
        </p:txBody>
      </p:sp>
    </p:spTree>
    <p:extLst>
      <p:ext uri="{BB962C8B-B14F-4D97-AF65-F5344CB8AC3E}">
        <p14:creationId xmlns:p14="http://schemas.microsoft.com/office/powerpoint/2010/main" val="693114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1.webp"/><Relationship Id="rId13" Type="http://schemas.openxmlformats.org/officeDocument/2006/relationships/image" Target="../media/image15.jpeg"/><Relationship Id="rId3" Type="http://schemas.openxmlformats.org/officeDocument/2006/relationships/image" Target="../media/image6.jpeg"/><Relationship Id="rId7" Type="http://schemas.openxmlformats.org/officeDocument/2006/relationships/image" Target="../media/image10.png"/><Relationship Id="rId12" Type="http://schemas.openxmlformats.org/officeDocument/2006/relationships/hyperlink" Target="https://svgsilh.com/image/1275780.html" TargetMode="External"/><Relationship Id="rId2" Type="http://schemas.openxmlformats.org/officeDocument/2006/relationships/image" Target="../media/image5.gif"/><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svg"/><Relationship Id="rId5" Type="http://schemas.openxmlformats.org/officeDocument/2006/relationships/image" Target="../media/image8.png"/><Relationship Id="rId10" Type="http://schemas.openxmlformats.org/officeDocument/2006/relationships/image" Target="../media/image13.jpe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csedeo2\Desktop\Cerficate 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 y="0"/>
            <a:ext cx="1221902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ounded Rectangle 6"/>
          <p:cNvSpPr/>
          <p:nvPr/>
        </p:nvSpPr>
        <p:spPr>
          <a:xfrm>
            <a:off x="1117600" y="2895600"/>
            <a:ext cx="10160000" cy="990600"/>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fontAlgn="auto">
              <a:lnSpc>
                <a:spcPct val="150000"/>
              </a:lnSpc>
              <a:spcBef>
                <a:spcPts val="0"/>
              </a:spcBef>
              <a:spcAft>
                <a:spcPts val="0"/>
              </a:spcAft>
              <a:defRPr/>
            </a:pPr>
            <a:r>
              <a:rPr lang="en-US" b="1" dirty="0"/>
              <a:t>Batch No: AB1</a:t>
            </a:r>
          </a:p>
          <a:p>
            <a:pPr fontAlgn="auto">
              <a:lnSpc>
                <a:spcPct val="150000"/>
              </a:lnSpc>
              <a:spcBef>
                <a:spcPts val="0"/>
              </a:spcBef>
              <a:spcAft>
                <a:spcPts val="0"/>
              </a:spcAft>
              <a:defRPr/>
            </a:pPr>
            <a:r>
              <a:rPr lang="en-US" b="1" dirty="0"/>
              <a:t>Project Title: </a:t>
            </a:r>
            <a:r>
              <a:rPr lang="en-US" altLang="en-US" b="1" dirty="0"/>
              <a:t>Talk2Invoice: AI-Powered Voice Assistant for Food Ordering Using Whisper and DistilBERT</a:t>
            </a:r>
          </a:p>
        </p:txBody>
      </p:sp>
      <p:graphicFrame>
        <p:nvGraphicFramePr>
          <p:cNvPr id="15" name="Table 14"/>
          <p:cNvGraphicFramePr>
            <a:graphicFrameLocks noGrp="1"/>
          </p:cNvGraphicFramePr>
          <p:nvPr>
            <p:custDataLst>
              <p:tags r:id="rId1"/>
            </p:custDataLst>
          </p:nvPr>
        </p:nvGraphicFramePr>
        <p:xfrm>
          <a:off x="7924800" y="5029200"/>
          <a:ext cx="3025140" cy="975360"/>
        </p:xfrm>
        <a:graphic>
          <a:graphicData uri="http://schemas.openxmlformats.org/drawingml/2006/table">
            <a:tbl>
              <a:tblPr firstRow="1" bandRow="1">
                <a:tableStyleId>{08FB837D-C827-4EFA-A057-4D05807E0F7C}</a:tableStyleId>
              </a:tblPr>
              <a:tblGrid>
                <a:gridCol w="3025140">
                  <a:extLst>
                    <a:ext uri="{9D8B030D-6E8A-4147-A177-3AD203B41FA5}">
                      <a16:colId xmlns:a16="http://schemas.microsoft.com/office/drawing/2014/main" val="20000"/>
                    </a:ext>
                  </a:extLst>
                </a:gridCol>
              </a:tblGrid>
              <a:tr h="335280">
                <a:tc>
                  <a:txBody>
                    <a:bodyPr/>
                    <a:lstStyle/>
                    <a:p>
                      <a:pPr algn="ctr"/>
                      <a:r>
                        <a:rPr lang="en-US" sz="1600" dirty="0">
                          <a:solidFill>
                            <a:schemeClr val="tx1">
                              <a:lumMod val="95000"/>
                              <a:lumOff val="5000"/>
                            </a:schemeClr>
                          </a:solidFill>
                        </a:rPr>
                        <a:t>Project Guide:</a:t>
                      </a:r>
                    </a:p>
                  </a:txBody>
                  <a:tcPr marL="121920" marR="121920">
                    <a:solidFill>
                      <a:srgbClr val="00B0F0"/>
                    </a:solidFill>
                  </a:tcPr>
                </a:tc>
                <a:extLst>
                  <a:ext uri="{0D108BD9-81ED-4DB2-BD59-A6C34878D82A}">
                    <a16:rowId xmlns:a16="http://schemas.microsoft.com/office/drawing/2014/main" val="10000"/>
                  </a:ext>
                </a:extLst>
              </a:tr>
              <a:tr h="640080">
                <a:tc>
                  <a:txBody>
                    <a:bodyPr/>
                    <a:lstStyle/>
                    <a:p>
                      <a:pPr algn="ctr"/>
                      <a:r>
                        <a:rPr lang="en-US" altLang="en-US" sz="1800" b="1" dirty="0">
                          <a:sym typeface="+mn-ea"/>
                        </a:rPr>
                        <a:t>Dr. Aswani Kumar E</a:t>
                      </a:r>
                      <a:endParaRPr lang="en-US" altLang="en-US" sz="1800" b="1" dirty="0"/>
                    </a:p>
                    <a:p>
                      <a:pPr algn="ctr"/>
                      <a:r>
                        <a:rPr lang="en-US" b="1" dirty="0"/>
                        <a:t> </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t="100000" r="100000"/>
                      </a:path>
                      <a:tileRect l="-100000" b="-100000"/>
                    </a:gradFill>
                  </a:tcPr>
                </a:tc>
                <a:extLst>
                  <a:ext uri="{0D108BD9-81ED-4DB2-BD59-A6C34878D82A}">
                    <a16:rowId xmlns:a16="http://schemas.microsoft.com/office/drawing/2014/main" val="10001"/>
                  </a:ext>
                </a:extLst>
              </a:tr>
            </a:tbl>
          </a:graphicData>
        </a:graphic>
      </p:graphicFrame>
      <p:sp>
        <p:nvSpPr>
          <p:cNvPr id="2054" name="Rectangle 15"/>
          <p:cNvSpPr>
            <a:spLocks noChangeArrowheads="1"/>
          </p:cNvSpPr>
          <p:nvPr/>
        </p:nvSpPr>
        <p:spPr bwMode="auto">
          <a:xfrm>
            <a:off x="4102100" y="2209800"/>
            <a:ext cx="59563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2400" b="1" dirty="0">
                <a:solidFill>
                  <a:srgbClr val="0070C0"/>
                </a:solidFill>
                <a:latin typeface="Calisto MT" panose="02040603050505030304" pitchFamily="18" charset="0"/>
                <a:sym typeface="+mn-ea"/>
              </a:rPr>
              <a:t>         External Project Viva-Voice</a:t>
            </a:r>
          </a:p>
          <a:p>
            <a:pPr eaLnBrk="1" hangingPunct="1"/>
            <a:endParaRPr lang="en-US" altLang="en-US" sz="2400" dirty="0">
              <a:latin typeface="Calibri" panose="020F0502020204030204" pitchFamily="34" charset="0"/>
            </a:endParaRPr>
          </a:p>
        </p:txBody>
      </p:sp>
      <p:pic>
        <p:nvPicPr>
          <p:cNvPr id="2055"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4425" y="1701800"/>
            <a:ext cx="846772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e 1"/>
          <p:cNvGraphicFramePr>
            <a:graphicFrameLocks noGrp="1"/>
          </p:cNvGraphicFramePr>
          <p:nvPr>
            <p:extLst>
              <p:ext uri="{D42A27DB-BD31-4B8C-83A1-F6EECF244321}">
                <p14:modId xmlns:p14="http://schemas.microsoft.com/office/powerpoint/2010/main" val="4118149533"/>
              </p:ext>
            </p:extLst>
          </p:nvPr>
        </p:nvGraphicFramePr>
        <p:xfrm>
          <a:off x="914400" y="4036060"/>
          <a:ext cx="6497955" cy="2329815"/>
        </p:xfrm>
        <a:graphic>
          <a:graphicData uri="http://schemas.openxmlformats.org/drawingml/2006/table">
            <a:tbl>
              <a:tblPr firstRow="1" bandRow="1">
                <a:tableStyleId>{08FB837D-C827-4EFA-A057-4D05807E0F7C}</a:tableStyleId>
              </a:tblPr>
              <a:tblGrid>
                <a:gridCol w="958215">
                  <a:extLst>
                    <a:ext uri="{9D8B030D-6E8A-4147-A177-3AD203B41FA5}">
                      <a16:colId xmlns:a16="http://schemas.microsoft.com/office/drawing/2014/main" val="20000"/>
                    </a:ext>
                  </a:extLst>
                </a:gridCol>
                <a:gridCol w="2140585">
                  <a:extLst>
                    <a:ext uri="{9D8B030D-6E8A-4147-A177-3AD203B41FA5}">
                      <a16:colId xmlns:a16="http://schemas.microsoft.com/office/drawing/2014/main" val="20001"/>
                    </a:ext>
                  </a:extLst>
                </a:gridCol>
                <a:gridCol w="3399155">
                  <a:extLst>
                    <a:ext uri="{9D8B030D-6E8A-4147-A177-3AD203B41FA5}">
                      <a16:colId xmlns:a16="http://schemas.microsoft.com/office/drawing/2014/main" val="20002"/>
                    </a:ext>
                  </a:extLst>
                </a:gridCol>
              </a:tblGrid>
              <a:tr h="352425">
                <a:tc>
                  <a:txBody>
                    <a:bodyPr/>
                    <a:lstStyle/>
                    <a:p>
                      <a:pPr algn="ctr"/>
                      <a:r>
                        <a:rPr lang="en-US" sz="1400" b="1" dirty="0" err="1">
                          <a:solidFill>
                            <a:schemeClr val="tx1">
                              <a:lumMod val="95000"/>
                              <a:lumOff val="5000"/>
                            </a:schemeClr>
                          </a:solidFill>
                          <a:latin typeface="Calibri" panose="020F0502020204030204" pitchFamily="34" charset="0"/>
                          <a:cs typeface="Calibri" panose="020F0502020204030204" pitchFamily="34" charset="0"/>
                        </a:rPr>
                        <a:t>S.No</a:t>
                      </a:r>
                      <a:endParaRPr lang="en-US" sz="1400" b="1" i="0" dirty="0" err="1">
                        <a:solidFill>
                          <a:schemeClr val="tx1">
                            <a:lumMod val="95000"/>
                            <a:lumOff val="5000"/>
                          </a:schemeClr>
                        </a:solidFill>
                        <a:latin typeface="Calibri" panose="020F0502020204030204" pitchFamily="34" charset="0"/>
                        <a:cs typeface="Calibri" panose="020F0502020204030204" pitchFamily="34" charset="0"/>
                      </a:endParaRPr>
                    </a:p>
                  </a:txBody>
                  <a:tcPr marL="121920" marR="121920">
                    <a:solidFill>
                      <a:srgbClr val="00B0F0"/>
                    </a:solidFill>
                  </a:tcPr>
                </a:tc>
                <a:tc>
                  <a:txBody>
                    <a:bodyPr/>
                    <a:lstStyle/>
                    <a:p>
                      <a:pPr algn="ctr"/>
                      <a:r>
                        <a:rPr lang="en-US" sz="1400" b="1" dirty="0">
                          <a:solidFill>
                            <a:schemeClr val="tx1">
                              <a:lumMod val="95000"/>
                              <a:lumOff val="5000"/>
                            </a:schemeClr>
                          </a:solidFill>
                          <a:latin typeface="Calibri" panose="020F0502020204030204" pitchFamily="34" charset="0"/>
                          <a:cs typeface="Calibri" panose="020F0502020204030204" pitchFamily="34" charset="0"/>
                        </a:rPr>
                        <a:t>Reg.No</a:t>
                      </a:r>
                      <a:endParaRPr lang="en-US" sz="1400" b="1" i="0" dirty="0">
                        <a:solidFill>
                          <a:schemeClr val="tx1">
                            <a:lumMod val="95000"/>
                            <a:lumOff val="5000"/>
                          </a:schemeClr>
                        </a:solidFill>
                        <a:latin typeface="Calibri" panose="020F0502020204030204" pitchFamily="34" charset="0"/>
                        <a:cs typeface="Calibri" panose="020F0502020204030204" pitchFamily="34" charset="0"/>
                      </a:endParaRPr>
                    </a:p>
                  </a:txBody>
                  <a:tcPr marL="121920" marR="121920">
                    <a:solidFill>
                      <a:srgbClr val="00B0F0"/>
                    </a:solidFill>
                  </a:tcPr>
                </a:tc>
                <a:tc>
                  <a:txBody>
                    <a:bodyPr/>
                    <a:lstStyle/>
                    <a:p>
                      <a:pPr algn="ctr"/>
                      <a:r>
                        <a:rPr lang="en-US" sz="1400" b="1" dirty="0">
                          <a:solidFill>
                            <a:schemeClr val="tx1">
                              <a:lumMod val="95000"/>
                              <a:lumOff val="5000"/>
                            </a:schemeClr>
                          </a:solidFill>
                          <a:latin typeface="Calibri" panose="020F0502020204030204" pitchFamily="34" charset="0"/>
                          <a:cs typeface="Calibri" panose="020F0502020204030204" pitchFamily="34" charset="0"/>
                        </a:rPr>
                        <a:t>Student </a:t>
                      </a:r>
                      <a:r>
                        <a:rPr lang="en-US" sz="1400" b="1" baseline="0" dirty="0">
                          <a:solidFill>
                            <a:schemeClr val="tx1">
                              <a:lumMod val="95000"/>
                              <a:lumOff val="5000"/>
                            </a:schemeClr>
                          </a:solidFill>
                          <a:latin typeface="Calibri" panose="020F0502020204030204" pitchFamily="34" charset="0"/>
                          <a:cs typeface="Calibri" panose="020F0502020204030204" pitchFamily="34" charset="0"/>
                        </a:rPr>
                        <a:t> Name</a:t>
                      </a:r>
                      <a:endParaRPr lang="en-US" sz="1400" b="1" i="0" dirty="0">
                        <a:solidFill>
                          <a:schemeClr val="tx1">
                            <a:lumMod val="95000"/>
                            <a:lumOff val="5000"/>
                          </a:schemeClr>
                        </a:solidFill>
                        <a:latin typeface="Calibri" panose="020F0502020204030204" pitchFamily="34" charset="0"/>
                        <a:cs typeface="Calibri" panose="020F0502020204030204" pitchFamily="34" charset="0"/>
                      </a:endParaRPr>
                    </a:p>
                  </a:txBody>
                  <a:tcPr marL="121920" marR="121920">
                    <a:solidFill>
                      <a:srgbClr val="00B0F0"/>
                    </a:solidFill>
                  </a:tcPr>
                </a:tc>
                <a:extLst>
                  <a:ext uri="{0D108BD9-81ED-4DB2-BD59-A6C34878D82A}">
                    <a16:rowId xmlns:a16="http://schemas.microsoft.com/office/drawing/2014/main" val="10000"/>
                  </a:ext>
                </a:extLst>
              </a:tr>
              <a:tr h="351155">
                <a:tc>
                  <a:txBody>
                    <a:bodyPr/>
                    <a:lstStyle/>
                    <a:p>
                      <a:pPr algn="ctr"/>
                      <a:r>
                        <a:rPr lang="en-IN" sz="1400" b="1" dirty="0">
                          <a:latin typeface="Calibri" panose="020F0502020204030204" pitchFamily="34" charset="0"/>
                          <a:cs typeface="Calibri" panose="020F0502020204030204" pitchFamily="34" charset="0"/>
                        </a:rPr>
                        <a:t>1</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b="1" dirty="0">
                          <a:latin typeface="Calibri" panose="020F0502020204030204" pitchFamily="34" charset="0"/>
                          <a:cs typeface="Calibri" panose="020F0502020204030204" pitchFamily="34" charset="0"/>
                        </a:rPr>
                        <a:t>22A81A6170</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b="1" dirty="0">
                          <a:latin typeface="Calibri" panose="020F0502020204030204" pitchFamily="34" charset="0"/>
                          <a:cs typeface="Calibri" panose="020F0502020204030204" pitchFamily="34" charset="0"/>
                        </a:rPr>
                        <a:t>BANDI POORNA SRI SAILAJA</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1"/>
                  </a:ext>
                </a:extLst>
              </a:tr>
              <a:tr h="353060">
                <a:tc>
                  <a:txBody>
                    <a:bodyPr/>
                    <a:lstStyle/>
                    <a:p>
                      <a:pPr algn="ctr"/>
                      <a:r>
                        <a:rPr lang="en-IN" sz="1400" b="1" dirty="0">
                          <a:latin typeface="Calibri" panose="020F0502020204030204" pitchFamily="34" charset="0"/>
                          <a:cs typeface="Calibri" panose="020F0502020204030204" pitchFamily="34" charset="0"/>
                        </a:rPr>
                        <a:t>2</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b="1" dirty="0">
                          <a:latin typeface="Calibri" panose="020F0502020204030204" pitchFamily="34" charset="0"/>
                          <a:cs typeface="Calibri" panose="020F0502020204030204" pitchFamily="34" charset="0"/>
                        </a:rPr>
                        <a:t>22A81A61D0</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b="1" dirty="0">
                          <a:latin typeface="Calibri" panose="020F0502020204030204" pitchFamily="34" charset="0"/>
                          <a:cs typeface="Calibri" panose="020F0502020204030204" pitchFamily="34" charset="0"/>
                        </a:rPr>
                        <a:t>YAMANA BALAJI AKSHAY KUMAR</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2"/>
                  </a:ext>
                </a:extLst>
              </a:tr>
              <a:tr h="318135">
                <a:tc>
                  <a:txBody>
                    <a:bodyPr/>
                    <a:lstStyle/>
                    <a:p>
                      <a:pPr algn="ctr"/>
                      <a:r>
                        <a:rPr lang="en-IN" sz="1400" b="1" dirty="0">
                          <a:latin typeface="Calibri" panose="020F0502020204030204" pitchFamily="34" charset="0"/>
                          <a:cs typeface="Calibri" panose="020F0502020204030204" pitchFamily="34" charset="0"/>
                        </a:rPr>
                        <a:t>3</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b="1" dirty="0">
                          <a:latin typeface="Calibri" panose="020F0502020204030204" pitchFamily="34" charset="0"/>
                          <a:cs typeface="Calibri" panose="020F0502020204030204" pitchFamily="34" charset="0"/>
                        </a:rPr>
                        <a:t>22A81A61B3</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altLang="en-US" sz="1400" b="1" dirty="0">
                          <a:latin typeface="Calibri" panose="020F0502020204030204" pitchFamily="34" charset="0"/>
                          <a:cs typeface="Calibri" panose="020F0502020204030204" pitchFamily="34" charset="0"/>
                        </a:rPr>
                        <a:t>PULAGAM </a:t>
                      </a:r>
                      <a:r>
                        <a:rPr lang="en-US" sz="1400" b="1" dirty="0">
                          <a:latin typeface="Calibri" panose="020F0502020204030204" pitchFamily="34" charset="0"/>
                          <a:cs typeface="Calibri" panose="020F0502020204030204" pitchFamily="34" charset="0"/>
                        </a:rPr>
                        <a:t>SANTHOSHINI</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3"/>
                  </a:ext>
                </a:extLst>
              </a:tr>
              <a:tr h="318135">
                <a:tc>
                  <a:txBody>
                    <a:bodyPr/>
                    <a:lstStyle/>
                    <a:p>
                      <a:pPr algn="ctr">
                        <a:buNone/>
                      </a:pPr>
                      <a:r>
                        <a:rPr lang="en-US" sz="1400" b="1" dirty="0">
                          <a:latin typeface="Calibri" panose="020F0502020204030204" pitchFamily="34" charset="0"/>
                          <a:cs typeface="Calibri" panose="020F0502020204030204" pitchFamily="34" charset="0"/>
                        </a:rPr>
                        <a:t>4</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buNone/>
                      </a:pPr>
                      <a:r>
                        <a:rPr lang="en-US" sz="1400" b="1" dirty="0">
                          <a:latin typeface="Calibri" panose="020F0502020204030204" pitchFamily="34" charset="0"/>
                          <a:cs typeface="Calibri" panose="020F0502020204030204" pitchFamily="34" charset="0"/>
                        </a:rPr>
                        <a:t>22A81A6173</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buNone/>
                      </a:pPr>
                      <a:r>
                        <a:rPr lang="en-US" altLang="en-US" sz="1400" b="1" dirty="0">
                          <a:latin typeface="Calibri" panose="020F0502020204030204" pitchFamily="34" charset="0"/>
                          <a:cs typeface="Calibri" panose="020F0502020204030204" pitchFamily="34" charset="0"/>
                        </a:rPr>
                        <a:t>BORRA VIKASH</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4"/>
                  </a:ext>
                </a:extLst>
              </a:tr>
              <a:tr h="318770">
                <a:tc>
                  <a:txBody>
                    <a:bodyPr/>
                    <a:lstStyle/>
                    <a:p>
                      <a:pPr algn="ctr"/>
                      <a:r>
                        <a:rPr lang="en-US" sz="1400" b="1" dirty="0">
                          <a:latin typeface="Calibri" panose="020F0502020204030204" pitchFamily="34" charset="0"/>
                          <a:cs typeface="Calibri" panose="020F0502020204030204" pitchFamily="34" charset="0"/>
                        </a:rPr>
                        <a:t>5</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b="1">
                          <a:latin typeface="Calibri" panose="020F0502020204030204" pitchFamily="34" charset="0"/>
                          <a:cs typeface="Calibri" panose="020F0502020204030204" pitchFamily="34" charset="0"/>
                          <a:sym typeface="+mn-ea"/>
                        </a:rPr>
                        <a:t>22A81A6178</a:t>
                      </a:r>
                      <a:endParaRPr lang="en-US" sz="1400" b="1" dirty="0">
                        <a:latin typeface="Calibri" panose="020F0502020204030204" pitchFamily="34" charset="0"/>
                        <a:cs typeface="Calibri" panose="020F0502020204030204" pitchFamily="34" charset="0"/>
                        <a:sym typeface="+mn-ea"/>
                      </a:endParaRP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altLang="en-US" sz="1400" b="1" dirty="0">
                          <a:latin typeface="Calibri" panose="020F0502020204030204" pitchFamily="34" charset="0"/>
                          <a:cs typeface="Calibri" panose="020F0502020204030204" pitchFamily="34" charset="0"/>
                        </a:rPr>
                        <a:t>CHITTIDI KAVYA LIKHITA</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5"/>
                  </a:ext>
                </a:extLst>
              </a:tr>
              <a:tr h="318135">
                <a:tc>
                  <a:txBody>
                    <a:bodyPr/>
                    <a:lstStyle/>
                    <a:p>
                      <a:pPr algn="ctr"/>
                      <a:r>
                        <a:rPr lang="en-US" sz="1400" b="1" dirty="0">
                          <a:latin typeface="Calibri" panose="020F0502020204030204" pitchFamily="34" charset="0"/>
                          <a:cs typeface="Calibri" panose="020F0502020204030204" pitchFamily="34" charset="0"/>
                        </a:rPr>
                        <a:t>6</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b="1" dirty="0">
                          <a:latin typeface="Calibri" panose="020F0502020204030204" pitchFamily="34" charset="0"/>
                          <a:cs typeface="Calibri" panose="020F0502020204030204" pitchFamily="34" charset="0"/>
                        </a:rPr>
                        <a:t>23A85A6114</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altLang="en-US" sz="1400" b="1" dirty="0">
                          <a:latin typeface="Calibri" panose="020F0502020204030204" pitchFamily="34" charset="0"/>
                          <a:cs typeface="Calibri" panose="020F0502020204030204" pitchFamily="34" charset="0"/>
                        </a:rPr>
                        <a:t>YERUWAKA RAM DURGA PRASAD</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0E266-ED36-F44A-7679-E9225889BC35}"/>
              </a:ext>
            </a:extLst>
          </p:cNvPr>
          <p:cNvSpPr>
            <a:spLocks noGrp="1"/>
          </p:cNvSpPr>
          <p:nvPr>
            <p:ph type="title"/>
          </p:nvPr>
        </p:nvSpPr>
        <p:spPr/>
        <p:txBody>
          <a:bodyPr>
            <a:normAutofit/>
          </a:bodyPr>
          <a:lstStyle/>
          <a:p>
            <a:r>
              <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MAJOR PROJECT REVIEW 1-CONTENTS</a:t>
            </a:r>
            <a:endParaRPr lang="en-US" sz="4000" dirty="0"/>
          </a:p>
        </p:txBody>
      </p:sp>
      <p:sp>
        <p:nvSpPr>
          <p:cNvPr id="3" name="Content Placeholder 2">
            <a:extLst>
              <a:ext uri="{FF2B5EF4-FFF2-40B4-BE49-F238E27FC236}">
                <a16:creationId xmlns:a16="http://schemas.microsoft.com/office/drawing/2014/main" id="{73702C1E-CC68-BA91-78C2-2DF63EEFF77B}"/>
              </a:ext>
            </a:extLst>
          </p:cNvPr>
          <p:cNvSpPr>
            <a:spLocks noGrp="1"/>
          </p:cNvSpPr>
          <p:nvPr>
            <p:ph idx="1"/>
          </p:nvPr>
        </p:nvSpPr>
        <p:spPr>
          <a:xfrm>
            <a:off x="838200" y="1557338"/>
            <a:ext cx="10515600" cy="5072061"/>
          </a:xfrm>
        </p:spPr>
        <p:txBody>
          <a:bodyPr numCol="2">
            <a:normAutofit fontScale="40000" lnSpcReduction="20000"/>
          </a:bodyPr>
          <a:lstStyle/>
          <a:p>
            <a:pPr>
              <a:lnSpc>
                <a:spcPct val="120000"/>
              </a:lnSpc>
            </a:pPr>
            <a:r>
              <a:rPr lang="en-IN" sz="5600" b="1" dirty="0">
                <a:latin typeface="Times New Roman" panose="02020603050405020304" pitchFamily="18" charset="0"/>
                <a:cs typeface="Times New Roman" panose="02020603050405020304" pitchFamily="18" charset="0"/>
              </a:rPr>
              <a:t>Abstract                                                                              </a:t>
            </a:r>
            <a:endParaRPr lang="en-US" sz="5600" dirty="0">
              <a:latin typeface="Times New Roman" panose="02020603050405020304" pitchFamily="18" charset="0"/>
              <a:cs typeface="Times New Roman" panose="02020603050405020304" pitchFamily="18" charset="0"/>
            </a:endParaRPr>
          </a:p>
          <a:p>
            <a:pPr>
              <a:lnSpc>
                <a:spcPct val="120000"/>
              </a:lnSpc>
            </a:pPr>
            <a:r>
              <a:rPr lang="en-IN" sz="5600" b="1" dirty="0">
                <a:latin typeface="Times New Roman" panose="02020603050405020304" pitchFamily="18" charset="0"/>
                <a:cs typeface="Times New Roman" panose="02020603050405020304" pitchFamily="18" charset="0"/>
              </a:rPr>
              <a:t>Introduction                                                </a:t>
            </a:r>
            <a:endParaRPr lang="en-US" sz="5600" dirty="0">
              <a:effectLst/>
              <a:latin typeface="Times New Roman" panose="02020603050405020304" pitchFamily="18" charset="0"/>
              <a:cs typeface="Times New Roman" panose="02020603050405020304" pitchFamily="18" charset="0"/>
            </a:endParaRPr>
          </a:p>
          <a:p>
            <a:pPr>
              <a:lnSpc>
                <a:spcPct val="120000"/>
              </a:lnSpc>
            </a:pPr>
            <a:r>
              <a:rPr lang="en-IN" sz="5600" b="1" dirty="0">
                <a:latin typeface="Times New Roman" panose="02020603050405020304" pitchFamily="18" charset="0"/>
                <a:cs typeface="Times New Roman" panose="02020603050405020304" pitchFamily="18" charset="0"/>
              </a:rPr>
              <a:t>Literature Survey</a:t>
            </a:r>
            <a:endParaRPr lang="en-US" sz="5600" dirty="0">
              <a:effectLst/>
              <a:latin typeface="Times New Roman" panose="02020603050405020304" pitchFamily="18" charset="0"/>
              <a:cs typeface="Times New Roman" panose="02020603050405020304" pitchFamily="18" charset="0"/>
            </a:endParaRPr>
          </a:p>
          <a:p>
            <a:pPr>
              <a:lnSpc>
                <a:spcPct val="120000"/>
              </a:lnSpc>
            </a:pPr>
            <a:r>
              <a:rPr lang="en-IN" sz="5600" b="1" dirty="0">
                <a:latin typeface="Times New Roman" panose="02020603050405020304" pitchFamily="18" charset="0"/>
                <a:cs typeface="Times New Roman" panose="02020603050405020304" pitchFamily="18" charset="0"/>
              </a:rPr>
              <a:t>Problem Statement in Existing System</a:t>
            </a:r>
            <a:endParaRPr lang="en-US" sz="5600" dirty="0">
              <a:effectLst/>
              <a:latin typeface="Times New Roman" panose="02020603050405020304" pitchFamily="18" charset="0"/>
              <a:cs typeface="Times New Roman" panose="02020603050405020304" pitchFamily="18" charset="0"/>
            </a:endParaRPr>
          </a:p>
          <a:p>
            <a:pPr>
              <a:lnSpc>
                <a:spcPct val="120000"/>
              </a:lnSpc>
            </a:pPr>
            <a:r>
              <a:rPr lang="en-IN" sz="5600" b="1" dirty="0">
                <a:latin typeface="Times New Roman" panose="02020603050405020304" pitchFamily="18" charset="0"/>
                <a:cs typeface="Times New Roman" panose="02020603050405020304" pitchFamily="18" charset="0"/>
              </a:rPr>
              <a:t>Proposed System</a:t>
            </a:r>
            <a:endParaRPr lang="en-US" sz="5600" dirty="0">
              <a:effectLst/>
              <a:latin typeface="Times New Roman" panose="02020603050405020304" pitchFamily="18" charset="0"/>
              <a:cs typeface="Times New Roman" panose="02020603050405020304" pitchFamily="18" charset="0"/>
            </a:endParaRPr>
          </a:p>
          <a:p>
            <a:pPr>
              <a:lnSpc>
                <a:spcPct val="120000"/>
              </a:lnSpc>
            </a:pPr>
            <a:r>
              <a:rPr lang="en-IN" sz="5600" b="1" dirty="0">
                <a:latin typeface="Times New Roman" panose="02020603050405020304" pitchFamily="18" charset="0"/>
                <a:cs typeface="Times New Roman" panose="02020603050405020304" pitchFamily="18" charset="0"/>
              </a:rPr>
              <a:t>Objective</a:t>
            </a:r>
            <a:endParaRPr lang="en-US" sz="5600" dirty="0">
              <a:effectLst/>
              <a:latin typeface="Times New Roman" panose="02020603050405020304" pitchFamily="18" charset="0"/>
              <a:cs typeface="Times New Roman" panose="02020603050405020304" pitchFamily="18" charset="0"/>
            </a:endParaRPr>
          </a:p>
          <a:p>
            <a:pPr fontAlgn="base">
              <a:lnSpc>
                <a:spcPct val="120000"/>
              </a:lnSpc>
            </a:pPr>
            <a:r>
              <a:rPr lang="en-US" sz="5600" b="1" dirty="0">
                <a:latin typeface="Times New Roman" panose="02020603050405020304" pitchFamily="18" charset="0"/>
                <a:cs typeface="Times New Roman" panose="02020603050405020304" pitchFamily="18" charset="0"/>
              </a:rPr>
              <a:t>Project domain </a:t>
            </a:r>
            <a:endParaRPr lang="en-US" sz="5600" dirty="0">
              <a:effectLst/>
              <a:latin typeface="Times New Roman" panose="02020603050405020304" pitchFamily="18" charset="0"/>
              <a:cs typeface="Times New Roman" panose="02020603050405020304" pitchFamily="18" charset="0"/>
            </a:endParaRPr>
          </a:p>
          <a:p>
            <a:pPr fontAlgn="base">
              <a:lnSpc>
                <a:spcPct val="120000"/>
              </a:lnSpc>
            </a:pPr>
            <a:r>
              <a:rPr lang="en-US" sz="5600" b="1" dirty="0">
                <a:latin typeface="Times New Roman" panose="02020603050405020304" pitchFamily="18" charset="0"/>
                <a:cs typeface="Times New Roman" panose="02020603050405020304" pitchFamily="18" charset="0"/>
              </a:rPr>
              <a:t>Requirement analysis</a:t>
            </a:r>
            <a:endParaRPr lang="en-US" sz="5600" dirty="0">
              <a:effectLst/>
              <a:latin typeface="Times New Roman" panose="02020603050405020304" pitchFamily="18" charset="0"/>
              <a:cs typeface="Times New Roman" panose="02020603050405020304" pitchFamily="18" charset="0"/>
            </a:endParaRPr>
          </a:p>
          <a:p>
            <a:pPr marL="0" indent="0" fontAlgn="base">
              <a:lnSpc>
                <a:spcPct val="120000"/>
              </a:lnSpc>
              <a:buNone/>
            </a:pPr>
            <a:r>
              <a:rPr lang="en-US" sz="5600" b="1" dirty="0">
                <a:latin typeface="Times New Roman" panose="02020603050405020304" pitchFamily="18" charset="0"/>
                <a:cs typeface="Times New Roman" panose="02020603050405020304" pitchFamily="18" charset="0"/>
              </a:rPr>
              <a:t>         - Functional Requirements</a:t>
            </a:r>
            <a:endParaRPr lang="en-US" sz="5600" dirty="0">
              <a:effectLst/>
              <a:latin typeface="Times New Roman" panose="02020603050405020304" pitchFamily="18" charset="0"/>
              <a:cs typeface="Times New Roman" panose="02020603050405020304" pitchFamily="18" charset="0"/>
            </a:endParaRPr>
          </a:p>
          <a:p>
            <a:pPr marL="0" indent="0" fontAlgn="base">
              <a:lnSpc>
                <a:spcPct val="120000"/>
              </a:lnSpc>
              <a:buNone/>
            </a:pPr>
            <a:r>
              <a:rPr lang="en-US" sz="5600" b="1" dirty="0">
                <a:latin typeface="Times New Roman" panose="02020603050405020304" pitchFamily="18" charset="0"/>
                <a:cs typeface="Times New Roman" panose="02020603050405020304" pitchFamily="18" charset="0"/>
              </a:rPr>
              <a:t>         - Non-Functional Requirements</a:t>
            </a:r>
            <a:endParaRPr lang="en-US" sz="5600" dirty="0">
              <a:effectLst/>
              <a:latin typeface="Times New Roman" panose="02020603050405020304" pitchFamily="18" charset="0"/>
              <a:cs typeface="Times New Roman" panose="02020603050405020304" pitchFamily="18" charset="0"/>
            </a:endParaRPr>
          </a:p>
          <a:p>
            <a:pPr marL="0" indent="0" fontAlgn="base">
              <a:lnSpc>
                <a:spcPct val="120000"/>
              </a:lnSpc>
              <a:buNone/>
            </a:pPr>
            <a:r>
              <a:rPr lang="en-US" sz="5600" b="1" dirty="0">
                <a:latin typeface="Times New Roman" panose="02020603050405020304" pitchFamily="18" charset="0"/>
                <a:cs typeface="Times New Roman" panose="02020603050405020304" pitchFamily="18" charset="0"/>
              </a:rPr>
              <a:t>         - Software Requirements</a:t>
            </a:r>
            <a:endParaRPr lang="en-US" sz="5600" dirty="0">
              <a:effectLst/>
              <a:latin typeface="Times New Roman" panose="02020603050405020304" pitchFamily="18" charset="0"/>
              <a:cs typeface="Times New Roman" panose="02020603050405020304" pitchFamily="18" charset="0"/>
            </a:endParaRPr>
          </a:p>
          <a:p>
            <a:pPr marL="0" indent="0" fontAlgn="base">
              <a:lnSpc>
                <a:spcPct val="120000"/>
              </a:lnSpc>
              <a:buNone/>
            </a:pPr>
            <a:r>
              <a:rPr lang="en-US" sz="5600" b="1" dirty="0">
                <a:latin typeface="Times New Roman" panose="02020603050405020304" pitchFamily="18" charset="0"/>
                <a:cs typeface="Times New Roman" panose="02020603050405020304" pitchFamily="18" charset="0"/>
              </a:rPr>
              <a:t>         - Hardware Requirements</a:t>
            </a:r>
            <a:endParaRPr lang="en-US" sz="5600" dirty="0">
              <a:effectLst/>
              <a:latin typeface="Times New Roman" panose="02020603050405020304" pitchFamily="18" charset="0"/>
              <a:cs typeface="Times New Roman" panose="02020603050405020304" pitchFamily="18" charset="0"/>
            </a:endParaRPr>
          </a:p>
          <a:p>
            <a:pPr fontAlgn="base">
              <a:lnSpc>
                <a:spcPct val="120000"/>
              </a:lnSpc>
            </a:pPr>
            <a:r>
              <a:rPr lang="en-US" sz="5600" b="1" dirty="0">
                <a:latin typeface="Times New Roman" panose="02020603050405020304" pitchFamily="18" charset="0"/>
                <a:cs typeface="Times New Roman" panose="02020603050405020304" pitchFamily="18" charset="0"/>
              </a:rPr>
              <a:t>System Architecture</a:t>
            </a:r>
            <a:endParaRPr lang="en-US" sz="5600" dirty="0">
              <a:effectLst/>
              <a:latin typeface="Times New Roman" panose="02020603050405020304" pitchFamily="18" charset="0"/>
              <a:cs typeface="Times New Roman" panose="02020603050405020304" pitchFamily="18" charset="0"/>
            </a:endParaRPr>
          </a:p>
          <a:p>
            <a:pPr fontAlgn="base">
              <a:lnSpc>
                <a:spcPct val="120000"/>
              </a:lnSpc>
            </a:pPr>
            <a:r>
              <a:rPr lang="en-US" sz="5600" b="1" dirty="0">
                <a:latin typeface="Times New Roman" panose="02020603050405020304" pitchFamily="18" charset="0"/>
                <a:cs typeface="Times New Roman" panose="02020603050405020304" pitchFamily="18" charset="0"/>
              </a:rPr>
              <a:t>Methodology </a:t>
            </a:r>
          </a:p>
          <a:p>
            <a:pPr fontAlgn="base">
              <a:lnSpc>
                <a:spcPct val="120000"/>
              </a:lnSpc>
            </a:pPr>
            <a:r>
              <a:rPr lang="en-IN" sz="5600" b="1" dirty="0">
                <a:latin typeface="Times New Roman" panose="02020603050405020304" pitchFamily="18" charset="0"/>
                <a:cs typeface="Times New Roman" panose="02020603050405020304" pitchFamily="18" charset="0"/>
              </a:rPr>
              <a:t>Design </a:t>
            </a:r>
          </a:p>
          <a:p>
            <a:pPr fontAlgn="base">
              <a:lnSpc>
                <a:spcPct val="120000"/>
              </a:lnSpc>
            </a:pPr>
            <a:r>
              <a:rPr lang="en-IN" sz="5600" b="1" dirty="0">
                <a:latin typeface="Times New Roman" panose="02020603050405020304" pitchFamily="18" charset="0"/>
                <a:cs typeface="Times New Roman" panose="02020603050405020304" pitchFamily="18" charset="0"/>
              </a:rPr>
              <a:t>Implementation</a:t>
            </a:r>
            <a:endParaRPr lang="en-US" sz="5600" b="1" dirty="0">
              <a:latin typeface="Times New Roman" panose="02020603050405020304" pitchFamily="18" charset="0"/>
              <a:cs typeface="Times New Roman" panose="02020603050405020304" pitchFamily="18" charset="0"/>
            </a:endParaRPr>
          </a:p>
          <a:p>
            <a:pPr>
              <a:lnSpc>
                <a:spcPct val="120000"/>
              </a:lnSpc>
              <a:defRPr/>
            </a:pPr>
            <a:r>
              <a:rPr lang="en-US" sz="5600" b="1" dirty="0">
                <a:latin typeface="Times New Roman" panose="02020603050405020304" pitchFamily="18" charset="0"/>
                <a:cs typeface="Times New Roman" panose="02020603050405020304" pitchFamily="18" charset="0"/>
              </a:rPr>
              <a:t>Result </a:t>
            </a:r>
          </a:p>
          <a:p>
            <a:pPr>
              <a:lnSpc>
                <a:spcPct val="120000"/>
              </a:lnSpc>
              <a:defRPr/>
            </a:pPr>
            <a:r>
              <a:rPr lang="en-US" sz="5600" b="1" dirty="0">
                <a:latin typeface="Times New Roman" panose="02020603050405020304" pitchFamily="18" charset="0"/>
                <a:cs typeface="Times New Roman" panose="02020603050405020304" pitchFamily="18" charset="0"/>
              </a:rPr>
              <a:t>Attainment of objective</a:t>
            </a:r>
          </a:p>
          <a:p>
            <a:pPr>
              <a:lnSpc>
                <a:spcPct val="120000"/>
              </a:lnSpc>
              <a:defRPr/>
            </a:pPr>
            <a:r>
              <a:rPr lang="en-US" sz="5600" b="1" dirty="0">
                <a:latin typeface="Times New Roman" panose="02020603050405020304" pitchFamily="18" charset="0"/>
                <a:cs typeface="Times New Roman" panose="02020603050405020304" pitchFamily="18" charset="0"/>
              </a:rPr>
              <a:t> Conclusion</a:t>
            </a:r>
          </a:p>
          <a:p>
            <a:pPr>
              <a:lnSpc>
                <a:spcPct val="120000"/>
              </a:lnSpc>
              <a:defRPr/>
            </a:pPr>
            <a:r>
              <a:rPr lang="en-US" sz="5600" b="1" dirty="0">
                <a:latin typeface="Times New Roman" panose="02020603050405020304" pitchFamily="18" charset="0"/>
                <a:cs typeface="Times New Roman" panose="02020603050405020304" pitchFamily="18" charset="0"/>
              </a:rPr>
              <a:t> Future scope of Project</a:t>
            </a:r>
          </a:p>
          <a:p>
            <a:pPr fontAlgn="base"/>
            <a:endParaRPr lang="en-US" sz="4000" b="1" dirty="0">
              <a:latin typeface="Times New Roman" panose="02020603050405020304" pitchFamily="18" charset="0"/>
              <a:cs typeface="Times New Roman" panose="02020603050405020304" pitchFamily="18" charset="0"/>
            </a:endParaRPr>
          </a:p>
          <a:p>
            <a:pPr fontAlgn="base"/>
            <a:endParaRPr lang="en-US" sz="4000" dirty="0">
              <a:effectLst/>
              <a:latin typeface="Times New Roman" panose="02020603050405020304" pitchFamily="18" charset="0"/>
              <a:cs typeface="Times New Roman" panose="02020603050405020304" pitchFamily="18" charset="0"/>
            </a:endParaRPr>
          </a:p>
          <a:p>
            <a:pPr marL="0" indent="0" fontAlgn="base">
              <a:buNone/>
            </a:pPr>
            <a:endParaRPr lang="en-US" sz="4000" dirty="0">
              <a:effectLst/>
              <a:latin typeface="Times New Roman" panose="02020603050405020304" pitchFamily="18" charset="0"/>
              <a:cs typeface="Times New Roman" panose="02020603050405020304" pitchFamily="18" charset="0"/>
            </a:endParaRPr>
          </a:p>
          <a:p>
            <a:endParaRPr lang="en-US" dirty="0"/>
          </a:p>
        </p:txBody>
      </p:sp>
      <p:sp>
        <p:nvSpPr>
          <p:cNvPr id="9" name="Freeform 6">
            <a:extLst>
              <a:ext uri="{FF2B5EF4-FFF2-40B4-BE49-F238E27FC236}">
                <a16:creationId xmlns:a16="http://schemas.microsoft.com/office/drawing/2014/main" id="{407CCB31-C0DF-AEE5-924C-DB6DD0AA6C80}"/>
              </a:ext>
            </a:extLst>
          </p:cNvPr>
          <p:cNvSpPr/>
          <p:nvPr/>
        </p:nvSpPr>
        <p:spPr bwMode="auto">
          <a:xfrm>
            <a:off x="-47626"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50000"/>
              <a:alpha val="25000"/>
            </a:schemeClr>
          </a:solidFill>
          <a:ln w="0">
            <a:noFill/>
            <a:prstDash val="solid"/>
            <a:round/>
            <a:headEnd/>
            <a:tailEnd/>
          </a:ln>
        </p:spPr>
        <p:txBody>
          <a:bodyPr/>
          <a:lstStyle/>
          <a:p>
            <a:endParaRPr lang="en-US"/>
          </a:p>
        </p:txBody>
      </p:sp>
    </p:spTree>
    <p:extLst>
      <p:ext uri="{BB962C8B-B14F-4D97-AF65-F5344CB8AC3E}">
        <p14:creationId xmlns:p14="http://schemas.microsoft.com/office/powerpoint/2010/main" val="1612956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1552A-1726-731A-0125-8118CAF5FA44}"/>
              </a:ext>
            </a:extLst>
          </p:cNvPr>
          <p:cNvSpPr>
            <a:spLocks noGrp="1"/>
          </p:cNvSpPr>
          <p:nvPr>
            <p:ph type="title"/>
          </p:nvPr>
        </p:nvSpPr>
        <p:spPr>
          <a:xfrm>
            <a:off x="835818" y="200025"/>
            <a:ext cx="10515600" cy="1243013"/>
          </a:xfrm>
        </p:spPr>
        <p:txBody>
          <a:bodyPr/>
          <a:lstStyle/>
          <a:p>
            <a:pPr algn="ctr"/>
            <a:r>
              <a:rPr lang="en-US" b="1" kern="1400" spc="-50" dirty="0">
                <a:latin typeface="Times New Roman" panose="02020603050405020304" pitchFamily="18" charset="0"/>
                <a:ea typeface="Times New Roman" panose="02020603050405020304" pitchFamily="18" charset="0"/>
                <a:cs typeface="Times New Roman" panose="02020603050405020304" pitchFamily="18" charset="0"/>
              </a:rPr>
              <a:t>Abstract</a:t>
            </a:r>
            <a:endParaRPr lang="en-US" dirty="0"/>
          </a:p>
        </p:txBody>
      </p:sp>
      <p:sp>
        <p:nvSpPr>
          <p:cNvPr id="3" name="Content Placeholder 2">
            <a:extLst>
              <a:ext uri="{FF2B5EF4-FFF2-40B4-BE49-F238E27FC236}">
                <a16:creationId xmlns:a16="http://schemas.microsoft.com/office/drawing/2014/main" id="{F9596F3D-2AB5-D845-BF94-26405DEC9A03}"/>
              </a:ext>
            </a:extLst>
          </p:cNvPr>
          <p:cNvSpPr>
            <a:spLocks noGrp="1"/>
          </p:cNvSpPr>
          <p:nvPr>
            <p:ph idx="1"/>
          </p:nvPr>
        </p:nvSpPr>
        <p:spPr>
          <a:xfrm>
            <a:off x="557213" y="1443038"/>
            <a:ext cx="11072811" cy="5414961"/>
          </a:xfrm>
        </p:spPr>
        <p:txBody>
          <a:bodyPr>
            <a:noAutofit/>
          </a:bodyPr>
          <a:lstStyle/>
          <a:p>
            <a:pPr marL="0" indent="0" algn="just">
              <a:buNone/>
            </a:pPr>
            <a:r>
              <a:rPr lang="en-US" sz="1800" dirty="0">
                <a:latin typeface="Times New Roman" panose="02020603050405020304" pitchFamily="18" charset="0"/>
                <a:cs typeface="Times New Roman" panose="02020603050405020304" pitchFamily="18" charset="0"/>
              </a:rPr>
              <a:t>Artificial intelligence is being adopted more in fast-food service environments to make ordering quicker and easier, especially in busy places like metro stations, airports, and self-service kiosks. However, many current solutions don’t meet expectations due to limited voice recognition, lack of real-time inventory updates, and inadequate backend systems. Talk2Invoice is a voice assistant powered by AI that aims to solve these issues by allowing contactless food ordering through natural speech and automating backend tasks. Multilingual voice input is turned into text using OpenAI’s Whisper model, and customer intent along with food item details is identified using a fine-tuned </a:t>
            </a:r>
            <a:r>
              <a:rPr lang="en-US" sz="1800" dirty="0" err="1">
                <a:latin typeface="Times New Roman" panose="02020603050405020304" pitchFamily="18" charset="0"/>
                <a:cs typeface="Times New Roman" panose="02020603050405020304" pitchFamily="18" charset="0"/>
              </a:rPr>
              <a:t>DistilBERT</a:t>
            </a:r>
            <a:r>
              <a:rPr lang="en-US" sz="1800" dirty="0">
                <a:latin typeface="Times New Roman" panose="02020603050405020304" pitchFamily="18" charset="0"/>
                <a:cs typeface="Times New Roman" panose="02020603050405020304" pitchFamily="18" charset="0"/>
              </a:rPr>
              <a:t> model. QR code-based menu access makes interactions simpler, while a blockchain- enabled backend supports real-time stock management, queue optimization, and secure digital transactions. Once the order is confirmed successfully, digital invoices are automatically generated and sent to users, and analytical reports provide insights into sales trends and service performance. Experimental results show improved order accuracy in noisy settings, and better transparency in transaction handling. By combining speech processing, natural language understanding, and secure backend technologies, Talk2Invoice presents a practical, scalable, and user-friendly method for AI- driven food ordering in modern service environments. </a:t>
            </a:r>
          </a:p>
          <a:p>
            <a:pPr marL="0" indent="0" algn="just">
              <a:buNone/>
            </a:pPr>
            <a:r>
              <a:rPr lang="en-US" sz="1800" dirty="0">
                <a:latin typeface="Times New Roman" panose="02020603050405020304" pitchFamily="18" charset="0"/>
                <a:cs typeface="Times New Roman" panose="02020603050405020304" pitchFamily="18" charset="0"/>
              </a:rPr>
              <a:t>Keywords: Voice Assistant, Speech-to-Text, Whisper (Faster Whisper), </a:t>
            </a:r>
            <a:r>
              <a:rPr lang="en-US" sz="1800" dirty="0" err="1">
                <a:latin typeface="Times New Roman" panose="02020603050405020304" pitchFamily="18" charset="0"/>
                <a:cs typeface="Times New Roman" panose="02020603050405020304" pitchFamily="18" charset="0"/>
              </a:rPr>
              <a:t>DistilBERT</a:t>
            </a:r>
            <a:r>
              <a:rPr lang="en-US" sz="1800" dirty="0">
                <a:latin typeface="Times New Roman" panose="02020603050405020304" pitchFamily="18" charset="0"/>
                <a:cs typeface="Times New Roman" panose="02020603050405020304" pitchFamily="18" charset="0"/>
              </a:rPr>
              <a:t>, Natural Language Processing, Real-Time Inventory Management, Digital Invoicing, Blockchain </a:t>
            </a:r>
          </a:p>
        </p:txBody>
      </p:sp>
    </p:spTree>
    <p:extLst>
      <p:ext uri="{BB962C8B-B14F-4D97-AF65-F5344CB8AC3E}">
        <p14:creationId xmlns:p14="http://schemas.microsoft.com/office/powerpoint/2010/main" val="3048160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E6E0-0BE7-85CF-5FF6-8942E5DBD390}"/>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Introduction</a:t>
            </a:r>
            <a:endParaRPr lang="en-US" dirty="0"/>
          </a:p>
        </p:txBody>
      </p:sp>
      <p:sp>
        <p:nvSpPr>
          <p:cNvPr id="3" name="Content Placeholder 2">
            <a:extLst>
              <a:ext uri="{FF2B5EF4-FFF2-40B4-BE49-F238E27FC236}">
                <a16:creationId xmlns:a16="http://schemas.microsoft.com/office/drawing/2014/main" id="{42A35266-0DE2-3166-DDAA-58DB1242A578}"/>
              </a:ext>
            </a:extLst>
          </p:cNvPr>
          <p:cNvSpPr>
            <a:spLocks noGrp="1"/>
          </p:cNvSpPr>
          <p:nvPr>
            <p:ph idx="1"/>
          </p:nvPr>
        </p:nvSpPr>
        <p:spPr/>
        <p:txBody>
          <a:bodyPr>
            <a:normAutofit/>
          </a:bodyPr>
          <a:lstStyle/>
          <a:p>
            <a:r>
              <a:rPr lang="en-US" sz="1800" dirty="0"/>
              <a:t>AI-Driven Service Transformation: Modern quick-service environments need intelligent automation to manage high customer volumes efficiently while keeping service accurate and scalable.</a:t>
            </a:r>
          </a:p>
          <a:p>
            <a:r>
              <a:rPr lang="en-US" sz="1800" dirty="0"/>
              <a:t>Limitations of Existing Ordering Systems: Manual counters and touchscreen kiosks face challenges during peak hours, including order inaccuracies, limited support for multiple languages, and poor backend synchronization.</a:t>
            </a:r>
            <a:endParaRPr lang="en-US" sz="1800" dirty="0">
              <a:effectLst/>
            </a:endParaRPr>
          </a:p>
          <a:p>
            <a:r>
              <a:rPr lang="en-US" sz="1800" dirty="0"/>
              <a:t>Proposed Framework, Talk2Invoice: A new AI-powered voice ordering and invoicing system designed for  real-world settings using deep learning models.</a:t>
            </a:r>
            <a:endParaRPr lang="en-US" sz="1800" dirty="0">
              <a:effectLst/>
            </a:endParaRPr>
          </a:p>
          <a:p>
            <a:r>
              <a:rPr lang="en-US" sz="1800" dirty="0"/>
              <a:t>Core Technical Innovation: The system integrates Whisper for strong multilingual speech recognition and fine-tuned </a:t>
            </a:r>
            <a:r>
              <a:rPr lang="en-US" sz="1800" dirty="0" err="1"/>
              <a:t>DistilBERT</a:t>
            </a:r>
            <a:r>
              <a:rPr lang="en-US" sz="1800" dirty="0"/>
              <a:t> for intent detection and entity extraction. It is supported by real-time inventory and billing automation.</a:t>
            </a:r>
            <a:endParaRPr lang="en-US" sz="1800" dirty="0">
              <a:effectLst/>
            </a:endParaRPr>
          </a:p>
          <a:p>
            <a:r>
              <a:rPr lang="en-US" sz="1800" dirty="0"/>
              <a:t>Research Contribution &amp; Impact: It improves order accuracy, enables contactless transactions, and introduces secure, clear billing. This shows how AI can provide a scalable solution for smart food service systems.</a:t>
            </a:r>
            <a:endParaRPr lang="en-US" sz="1800" dirty="0">
              <a:effectLst/>
            </a:endParaRPr>
          </a:p>
          <a:p>
            <a:pPr marL="0" indent="0" algn="just">
              <a:buNone/>
            </a:pPr>
            <a:endParaRPr lang="en-US" sz="2000" dirty="0"/>
          </a:p>
        </p:txBody>
      </p:sp>
    </p:spTree>
    <p:extLst>
      <p:ext uri="{BB962C8B-B14F-4D97-AF65-F5344CB8AC3E}">
        <p14:creationId xmlns:p14="http://schemas.microsoft.com/office/powerpoint/2010/main" val="4232137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89D00-A7EC-D8DB-51CD-49F10E605F1F}"/>
              </a:ext>
            </a:extLst>
          </p:cNvPr>
          <p:cNvSpPr>
            <a:spLocks noGrp="1"/>
          </p:cNvSpPr>
          <p:nvPr>
            <p:ph type="title"/>
          </p:nvPr>
        </p:nvSpPr>
        <p:spPr>
          <a:xfrm>
            <a:off x="509586" y="171450"/>
            <a:ext cx="10515600" cy="1014413"/>
          </a:xfrm>
        </p:spPr>
        <p:txBody>
          <a:bodyPr/>
          <a:lstStyle/>
          <a:p>
            <a:pPr algn="ctr"/>
            <a:r>
              <a:rPr lang="en-IN" altLang="en-US" b="1" dirty="0">
                <a:latin typeface="Times New Roman" panose="02020603050405020304" pitchFamily="18" charset="0"/>
                <a:cs typeface="Times New Roman" panose="02020603050405020304" pitchFamily="18" charset="0"/>
              </a:rPr>
              <a:t>Literature Survey</a:t>
            </a:r>
            <a:endParaRPr lang="en-US" dirty="0"/>
          </a:p>
        </p:txBody>
      </p:sp>
      <p:graphicFrame>
        <p:nvGraphicFramePr>
          <p:cNvPr id="4" name="Content Placeholder 3">
            <a:extLst>
              <a:ext uri="{FF2B5EF4-FFF2-40B4-BE49-F238E27FC236}">
                <a16:creationId xmlns:a16="http://schemas.microsoft.com/office/drawing/2014/main" id="{93354791-3A50-96F7-4493-2FD3CF438C6C}"/>
              </a:ext>
            </a:extLst>
          </p:cNvPr>
          <p:cNvGraphicFramePr>
            <a:graphicFrameLocks noGrp="1"/>
          </p:cNvGraphicFramePr>
          <p:nvPr>
            <p:ph idx="1"/>
          </p:nvPr>
        </p:nvGraphicFramePr>
        <p:xfrm>
          <a:off x="5535" y="1185863"/>
          <a:ext cx="12186465" cy="6022814"/>
        </p:xfrm>
        <a:graphic>
          <a:graphicData uri="http://schemas.openxmlformats.org/drawingml/2006/table">
            <a:tbl>
              <a:tblPr firstRow="1" firstCol="1" bandRow="1">
                <a:tableStyleId>{073A0DAA-6AF3-43AB-8588-CEC1D06C72B9}</a:tableStyleId>
              </a:tblPr>
              <a:tblGrid>
                <a:gridCol w="400721">
                  <a:extLst>
                    <a:ext uri="{9D8B030D-6E8A-4147-A177-3AD203B41FA5}">
                      <a16:colId xmlns:a16="http://schemas.microsoft.com/office/drawing/2014/main" val="1361650183"/>
                    </a:ext>
                  </a:extLst>
                </a:gridCol>
                <a:gridCol w="1370990">
                  <a:extLst>
                    <a:ext uri="{9D8B030D-6E8A-4147-A177-3AD203B41FA5}">
                      <a16:colId xmlns:a16="http://schemas.microsoft.com/office/drawing/2014/main" val="2550924313"/>
                    </a:ext>
                  </a:extLst>
                </a:gridCol>
                <a:gridCol w="847157">
                  <a:extLst>
                    <a:ext uri="{9D8B030D-6E8A-4147-A177-3AD203B41FA5}">
                      <a16:colId xmlns:a16="http://schemas.microsoft.com/office/drawing/2014/main" val="1318725552"/>
                    </a:ext>
                  </a:extLst>
                </a:gridCol>
                <a:gridCol w="2211221">
                  <a:extLst>
                    <a:ext uri="{9D8B030D-6E8A-4147-A177-3AD203B41FA5}">
                      <a16:colId xmlns:a16="http://schemas.microsoft.com/office/drawing/2014/main" val="2767747507"/>
                    </a:ext>
                  </a:extLst>
                </a:gridCol>
                <a:gridCol w="2756847">
                  <a:extLst>
                    <a:ext uri="{9D8B030D-6E8A-4147-A177-3AD203B41FA5}">
                      <a16:colId xmlns:a16="http://schemas.microsoft.com/office/drawing/2014/main" val="1128066320"/>
                    </a:ext>
                  </a:extLst>
                </a:gridCol>
                <a:gridCol w="2613261">
                  <a:extLst>
                    <a:ext uri="{9D8B030D-6E8A-4147-A177-3AD203B41FA5}">
                      <a16:colId xmlns:a16="http://schemas.microsoft.com/office/drawing/2014/main" val="3279657831"/>
                    </a:ext>
                  </a:extLst>
                </a:gridCol>
                <a:gridCol w="1986268">
                  <a:extLst>
                    <a:ext uri="{9D8B030D-6E8A-4147-A177-3AD203B41FA5}">
                      <a16:colId xmlns:a16="http://schemas.microsoft.com/office/drawing/2014/main" val="563756679"/>
                    </a:ext>
                  </a:extLst>
                </a:gridCol>
              </a:tblGrid>
              <a:tr h="331397">
                <a:tc>
                  <a:txBody>
                    <a:bodyPr/>
                    <a:lstStyle/>
                    <a:p>
                      <a:pPr marL="0" marR="0" algn="l">
                        <a:lnSpc>
                          <a:spcPct val="115000"/>
                        </a:lnSpc>
                        <a:spcAft>
                          <a:spcPts val="800"/>
                        </a:spcAft>
                        <a:buNone/>
                      </a:pPr>
                      <a:r>
                        <a:rPr lang="en-IN" sz="1000" kern="100" dirty="0">
                          <a:effectLst/>
                          <a:latin typeface="Times New Roman" panose="02020603050405020304" pitchFamily="18" charset="0"/>
                          <a:cs typeface="Times New Roman" panose="02020603050405020304" pitchFamily="18" charset="0"/>
                        </a:rPr>
                        <a:t>S.NO</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400" kern="100" dirty="0">
                          <a:effectLst/>
                          <a:latin typeface="Times New Roman" panose="02020603050405020304" pitchFamily="18" charset="0"/>
                          <a:cs typeface="Times New Roman" panose="02020603050405020304" pitchFamily="18" charset="0"/>
                        </a:rPr>
                        <a:t>TITLE</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400" kern="100" dirty="0">
                          <a:effectLst/>
                          <a:latin typeface="Times New Roman" panose="02020603050405020304" pitchFamily="18" charset="0"/>
                          <a:cs typeface="Times New Roman" panose="02020603050405020304" pitchFamily="18" charset="0"/>
                        </a:rPr>
                        <a:t>YEAR</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400" kern="100" dirty="0">
                          <a:effectLst/>
                          <a:latin typeface="Times New Roman" panose="02020603050405020304" pitchFamily="18" charset="0"/>
                          <a:cs typeface="Times New Roman" panose="02020603050405020304" pitchFamily="18" charset="0"/>
                        </a:rPr>
                        <a:t>INTRODUCTION</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400" kern="100" dirty="0">
                          <a:effectLst/>
                          <a:latin typeface="Times New Roman" panose="02020603050405020304" pitchFamily="18" charset="0"/>
                          <a:cs typeface="Times New Roman" panose="02020603050405020304" pitchFamily="18" charset="0"/>
                        </a:rPr>
                        <a:t>METHOD</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400" kern="100" dirty="0">
                          <a:effectLst/>
                          <a:latin typeface="Times New Roman" panose="02020603050405020304" pitchFamily="18" charset="0"/>
                          <a:cs typeface="Times New Roman" panose="02020603050405020304" pitchFamily="18" charset="0"/>
                        </a:rPr>
                        <a:t>RESULTS</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400" kern="100" dirty="0">
                          <a:effectLst/>
                          <a:latin typeface="Times New Roman" panose="02020603050405020304" pitchFamily="18" charset="0"/>
                          <a:cs typeface="Times New Roman" panose="02020603050405020304" pitchFamily="18" charset="0"/>
                        </a:rPr>
                        <a:t>DRAWBACKS</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extLst>
                  <a:ext uri="{0D108BD9-81ED-4DB2-BD59-A6C34878D82A}">
                    <a16:rowId xmlns:a16="http://schemas.microsoft.com/office/drawing/2014/main" val="3047620128"/>
                  </a:ext>
                </a:extLst>
              </a:tr>
              <a:tr h="1900648">
                <a:tc>
                  <a:txBody>
                    <a:bodyPr/>
                    <a:lstStyle/>
                    <a:p>
                      <a:pPr marL="0" marR="0" algn="l">
                        <a:lnSpc>
                          <a:spcPct val="115000"/>
                        </a:lnSpc>
                        <a:spcAft>
                          <a:spcPts val="800"/>
                        </a:spcAft>
                        <a:buNone/>
                      </a:pPr>
                      <a:r>
                        <a:rPr lang="en-IN" sz="1000" kern="100">
                          <a:effectLst/>
                          <a:latin typeface="Times New Roman" panose="02020603050405020304" pitchFamily="18" charset="0"/>
                          <a:cs typeface="Times New Roman" panose="02020603050405020304" pitchFamily="18" charset="0"/>
                        </a:rPr>
                        <a:t>1</a:t>
                      </a:r>
                      <a:endParaRPr lang="en-US" sz="1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Voice Assistant for Fast Food Restaurants using </a:t>
                      </a:r>
                      <a:r>
                        <a:rPr lang="en-IN" sz="1200" kern="100" dirty="0" err="1">
                          <a:effectLst/>
                          <a:latin typeface="Times New Roman" panose="02020603050405020304" pitchFamily="18" charset="0"/>
                          <a:cs typeface="Times New Roman" panose="02020603050405020304" pitchFamily="18" charset="0"/>
                        </a:rPr>
                        <a:t>DistilBERT</a:t>
                      </a:r>
                      <a:endParaRPr lang="en-US" sz="1200" kern="100" dirty="0">
                        <a:effectLst/>
                        <a:latin typeface="Times New Roman" panose="02020603050405020304" pitchFamily="18" charset="0"/>
                        <a:cs typeface="Times New Roman" panose="02020603050405020304" pitchFamily="18" charset="0"/>
                      </a:endParaRPr>
                    </a:p>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 </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2024</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This study explores the use of fine-tuned </a:t>
                      </a:r>
                      <a:r>
                        <a:rPr lang="en-IN" sz="1200" kern="100" dirty="0" err="1">
                          <a:effectLst/>
                          <a:latin typeface="Times New Roman" panose="02020603050405020304" pitchFamily="18" charset="0"/>
                          <a:cs typeface="Times New Roman" panose="02020603050405020304" pitchFamily="18" charset="0"/>
                        </a:rPr>
                        <a:t>DistilBERT</a:t>
                      </a:r>
                      <a:r>
                        <a:rPr lang="en-IN" sz="1200" kern="100" dirty="0">
                          <a:effectLst/>
                          <a:latin typeface="Times New Roman" panose="02020603050405020304" pitchFamily="18" charset="0"/>
                          <a:cs typeface="Times New Roman" panose="02020603050405020304" pitchFamily="18" charset="0"/>
                        </a:rPr>
                        <a:t>-based voice assistants to enhance order speed, accuracy, and user interaction in fast-food environments.</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The voice assistant employs a fine-tuned </a:t>
                      </a:r>
                      <a:r>
                        <a:rPr lang="en-IN" sz="1200" kern="100" dirty="0" err="1">
                          <a:effectLst/>
                          <a:latin typeface="Times New Roman" panose="02020603050405020304" pitchFamily="18" charset="0"/>
                          <a:cs typeface="Times New Roman" panose="02020603050405020304" pitchFamily="18" charset="0"/>
                        </a:rPr>
                        <a:t>DistilBERT</a:t>
                      </a:r>
                      <a:r>
                        <a:rPr lang="en-IN" sz="1200" kern="100" dirty="0">
                          <a:effectLst/>
                          <a:latin typeface="Times New Roman" panose="02020603050405020304" pitchFamily="18" charset="0"/>
                          <a:cs typeface="Times New Roman" panose="02020603050405020304" pitchFamily="18" charset="0"/>
                        </a:rPr>
                        <a:t> model for intent recognition using fast-food menu data. Google TTS/STT libraries enable speech conversion, while MongoDB stores inputs and menu data, supporting both order processing and model updates. The system achieved 95% accuracy post-tuning.</a:t>
                      </a:r>
                      <a:endParaRPr lang="en-US" sz="1200" kern="100" dirty="0">
                        <a:effectLst/>
                        <a:latin typeface="Times New Roman" panose="02020603050405020304" pitchFamily="18" charset="0"/>
                        <a:cs typeface="Times New Roman" panose="02020603050405020304" pitchFamily="18" charset="0"/>
                      </a:endParaRPr>
                    </a:p>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 </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The voice-activated fast-food ordering assistant, powered by a fine-tuned </a:t>
                      </a:r>
                      <a:r>
                        <a:rPr lang="en-IN" sz="1200" kern="100" dirty="0" err="1">
                          <a:effectLst/>
                          <a:latin typeface="Times New Roman" panose="02020603050405020304" pitchFamily="18" charset="0"/>
                          <a:cs typeface="Times New Roman" panose="02020603050405020304" pitchFamily="18" charset="0"/>
                        </a:rPr>
                        <a:t>DistilBERT</a:t>
                      </a:r>
                      <a:r>
                        <a:rPr lang="en-IN" sz="1200" kern="100" dirty="0">
                          <a:effectLst/>
                          <a:latin typeface="Times New Roman" panose="02020603050405020304" pitchFamily="18" charset="0"/>
                          <a:cs typeface="Times New Roman" panose="02020603050405020304" pitchFamily="18" charset="0"/>
                        </a:rPr>
                        <a:t> model, achieved 95% accuracy in understanding customer queries—demonstrating its effectiveness in streamlining the order-taking process.</a:t>
                      </a:r>
                      <a:endParaRPr lang="en-US" sz="1200" kern="100" dirty="0">
                        <a:effectLst/>
                        <a:latin typeface="Times New Roman" panose="02020603050405020304" pitchFamily="18" charset="0"/>
                        <a:cs typeface="Times New Roman" panose="02020603050405020304" pitchFamily="18" charset="0"/>
                      </a:endParaRPr>
                    </a:p>
                    <a:p>
                      <a:pPr marL="0" marR="0" algn="l">
                        <a:lnSpc>
                          <a:spcPct val="115000"/>
                        </a:lnSpc>
                        <a:spcAft>
                          <a:spcPts val="800"/>
                        </a:spcAft>
                        <a:buNone/>
                      </a:pPr>
                      <a:endParaRPr lang="en-US" sz="1200" kern="100" dirty="0">
                        <a:effectLst/>
                        <a:latin typeface="Times New Roman" panose="02020603050405020304" pitchFamily="18" charset="0"/>
                        <a:cs typeface="Times New Roman" panose="02020603050405020304" pitchFamily="18" charset="0"/>
                      </a:endParaRPr>
                    </a:p>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 </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No explicit limitations discussed; focuses solely on system functionality without addressing drawbacks or challenges.</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extLst>
                  <a:ext uri="{0D108BD9-81ED-4DB2-BD59-A6C34878D82A}">
                    <a16:rowId xmlns:a16="http://schemas.microsoft.com/office/drawing/2014/main" val="1216792639"/>
                  </a:ext>
                </a:extLst>
              </a:tr>
              <a:tr h="1698512">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2</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b="1" kern="100">
                          <a:effectLst/>
                          <a:latin typeface="Times New Roman" panose="02020603050405020304" pitchFamily="18" charset="0"/>
                          <a:ea typeface="Aptos" panose="020B0004020202020204" pitchFamily="34" charset="0"/>
                          <a:cs typeface="Times New Roman" panose="02020603050405020304" pitchFamily="18" charset="0"/>
                        </a:rPr>
                        <a:t>Speech Oriented Virtual Restaurant Clerk using Web Speech API and Natural Language Processing</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p>
                      <a:pPr marL="0" marR="0" algn="l">
                        <a:lnSpc>
                          <a:spcPct val="115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29 May 2020</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p>
                      <a:pPr marL="0" marR="0" algn="l">
                        <a:lnSpc>
                          <a:spcPct val="115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p>
                      <a:pPr marL="0" marR="0" algn="l">
                        <a:lnSpc>
                          <a:spcPct val="115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Presents a voice-enabled virtual restaurant clerk using speech recognition, NLP, and biometrics to improve ordering workflows and enhance customer experience.</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Implements a voice-based web app using Web Speech API, CNNs for speech and face recognition, and NLP via NLTK and </a:t>
                      </a:r>
                      <a:r>
                        <a:rPr lang="en-IN" sz="1200" kern="100" dirty="0" err="1">
                          <a:effectLst/>
                          <a:latin typeface="Times New Roman" panose="02020603050405020304" pitchFamily="18" charset="0"/>
                          <a:ea typeface="Aptos" panose="020B0004020202020204" pitchFamily="34" charset="0"/>
                          <a:cs typeface="Times New Roman" panose="02020603050405020304" pitchFamily="18" charset="0"/>
                        </a:rPr>
                        <a:t>spaCy</a:t>
                      </a: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 integrates a SQLite database and collaborative filtering for personalized food recommendations.</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Demonstrates successful digitization of restaurant services with 89% face recognition accuracy, effective speech recognition, hands-free voice navigation, order tracking, and flexible payment options to enhance user experience and accessibility.</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Relies on predefined dialogues with limited NLP flexibility, uses Web Speech API instead of native ASR, lacks mobile support, </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14570298"/>
                  </a:ext>
                </a:extLst>
              </a:tr>
              <a:tr h="1941605">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3</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b="1" kern="100" dirty="0">
                          <a:effectLst/>
                          <a:latin typeface="Times New Roman" panose="02020603050405020304" pitchFamily="18" charset="0"/>
                          <a:ea typeface="Aptos" panose="020B0004020202020204" pitchFamily="34" charset="0"/>
                          <a:cs typeface="Times New Roman" panose="02020603050405020304" pitchFamily="18" charset="0"/>
                        </a:rPr>
                        <a:t>HYLR-FO: Hybrid Approach Using Language Models and</a:t>
                      </a:r>
                      <a:r>
                        <a:rPr lang="en-US" sz="1200" b="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200" b="1" kern="100" dirty="0">
                          <a:effectLst/>
                          <a:latin typeface="Times New Roman" panose="02020603050405020304" pitchFamily="18" charset="0"/>
                          <a:ea typeface="Aptos" panose="020B0004020202020204" pitchFamily="34" charset="0"/>
                          <a:cs typeface="Times New Roman" panose="02020603050405020304" pitchFamily="18" charset="0"/>
                        </a:rPr>
                        <a:t>Rule-Based Systems for On-Device Food Ordering</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2025</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The paper proposes HYLR-FO, an on-device food ordering system that combines lightweight language models with a rule-based system (RBS) to improve order accuracy ,flexible NLP handling, and order verification without relying on large LLMs or strong network connections.</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Hybrid method using BERT/BART for order extraction, RBS for ASR error handling, tested on-device with 4000/1000 sample dataset, benchmarked vs GPT-4 &amp; Gemini.</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HYLR-FO combines a lightweight LM and RBS to achieve 86% order accuracy and 48× faster processing than LLMs, offering a fast, reliable on-device food ordering system suitable for resource-limited environments.</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Relies on a custom dataset, which may limit generalizability; rule-based system may struggle with highly varied inputs; less accurate than LLMs in some cases.</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8523042"/>
                  </a:ext>
                </a:extLst>
              </a:tr>
            </a:tbl>
          </a:graphicData>
        </a:graphic>
      </p:graphicFrame>
    </p:spTree>
    <p:extLst>
      <p:ext uri="{BB962C8B-B14F-4D97-AF65-F5344CB8AC3E}">
        <p14:creationId xmlns:p14="http://schemas.microsoft.com/office/powerpoint/2010/main" val="216657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BFB13-45FA-5B45-8D2D-604A963E5860}"/>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Problem Statement In Existing System</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3FA747A-2B6A-74DF-0FCD-1E08F0A030F8}"/>
              </a:ext>
            </a:extLst>
          </p:cNvPr>
          <p:cNvSpPr>
            <a:spLocks noGrp="1"/>
          </p:cNvSpPr>
          <p:nvPr>
            <p:ph idx="1"/>
          </p:nvPr>
        </p:nvSpPr>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In fast-food restaurants, especially in busy locations like metro stations, airports, and kiosks, order management often struggles to keep pace with high demand. Many outlets still rely on separate systems for order taking, inventory management, and analytics, leading to delays, and difficulty in coordinating kitchen operations. Voice ordering technologies, where used, often lack integration with real-time backend processes and can struggle to maintain accuracy in noisy environments. Most current platforms do not provide intelligent load balancing, instant stock checks, or secure, transparent transaction tracking. As a result, these systems fail to deliver a fully connected, efficient, and scalable solution that meets the needs of fast-paced food service environments.</a:t>
            </a:r>
          </a:p>
        </p:txBody>
      </p:sp>
    </p:spTree>
    <p:extLst>
      <p:ext uri="{BB962C8B-B14F-4D97-AF65-F5344CB8AC3E}">
        <p14:creationId xmlns:p14="http://schemas.microsoft.com/office/powerpoint/2010/main" val="1118903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96060-76A7-2A11-5512-AE1439358BE0}"/>
              </a:ext>
            </a:extLst>
          </p:cNvPr>
          <p:cNvSpPr>
            <a:spLocks noGrp="1"/>
          </p:cNvSpPr>
          <p:nvPr>
            <p:ph type="title"/>
          </p:nvPr>
        </p:nvSpPr>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Proposed System</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61E0E00-4E38-8E16-75FA-A1F50E54F07F}"/>
              </a:ext>
            </a:extLst>
          </p:cNvPr>
          <p:cNvSpPr>
            <a:spLocks noGrp="1"/>
          </p:cNvSpPr>
          <p:nvPr>
            <p:ph idx="1"/>
          </p:nvPr>
        </p:nvSpPr>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aim is to develop an advanced and intelligent food ordering system that overcomes the limitations of existing solutions in fast-food environments.</a:t>
            </a:r>
          </a:p>
          <a:p>
            <a:pPr marL="0" indent="0" algn="just">
              <a:buNone/>
            </a:pPr>
            <a:r>
              <a:rPr lang="en-US" sz="2000" dirty="0">
                <a:latin typeface="Times New Roman" panose="02020603050405020304" pitchFamily="18" charset="0"/>
                <a:cs typeface="Times New Roman" panose="02020603050405020304" pitchFamily="18" charset="0"/>
              </a:rPr>
              <a:t>In the existing system, voice ordering platforms often work in isolation, with limited integration between order placement, inventory management, and backend analytics.</a:t>
            </a:r>
          </a:p>
          <a:p>
            <a:pPr marL="0" indent="0" algn="just">
              <a:buNone/>
            </a:pPr>
            <a:r>
              <a:rPr lang="en-US" sz="2000" i="1" dirty="0">
                <a:latin typeface="Times New Roman" panose="02020603050405020304" pitchFamily="18" charset="0"/>
                <a:cs typeface="Times New Roman" panose="02020603050405020304" pitchFamily="18" charset="0"/>
              </a:rPr>
              <a:t>Talk2Invoice</a:t>
            </a:r>
            <a:r>
              <a:rPr lang="en-US" sz="2000" dirty="0">
                <a:latin typeface="Times New Roman" panose="02020603050405020304" pitchFamily="18" charset="0"/>
                <a:cs typeface="Times New Roman" panose="02020603050405020304" pitchFamily="18" charset="0"/>
              </a:rPr>
              <a:t> combines multilingual voice recognition, real-time inventory checks, kitchen load balancing, and secure transaction management into a single, scalable platform. It uses OpenAI’s Whisper for accurate speech-to-text conversion and a fine-tuned </a:t>
            </a:r>
            <a:r>
              <a:rPr lang="en-US" sz="2000" dirty="0" err="1">
                <a:latin typeface="Times New Roman" panose="02020603050405020304" pitchFamily="18" charset="0"/>
                <a:cs typeface="Times New Roman" panose="02020603050405020304" pitchFamily="18" charset="0"/>
              </a:rPr>
              <a:t>DistilBERT</a:t>
            </a:r>
            <a:r>
              <a:rPr lang="en-US" sz="2000" dirty="0">
                <a:latin typeface="Times New Roman" panose="02020603050405020304" pitchFamily="18" charset="0"/>
                <a:cs typeface="Times New Roman" panose="02020603050405020304" pitchFamily="18" charset="0"/>
              </a:rPr>
              <a:t> model for precise intent recognition and food item extraction. The system generates automated digital invoices and provides daily analytics reports, enabling restaurants to optimize operations, improve order accuracy, reduce wait times, and enhance customer satisfaction in high-traffic locations.</a:t>
            </a:r>
          </a:p>
        </p:txBody>
      </p:sp>
    </p:spTree>
    <p:extLst>
      <p:ext uri="{BB962C8B-B14F-4D97-AF65-F5344CB8AC3E}">
        <p14:creationId xmlns:p14="http://schemas.microsoft.com/office/powerpoint/2010/main" val="2894800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D9709-FFE7-6295-8DA5-8C120CDA039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Objective</a:t>
            </a:r>
            <a:endParaRPr lang="en-US" dirty="0"/>
          </a:p>
        </p:txBody>
      </p:sp>
      <p:sp>
        <p:nvSpPr>
          <p:cNvPr id="3" name="Content Placeholder 2">
            <a:extLst>
              <a:ext uri="{FF2B5EF4-FFF2-40B4-BE49-F238E27FC236}">
                <a16:creationId xmlns:a16="http://schemas.microsoft.com/office/drawing/2014/main" id="{9965CFF5-36CC-CC9B-D68A-DC280BEEDA68}"/>
              </a:ext>
            </a:extLst>
          </p:cNvPr>
          <p:cNvSpPr>
            <a:spLocks noGrp="1"/>
          </p:cNvSpPr>
          <p:nvPr>
            <p:ph idx="1"/>
          </p:nvPr>
        </p:nvSpPr>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To transform the food ordering experience in fast-food environments by providing an intelligent, voice-enabled ordering service. The system delivers fast, accurate, and personalized order processing by leveraging multilingual speech recognition, natural language understanding, and real-time backend operations. It empowers both customers and restaurant operators with a seamless, efficient, and transparent ordering process, ultimately improving customer satisfaction, reducing wait times, and enhancing operational performance in high-demand locations.</a:t>
            </a:r>
          </a:p>
        </p:txBody>
      </p:sp>
      <p:pic>
        <p:nvPicPr>
          <p:cNvPr id="4" name="Picture 3" descr="ChatGPT Image Aug 6, 2025, 07_36_45 PM">
            <a:extLst>
              <a:ext uri="{FF2B5EF4-FFF2-40B4-BE49-F238E27FC236}">
                <a16:creationId xmlns:a16="http://schemas.microsoft.com/office/drawing/2014/main" id="{2AD39798-FF14-44F5-1F8D-9C7FF7F67F64}"/>
              </a:ext>
            </a:extLst>
          </p:cNvPr>
          <p:cNvPicPr>
            <a:picLocks noChangeAspect="1"/>
          </p:cNvPicPr>
          <p:nvPr/>
        </p:nvPicPr>
        <p:blipFill>
          <a:blip r:embed="rId2"/>
          <a:stretch>
            <a:fillRect/>
          </a:stretch>
        </p:blipFill>
        <p:spPr>
          <a:xfrm>
            <a:off x="7979410" y="3429000"/>
            <a:ext cx="3374390" cy="3325641"/>
          </a:xfrm>
          <a:prstGeom prst="rect">
            <a:avLst/>
          </a:prstGeom>
        </p:spPr>
      </p:pic>
    </p:spTree>
    <p:extLst>
      <p:ext uri="{BB962C8B-B14F-4D97-AF65-F5344CB8AC3E}">
        <p14:creationId xmlns:p14="http://schemas.microsoft.com/office/powerpoint/2010/main" val="147832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8B7DA-6A35-AD47-DA81-0763315B8DF0}"/>
              </a:ext>
            </a:extLst>
          </p:cNvPr>
          <p:cNvSpPr>
            <a:spLocks noGrp="1"/>
          </p:cNvSpPr>
          <p:nvPr>
            <p:ph type="title"/>
          </p:nvPr>
        </p:nvSpPr>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Project domain </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6D209E5-DBE9-20FD-7AA2-A4627E82E435}"/>
              </a:ext>
            </a:extLst>
          </p:cNvPr>
          <p:cNvSpPr>
            <a:spLocks noGrp="1"/>
          </p:cNvSpPr>
          <p:nvPr>
            <p:ph idx="1"/>
          </p:nvPr>
        </p:nvSpPr>
        <p:spPr/>
        <p:txBody>
          <a:bodyPr>
            <a:normAutofit/>
          </a:bodyPr>
          <a:lstStyle/>
          <a:p>
            <a:pPr marL="0" indent="0" algn="just">
              <a:buNone/>
            </a:pPr>
            <a:r>
              <a:rPr lang="en-US" sz="1800" b="1" dirty="0">
                <a:latin typeface="Times New Roman" panose="02020603050405020304" pitchFamily="18" charset="0"/>
                <a:cs typeface="Times New Roman" panose="02020603050405020304" pitchFamily="18" charset="0"/>
              </a:rPr>
              <a:t>Domain: Artificial Intelligence (AI) </a:t>
            </a: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 The core domain of this project is </a:t>
            </a:r>
            <a:r>
              <a:rPr lang="en-US" sz="1800" b="1" dirty="0">
                <a:latin typeface="Times New Roman" panose="02020603050405020304" pitchFamily="18" charset="0"/>
                <a:cs typeface="Times New Roman" panose="02020603050405020304" pitchFamily="18" charset="0"/>
              </a:rPr>
              <a:t>Artificial Intelligence (AI)</a:t>
            </a:r>
            <a:r>
              <a:rPr lang="en-US" sz="1800" dirty="0">
                <a:latin typeface="Times New Roman" panose="02020603050405020304" pitchFamily="18" charset="0"/>
                <a:cs typeface="Times New Roman" panose="02020603050405020304" pitchFamily="18" charset="0"/>
              </a:rPr>
              <a:t>, specifically focusing on </a:t>
            </a:r>
            <a:r>
              <a:rPr lang="en-US" sz="1800" b="1" dirty="0">
                <a:latin typeface="Times New Roman" panose="02020603050405020304" pitchFamily="18" charset="0"/>
                <a:cs typeface="Times New Roman" panose="02020603050405020304" pitchFamily="18" charset="0"/>
              </a:rPr>
              <a:t>Natural Language Processing (NLP)</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Speech Recognition</a:t>
            </a:r>
            <a:r>
              <a:rPr lang="en-US" sz="1800" dirty="0">
                <a:latin typeface="Times New Roman" panose="02020603050405020304" pitchFamily="18" charset="0"/>
                <a:cs typeface="Times New Roman" panose="02020603050405020304" pitchFamily="18" charset="0"/>
              </a:rPr>
              <a:t> to enable accurate, multilingual voice-based food ordering. </a:t>
            </a:r>
          </a:p>
          <a:p>
            <a:pPr marL="0" indent="0" algn="just">
              <a:buNone/>
            </a:pPr>
            <a:r>
              <a:rPr lang="en-US" sz="1800" b="1" dirty="0">
                <a:latin typeface="Times New Roman" panose="02020603050405020304" pitchFamily="18" charset="0"/>
                <a:cs typeface="Times New Roman" panose="02020603050405020304" pitchFamily="18" charset="0"/>
              </a:rPr>
              <a:t>Key Areas within the Project Domain:</a:t>
            </a:r>
            <a:endParaRPr lang="en-US" sz="1800" dirty="0">
              <a:latin typeface="Times New Roman" panose="02020603050405020304" pitchFamily="18" charset="0"/>
              <a:cs typeface="Times New Roman" panose="02020603050405020304" pitchFamily="18" charset="0"/>
            </a:endParaRPr>
          </a:p>
          <a:p>
            <a:pPr algn="just"/>
            <a:r>
              <a:rPr lang="en-US" sz="1800" b="1" dirty="0">
                <a:latin typeface="Times New Roman" panose="02020603050405020304" pitchFamily="18" charset="0"/>
                <a:cs typeface="Times New Roman" panose="02020603050405020304" pitchFamily="18" charset="0"/>
              </a:rPr>
              <a:t>Speech Recognition (OpenAI’s Whisper):</a:t>
            </a:r>
            <a:r>
              <a:rPr lang="en-US" sz="1800" dirty="0">
                <a:latin typeface="Times New Roman" panose="02020603050405020304" pitchFamily="18" charset="0"/>
                <a:cs typeface="Times New Roman" panose="02020603050405020304" pitchFamily="18" charset="0"/>
              </a:rPr>
              <a:t> Converts multilingual speech into text with high accuracy, even in noisy environments.</a:t>
            </a:r>
          </a:p>
          <a:p>
            <a:pPr algn="just"/>
            <a:r>
              <a:rPr lang="en-US" sz="1800" b="1" dirty="0">
                <a:latin typeface="Times New Roman" panose="02020603050405020304" pitchFamily="18" charset="0"/>
                <a:cs typeface="Times New Roman" panose="02020603050405020304" pitchFamily="18" charset="0"/>
              </a:rPr>
              <a:t>Natural Language Processing (</a:t>
            </a:r>
            <a:r>
              <a:rPr lang="en-US" sz="1800" b="1" dirty="0" err="1">
                <a:latin typeface="Times New Roman" panose="02020603050405020304" pitchFamily="18" charset="0"/>
                <a:cs typeface="Times New Roman" panose="02020603050405020304" pitchFamily="18" charset="0"/>
              </a:rPr>
              <a:t>DistilBERT</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Identifies user intent and extracts food order details from transcribed text.</a:t>
            </a:r>
          </a:p>
          <a:p>
            <a:pPr algn="just"/>
            <a:r>
              <a:rPr lang="en-US" sz="1800" b="1" dirty="0">
                <a:latin typeface="Times New Roman" panose="02020603050405020304" pitchFamily="18" charset="0"/>
                <a:cs typeface="Times New Roman" panose="02020603050405020304" pitchFamily="18" charset="0"/>
              </a:rPr>
              <a:t>Blockchain Integration:</a:t>
            </a:r>
            <a:r>
              <a:rPr lang="en-US" sz="1800" dirty="0">
                <a:latin typeface="Times New Roman" panose="02020603050405020304" pitchFamily="18" charset="0"/>
                <a:cs typeface="Times New Roman" panose="02020603050405020304" pitchFamily="18" charset="0"/>
              </a:rPr>
              <a:t> Provides a decentralized, secure ledger for transaction logging, inventory updates, and queue management.</a:t>
            </a:r>
          </a:p>
          <a:p>
            <a:pPr algn="just"/>
            <a:r>
              <a:rPr lang="en-US" sz="1800" b="1" dirty="0">
                <a:latin typeface="Times New Roman" panose="02020603050405020304" pitchFamily="18" charset="0"/>
                <a:cs typeface="Times New Roman" panose="02020603050405020304" pitchFamily="18" charset="0"/>
              </a:rPr>
              <a:t>AI-Driven Backend Automation:</a:t>
            </a:r>
            <a:r>
              <a:rPr lang="en-US" sz="1800" dirty="0">
                <a:latin typeface="Times New Roman" panose="02020603050405020304" pitchFamily="18" charset="0"/>
                <a:cs typeface="Times New Roman" panose="02020603050405020304" pitchFamily="18" charset="0"/>
              </a:rPr>
              <a:t> Handles real-time inventory checks, kitchen load balancing, and automated invoice generation.</a:t>
            </a:r>
          </a:p>
          <a:p>
            <a:pPr marL="0" indent="0">
              <a:buNone/>
            </a:pPr>
            <a:endParaRPr lang="en-US" dirty="0"/>
          </a:p>
        </p:txBody>
      </p:sp>
    </p:spTree>
    <p:extLst>
      <p:ext uri="{BB962C8B-B14F-4D97-AF65-F5344CB8AC3E}">
        <p14:creationId xmlns:p14="http://schemas.microsoft.com/office/powerpoint/2010/main" val="2257292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80C482-0DEE-B684-10AD-847D285F3373}"/>
              </a:ext>
            </a:extLst>
          </p:cNvPr>
          <p:cNvSpPr>
            <a:spLocks noGrp="1"/>
          </p:cNvSpPr>
          <p:nvPr>
            <p:ph idx="1"/>
          </p:nvPr>
        </p:nvSpPr>
        <p:spPr>
          <a:xfrm>
            <a:off x="838200" y="855662"/>
            <a:ext cx="10515600" cy="5545138"/>
          </a:xfrm>
        </p:spPr>
        <p:txBody>
          <a:bodyPr>
            <a:normAutofit fontScale="62500" lnSpcReduction="20000"/>
          </a:bodyPr>
          <a:lstStyle/>
          <a:p>
            <a:pPr marL="0" indent="0" eaLnBrk="0" fontAlgn="base" hangingPunct="0">
              <a:buNone/>
            </a:pPr>
            <a:r>
              <a:rPr lang="en-US" sz="5400" b="1" dirty="0">
                <a:latin typeface="Times New Roman" panose="02020603050405020304" pitchFamily="18" charset="0"/>
                <a:cs typeface="Times New Roman" panose="02020603050405020304" pitchFamily="18" charset="0"/>
              </a:rPr>
              <a:t>Requirement Analysis</a:t>
            </a:r>
            <a:endParaRPr lang="en-US" sz="5400" dirty="0">
              <a:latin typeface="Times New Roman" panose="02020603050405020304" pitchFamily="18" charset="0"/>
              <a:cs typeface="Times New Roman" panose="02020603050405020304" pitchFamily="18" charset="0"/>
            </a:endParaRPr>
          </a:p>
          <a:p>
            <a:pPr marL="0" indent="0" eaLnBrk="0" fontAlgn="base" hangingPunct="0">
              <a:buNone/>
            </a:pPr>
            <a:endParaRPr lang="en-US" sz="5200" b="1" dirty="0">
              <a:latin typeface="Times New Roman" panose="02020603050405020304" pitchFamily="18" charset="0"/>
              <a:cs typeface="Times New Roman" panose="02020603050405020304" pitchFamily="18" charset="0"/>
            </a:endParaRPr>
          </a:p>
          <a:p>
            <a:pPr marL="0" indent="0" eaLnBrk="0" fontAlgn="base" hangingPunct="0">
              <a:buNone/>
            </a:pPr>
            <a:r>
              <a:rPr lang="en-US" sz="5200" b="1" dirty="0">
                <a:latin typeface="Times New Roman" panose="02020603050405020304" pitchFamily="18" charset="0"/>
                <a:cs typeface="Times New Roman" panose="02020603050405020304" pitchFamily="18" charset="0"/>
              </a:rPr>
              <a:t>Functional Requirements </a:t>
            </a:r>
          </a:p>
          <a:p>
            <a:pPr eaLnBrk="0" fontAlgn="base" hangingPunct="0"/>
            <a:r>
              <a:rPr lang="en-US" sz="2600" b="1" dirty="0">
                <a:latin typeface="Times New Roman" panose="02020603050405020304" pitchFamily="18" charset="0"/>
                <a:cs typeface="Times New Roman" panose="02020603050405020304" pitchFamily="18" charset="0"/>
              </a:rPr>
              <a:t>Voice Order Collection</a:t>
            </a:r>
            <a:r>
              <a:rPr lang="en-US" sz="2600" dirty="0">
                <a:latin typeface="Times New Roman" panose="02020603050405020304" pitchFamily="18" charset="0"/>
                <a:cs typeface="Times New Roman" panose="02020603050405020304" pitchFamily="18" charset="0"/>
              </a:rPr>
              <a:t> – Capture and process user voice orders along with preferences.</a:t>
            </a:r>
            <a:endParaRPr lang="en-US" sz="2600" dirty="0">
              <a:effectLst/>
              <a:latin typeface="Times New Roman" panose="02020603050405020304" pitchFamily="18" charset="0"/>
              <a:cs typeface="Times New Roman" panose="02020603050405020304" pitchFamily="18" charset="0"/>
            </a:endParaRPr>
          </a:p>
          <a:p>
            <a:pPr eaLnBrk="0" fontAlgn="base" hangingPunct="0"/>
            <a:r>
              <a:rPr lang="en-US" sz="2600" b="1" dirty="0">
                <a:latin typeface="Times New Roman" panose="02020603050405020304" pitchFamily="18" charset="0"/>
                <a:cs typeface="Times New Roman" panose="02020603050405020304" pitchFamily="18" charset="0"/>
              </a:rPr>
              <a:t>Speech-to-Text Processing</a:t>
            </a:r>
            <a:r>
              <a:rPr lang="en-US" sz="2600" dirty="0">
                <a:latin typeface="Times New Roman" panose="02020603050405020304" pitchFamily="18" charset="0"/>
                <a:cs typeface="Times New Roman" panose="02020603050405020304" pitchFamily="18" charset="0"/>
              </a:rPr>
              <a:t> – Use Whisper to convert multilingual speech to text accurately.</a:t>
            </a:r>
            <a:endParaRPr lang="en-US" sz="2600" dirty="0">
              <a:effectLst/>
              <a:latin typeface="Times New Roman" panose="02020603050405020304" pitchFamily="18" charset="0"/>
              <a:cs typeface="Times New Roman" panose="02020603050405020304" pitchFamily="18" charset="0"/>
            </a:endParaRPr>
          </a:p>
          <a:p>
            <a:pPr eaLnBrk="0" fontAlgn="base" hangingPunct="0"/>
            <a:r>
              <a:rPr lang="en-US" sz="2600" b="1" dirty="0">
                <a:latin typeface="Times New Roman" panose="02020603050405020304" pitchFamily="18" charset="0"/>
                <a:cs typeface="Times New Roman" panose="02020603050405020304" pitchFamily="18" charset="0"/>
              </a:rPr>
              <a:t>Intent Recognition</a:t>
            </a:r>
            <a:r>
              <a:rPr lang="en-US" sz="2600" dirty="0">
                <a:latin typeface="Times New Roman" panose="02020603050405020304" pitchFamily="18" charset="0"/>
                <a:cs typeface="Times New Roman" panose="02020603050405020304" pitchFamily="18" charset="0"/>
              </a:rPr>
              <a:t> – Apply </a:t>
            </a:r>
            <a:r>
              <a:rPr lang="en-US" sz="2600" dirty="0" err="1">
                <a:latin typeface="Times New Roman" panose="02020603050405020304" pitchFamily="18" charset="0"/>
                <a:cs typeface="Times New Roman" panose="02020603050405020304" pitchFamily="18" charset="0"/>
              </a:rPr>
              <a:t>DistilBERT</a:t>
            </a:r>
            <a:r>
              <a:rPr lang="en-US" sz="2600" dirty="0">
                <a:latin typeface="Times New Roman" panose="02020603050405020304" pitchFamily="18" charset="0"/>
                <a:cs typeface="Times New Roman" panose="02020603050405020304" pitchFamily="18" charset="0"/>
              </a:rPr>
              <a:t> to detect order intent and extract food items.</a:t>
            </a:r>
            <a:endParaRPr lang="en-US" sz="2600" dirty="0">
              <a:effectLst/>
              <a:latin typeface="Times New Roman" panose="02020603050405020304" pitchFamily="18" charset="0"/>
              <a:cs typeface="Times New Roman" panose="02020603050405020304" pitchFamily="18" charset="0"/>
            </a:endParaRPr>
          </a:p>
          <a:p>
            <a:pPr eaLnBrk="0" fontAlgn="base" hangingPunct="0"/>
            <a:r>
              <a:rPr lang="en-US" sz="2600" b="1" dirty="0">
                <a:latin typeface="Times New Roman" panose="02020603050405020304" pitchFamily="18" charset="0"/>
                <a:cs typeface="Times New Roman" panose="02020603050405020304" pitchFamily="18" charset="0"/>
              </a:rPr>
              <a:t>Inventory &amp; Load Check</a:t>
            </a:r>
            <a:r>
              <a:rPr lang="en-US" sz="2600" dirty="0">
                <a:latin typeface="Times New Roman" panose="02020603050405020304" pitchFamily="18" charset="0"/>
                <a:cs typeface="Times New Roman" panose="02020603050405020304" pitchFamily="18" charset="0"/>
              </a:rPr>
              <a:t> – Verify stock and balance kitchen load in real time.</a:t>
            </a:r>
            <a:endParaRPr lang="en-US" sz="2600" dirty="0">
              <a:effectLst/>
              <a:latin typeface="Times New Roman" panose="02020603050405020304" pitchFamily="18" charset="0"/>
              <a:cs typeface="Times New Roman" panose="02020603050405020304" pitchFamily="18" charset="0"/>
            </a:endParaRPr>
          </a:p>
          <a:p>
            <a:pPr eaLnBrk="0" fontAlgn="base" hangingPunct="0"/>
            <a:r>
              <a:rPr lang="en-US" sz="2600" b="1" dirty="0">
                <a:latin typeface="Times New Roman" panose="02020603050405020304" pitchFamily="18" charset="0"/>
                <a:cs typeface="Times New Roman" panose="02020603050405020304" pitchFamily="18" charset="0"/>
              </a:rPr>
              <a:t>Blockchain Integration</a:t>
            </a:r>
            <a:r>
              <a:rPr lang="en-US" sz="2600" dirty="0">
                <a:latin typeface="Times New Roman" panose="02020603050405020304" pitchFamily="18" charset="0"/>
                <a:cs typeface="Times New Roman" panose="02020603050405020304" pitchFamily="18" charset="0"/>
              </a:rPr>
              <a:t> – Ensure secure order tracking and transaction logging.</a:t>
            </a:r>
            <a:endParaRPr lang="en-US" sz="2600" dirty="0">
              <a:effectLst/>
              <a:latin typeface="Times New Roman" panose="02020603050405020304" pitchFamily="18" charset="0"/>
              <a:cs typeface="Times New Roman" panose="02020603050405020304" pitchFamily="18" charset="0"/>
            </a:endParaRPr>
          </a:p>
          <a:p>
            <a:pPr eaLnBrk="0" fontAlgn="base" hangingPunct="0"/>
            <a:r>
              <a:rPr lang="en-US" sz="2600" b="1" dirty="0">
                <a:latin typeface="Times New Roman" panose="02020603050405020304" pitchFamily="18" charset="0"/>
                <a:cs typeface="Times New Roman" panose="02020603050405020304" pitchFamily="18" charset="0"/>
              </a:rPr>
              <a:t>Order Confirmation &amp; Payment</a:t>
            </a:r>
            <a:r>
              <a:rPr lang="en-US" sz="2600" dirty="0">
                <a:latin typeface="Times New Roman" panose="02020603050405020304" pitchFamily="18" charset="0"/>
                <a:cs typeface="Times New Roman" panose="02020603050405020304" pitchFamily="18" charset="0"/>
              </a:rPr>
              <a:t> – Confirm order and enable secure  payments.</a:t>
            </a:r>
            <a:endParaRPr lang="en-US" sz="2600" dirty="0">
              <a:effectLst/>
              <a:latin typeface="Times New Roman" panose="02020603050405020304" pitchFamily="18" charset="0"/>
              <a:cs typeface="Times New Roman" panose="02020603050405020304" pitchFamily="18" charset="0"/>
            </a:endParaRPr>
          </a:p>
          <a:p>
            <a:pPr eaLnBrk="0" fontAlgn="base" hangingPunct="0"/>
            <a:r>
              <a:rPr lang="en-US" sz="2600" b="1" dirty="0">
                <a:latin typeface="Times New Roman" panose="02020603050405020304" pitchFamily="18" charset="0"/>
                <a:cs typeface="Times New Roman" panose="02020603050405020304" pitchFamily="18" charset="0"/>
              </a:rPr>
              <a:t>Invoice Generation</a:t>
            </a:r>
            <a:r>
              <a:rPr lang="en-US" sz="2600" dirty="0">
                <a:latin typeface="Times New Roman" panose="02020603050405020304" pitchFamily="18" charset="0"/>
                <a:cs typeface="Times New Roman" panose="02020603050405020304" pitchFamily="18" charset="0"/>
              </a:rPr>
              <a:t> – Auto-create and send digital invoices to users.</a:t>
            </a:r>
            <a:endParaRPr lang="en-US" sz="2600" dirty="0">
              <a:effectLst/>
              <a:latin typeface="Times New Roman" panose="02020603050405020304" pitchFamily="18" charset="0"/>
              <a:cs typeface="Times New Roman" panose="02020603050405020304" pitchFamily="18" charset="0"/>
            </a:endParaRPr>
          </a:p>
          <a:p>
            <a:pPr eaLnBrk="0" fontAlgn="base" hangingPunct="0"/>
            <a:r>
              <a:rPr lang="en-US" sz="2600" b="1" dirty="0">
                <a:latin typeface="Times New Roman" panose="02020603050405020304" pitchFamily="18" charset="0"/>
                <a:cs typeface="Times New Roman" panose="02020603050405020304" pitchFamily="18" charset="0"/>
              </a:rPr>
              <a:t>Analytics &amp; Learning</a:t>
            </a:r>
            <a:r>
              <a:rPr lang="en-US" sz="2600" dirty="0">
                <a:latin typeface="Times New Roman" panose="02020603050405020304" pitchFamily="18" charset="0"/>
                <a:cs typeface="Times New Roman" panose="02020603050405020304" pitchFamily="18" charset="0"/>
              </a:rPr>
              <a:t> – Generate daily reports and improve accuracy via feedback.</a:t>
            </a:r>
          </a:p>
          <a:p>
            <a:pPr eaLnBrk="0" fontAlgn="base" hangingPunct="0"/>
            <a:endParaRPr lang="en-US" sz="2600" dirty="0">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kumimoji="0" lang="en-US" altLang="en-US" sz="5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Non-Functional Requirements </a:t>
            </a:r>
          </a:p>
          <a:p>
            <a:pPr marL="0" lvl="0" indent="0" eaLnBrk="0" fontAlgn="base" hangingPunct="0">
              <a:lnSpc>
                <a:spcPct val="100000"/>
              </a:lnSpc>
              <a:spcBef>
                <a:spcPct val="0"/>
              </a:spcBef>
              <a:spcAft>
                <a:spcPct val="0"/>
              </a:spcAft>
              <a:buFontTx/>
              <a:buAutoNum type="arabicPeriod"/>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a:t>
            </a:r>
            <a:r>
              <a:rPr lang="en-US" altLang="en-US" sz="2600" dirty="0">
                <a:latin typeface="Times New Roman" panose="02020603050405020304" pitchFamily="18" charset="0"/>
                <a:cs typeface="Times New Roman" panose="02020603050405020304" pitchFamily="18" charset="0"/>
              </a:rPr>
              <a:t> – Process multiple voice orders with low latency</a:t>
            </a:r>
          </a:p>
          <a:p>
            <a:pPr marL="0" lvl="0" indent="0" eaLnBrk="0" fontAlgn="base" hangingPunct="0">
              <a:lnSpc>
                <a:spcPct val="100000"/>
              </a:lnSpc>
              <a:spcBef>
                <a:spcPct val="0"/>
              </a:spcBef>
              <a:spcAft>
                <a:spcPct val="0"/>
              </a:spcAft>
              <a:buNone/>
            </a:pPr>
            <a:r>
              <a:rPr lang="en-US" altLang="en-US" sz="2600" b="1" dirty="0">
                <a:latin typeface="Times New Roman" panose="02020603050405020304" pitchFamily="18" charset="0"/>
                <a:cs typeface="Times New Roman" panose="02020603050405020304" pitchFamily="18" charset="0"/>
              </a:rPr>
              <a:t>2.Security</a:t>
            </a:r>
            <a:r>
              <a:rPr lang="en-US" altLang="en-US" sz="2600" dirty="0">
                <a:latin typeface="Times New Roman" panose="02020603050405020304" pitchFamily="18" charset="0"/>
                <a:cs typeface="Times New Roman" panose="02020603050405020304" pitchFamily="18" charset="0"/>
              </a:rPr>
              <a:t> – Encrypt user/order data; blockchain ensures secure transactions.</a:t>
            </a:r>
          </a:p>
          <a:p>
            <a:pPr marL="0" lvl="0" indent="0" eaLnBrk="0" fontAlgn="base" hangingPunct="0">
              <a:lnSpc>
                <a:spcPct val="100000"/>
              </a:lnSpc>
              <a:spcBef>
                <a:spcPct val="0"/>
              </a:spcBef>
              <a:spcAft>
                <a:spcPct val="0"/>
              </a:spcAft>
              <a:buNone/>
            </a:pPr>
            <a:r>
              <a:rPr lang="en-US" altLang="en-US" sz="2600" b="1" dirty="0">
                <a:latin typeface="Times New Roman" panose="02020603050405020304" pitchFamily="18" charset="0"/>
                <a:cs typeface="Times New Roman" panose="02020603050405020304" pitchFamily="18" charset="0"/>
              </a:rPr>
              <a:t>3.Reliability</a:t>
            </a:r>
            <a:r>
              <a:rPr lang="en-US" altLang="en-US" sz="2600" dirty="0">
                <a:latin typeface="Times New Roman" panose="02020603050405020304" pitchFamily="18" charset="0"/>
                <a:cs typeface="Times New Roman" panose="02020603050405020304" pitchFamily="18" charset="0"/>
              </a:rPr>
              <a:t> – Operate without crashes even under heavy load.</a:t>
            </a:r>
          </a:p>
          <a:p>
            <a:pPr marL="0" lvl="0" indent="0" eaLnBrk="0" fontAlgn="base" hangingPunct="0">
              <a:lnSpc>
                <a:spcPct val="100000"/>
              </a:lnSpc>
              <a:spcBef>
                <a:spcPct val="0"/>
              </a:spcBef>
              <a:spcAft>
                <a:spcPct val="0"/>
              </a:spcAft>
              <a:buNone/>
            </a:pPr>
            <a:r>
              <a:rPr lang="en-US" altLang="en-US" sz="2600" b="1" dirty="0">
                <a:latin typeface="Times New Roman" panose="02020603050405020304" pitchFamily="18" charset="0"/>
                <a:cs typeface="Times New Roman" panose="02020603050405020304" pitchFamily="18" charset="0"/>
              </a:rPr>
              <a:t>4.Usability</a:t>
            </a:r>
            <a:r>
              <a:rPr lang="en-US" altLang="en-US" sz="2600" dirty="0">
                <a:latin typeface="Times New Roman" panose="02020603050405020304" pitchFamily="18" charset="0"/>
                <a:cs typeface="Times New Roman" panose="02020603050405020304" pitchFamily="18" charset="0"/>
              </a:rPr>
              <a:t> – Provide a simple, natural voice interface for all users.</a:t>
            </a:r>
          </a:p>
          <a:p>
            <a:endParaRPr lang="en-US" dirty="0"/>
          </a:p>
        </p:txBody>
      </p:sp>
    </p:spTree>
    <p:extLst>
      <p:ext uri="{BB962C8B-B14F-4D97-AF65-F5344CB8AC3E}">
        <p14:creationId xmlns:p14="http://schemas.microsoft.com/office/powerpoint/2010/main" val="4238499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239365-9E59-81C0-B149-ED51EDC19EB7}"/>
              </a:ext>
            </a:extLst>
          </p:cNvPr>
          <p:cNvSpPr>
            <a:spLocks noGrp="1"/>
          </p:cNvSpPr>
          <p:nvPr>
            <p:ph idx="1"/>
          </p:nvPr>
        </p:nvSpPr>
        <p:spPr>
          <a:xfrm>
            <a:off x="1001486" y="0"/>
            <a:ext cx="9289143" cy="6857999"/>
          </a:xfrm>
        </p:spPr>
        <p:txBody>
          <a:bodyPr>
            <a:normAutofit fontScale="92500" lnSpcReduction="10000"/>
          </a:bodyPr>
          <a:lstStyle/>
          <a:p>
            <a:pPr marL="0" indent="0">
              <a:buNone/>
            </a:pPr>
            <a:r>
              <a:rPr lang="en-US" sz="4300" b="1" dirty="0">
                <a:latin typeface="Times New Roman" panose="02020603050405020304" pitchFamily="18" charset="0"/>
                <a:cs typeface="Times New Roman" panose="02020603050405020304" pitchFamily="18" charset="0"/>
              </a:rPr>
              <a:t>Software Requirements</a:t>
            </a:r>
          </a:p>
          <a:p>
            <a:pPr marL="0" indent="0">
              <a:buNone/>
            </a:pPr>
            <a:r>
              <a:rPr lang="en-US" sz="1900" b="1" dirty="0">
                <a:latin typeface="Times New Roman" panose="02020603050405020304" pitchFamily="18" charset="0"/>
                <a:cs typeface="Times New Roman" panose="02020603050405020304" pitchFamily="18" charset="0"/>
              </a:rPr>
              <a:t>Programming Language</a:t>
            </a:r>
            <a:r>
              <a:rPr lang="en-US" sz="19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Python (core development and ML implementation)</a:t>
            </a:r>
          </a:p>
          <a:p>
            <a:pPr marL="0" indent="0">
              <a:buNone/>
            </a:pPr>
            <a:r>
              <a:rPr lang="en-US" sz="1700" b="1" dirty="0">
                <a:latin typeface="Times New Roman" panose="02020603050405020304" pitchFamily="18" charset="0"/>
                <a:cs typeface="Times New Roman" panose="02020603050405020304" pitchFamily="18" charset="0"/>
              </a:rPr>
              <a:t>Libraries/Frameworks</a:t>
            </a:r>
            <a:r>
              <a:rPr lang="en-US" sz="1700" dirty="0">
                <a:latin typeface="Times New Roman" panose="02020603050405020304" pitchFamily="18" charset="0"/>
                <a:cs typeface="Times New Roman" panose="02020603050405020304" pitchFamily="18" charset="0"/>
              </a:rPr>
              <a:t>:</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OpenAI Whisper – Multilingual speech-to-text conversion</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Transformers (</a:t>
            </a:r>
            <a:r>
              <a:rPr lang="en-US" altLang="en-US" sz="1800" dirty="0" err="1">
                <a:latin typeface="Times New Roman" panose="02020603050405020304" pitchFamily="18" charset="0"/>
                <a:cs typeface="Times New Roman" panose="02020603050405020304" pitchFamily="18" charset="0"/>
              </a:rPr>
              <a:t>HuggingFace</a:t>
            </a:r>
            <a:r>
              <a:rPr lang="en-US" altLang="en-US" sz="1800" dirty="0">
                <a:latin typeface="Times New Roman" panose="02020603050405020304" pitchFamily="18" charset="0"/>
                <a:cs typeface="Times New Roman" panose="02020603050405020304" pitchFamily="18" charset="0"/>
              </a:rPr>
              <a:t>) – For fine-tuned </a:t>
            </a:r>
            <a:r>
              <a:rPr lang="en-US" altLang="en-US" sz="1800" dirty="0" err="1">
                <a:latin typeface="Times New Roman" panose="02020603050405020304" pitchFamily="18" charset="0"/>
                <a:cs typeface="Times New Roman" panose="02020603050405020304" pitchFamily="18" charset="0"/>
              </a:rPr>
              <a:t>DistilBERT</a:t>
            </a:r>
            <a:r>
              <a:rPr lang="en-US" altLang="en-US" sz="1800" dirty="0">
                <a:latin typeface="Times New Roman" panose="02020603050405020304" pitchFamily="18" charset="0"/>
                <a:cs typeface="Times New Roman" panose="02020603050405020304" pitchFamily="18" charset="0"/>
              </a:rPr>
              <a:t> intent recognition</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Flask / </a:t>
            </a:r>
            <a:r>
              <a:rPr lang="en-US" altLang="en-US" sz="1800" dirty="0" err="1">
                <a:latin typeface="Times New Roman" panose="02020603050405020304" pitchFamily="18" charset="0"/>
                <a:cs typeface="Times New Roman" panose="02020603050405020304" pitchFamily="18" charset="0"/>
              </a:rPr>
              <a:t>FastAPI</a:t>
            </a:r>
            <a:r>
              <a:rPr lang="en-US" altLang="en-US" sz="1800" dirty="0">
                <a:latin typeface="Times New Roman" panose="02020603050405020304" pitchFamily="18" charset="0"/>
                <a:cs typeface="Times New Roman" panose="02020603050405020304" pitchFamily="18" charset="0"/>
              </a:rPr>
              <a:t> – Backend REST API development</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scikit-learn – Additional NLP or ML tasks</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Web3.py – Ethereum blockchain integration</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Matplotlib– Analytics dashboard visualization</a:t>
            </a:r>
          </a:p>
          <a:p>
            <a:pPr marL="0" lvl="0" indent="0" eaLnBrk="0" fontAlgn="base" hangingPunct="0">
              <a:lnSpc>
                <a:spcPct val="100000"/>
              </a:lnSpc>
              <a:spcBef>
                <a:spcPct val="0"/>
              </a:spcBef>
              <a:spcAft>
                <a:spcPct val="0"/>
              </a:spcAft>
              <a:buNone/>
            </a:pPr>
            <a:r>
              <a:rPr lang="en-US" altLang="en-US" sz="1700" b="1" dirty="0">
                <a:latin typeface="Times New Roman" panose="02020603050405020304" pitchFamily="18" charset="0"/>
                <a:cs typeface="Times New Roman" panose="02020603050405020304" pitchFamily="18" charset="0"/>
              </a:rPr>
              <a:t>Development Environment</a:t>
            </a:r>
            <a:r>
              <a:rPr lang="en-US" altLang="en-US" sz="1700" dirty="0">
                <a:latin typeface="Times New Roman" panose="02020603050405020304" pitchFamily="18" charset="0"/>
                <a:cs typeface="Times New Roman" panose="02020603050405020304" pitchFamily="18" charset="0"/>
              </a:rPr>
              <a:t>:</a:t>
            </a:r>
          </a:p>
          <a:p>
            <a:pPr eaLnBrk="0" fontAlgn="base" hangingPunct="0">
              <a:lnSpc>
                <a:spcPct val="100000"/>
              </a:lnSpc>
              <a:spcBef>
                <a:spcPct val="0"/>
              </a:spcBef>
              <a:spcAft>
                <a:spcPct val="0"/>
              </a:spcAft>
            </a:pPr>
            <a:r>
              <a:rPr lang="en-US" altLang="en-US" sz="1800" dirty="0" err="1">
                <a:latin typeface="Times New Roman" panose="02020603050405020304" pitchFamily="18" charset="0"/>
                <a:cs typeface="Times New Roman" panose="02020603050405020304" pitchFamily="18" charset="0"/>
              </a:rPr>
              <a:t>Jupyter</a:t>
            </a:r>
            <a:r>
              <a:rPr lang="en-US" altLang="en-US" sz="1800" dirty="0">
                <a:latin typeface="Times New Roman" panose="02020603050405020304" pitchFamily="18" charset="0"/>
                <a:cs typeface="Times New Roman" panose="02020603050405020304" pitchFamily="18" charset="0"/>
              </a:rPr>
              <a:t> Notebook</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Google </a:t>
            </a:r>
            <a:r>
              <a:rPr lang="en-US" altLang="en-US" sz="1800" dirty="0" err="1">
                <a:latin typeface="Times New Roman" panose="02020603050405020304" pitchFamily="18" charset="0"/>
                <a:cs typeface="Times New Roman" panose="02020603050405020304" pitchFamily="18" charset="0"/>
              </a:rPr>
              <a:t>Colab</a:t>
            </a:r>
            <a:endParaRPr lang="en-US" altLang="en-US" sz="18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VS Code / PyCharm</a:t>
            </a:r>
          </a:p>
          <a:p>
            <a:pPr marL="0" lvl="0" indent="0" eaLnBrk="0" fontAlgn="base" hangingPunct="0">
              <a:lnSpc>
                <a:spcPct val="100000"/>
              </a:lnSpc>
              <a:spcBef>
                <a:spcPct val="0"/>
              </a:spcBef>
              <a:spcAft>
                <a:spcPct val="0"/>
              </a:spcAft>
              <a:buNone/>
            </a:pPr>
            <a:r>
              <a:rPr lang="en-US" altLang="en-US" sz="1700" b="1" dirty="0">
                <a:latin typeface="Times New Roman" panose="02020603050405020304" pitchFamily="18" charset="0"/>
                <a:cs typeface="Times New Roman" panose="02020603050405020304" pitchFamily="18" charset="0"/>
              </a:rPr>
              <a:t>Database</a:t>
            </a:r>
            <a:r>
              <a:rPr lang="en-US" altLang="en-US" sz="1700" dirty="0">
                <a:latin typeface="Times New Roman" panose="02020603050405020304" pitchFamily="18" charset="0"/>
                <a:cs typeface="Times New Roman" panose="02020603050405020304" pitchFamily="18" charset="0"/>
              </a:rPr>
              <a:t>:</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MongoDB (Order, inventory, user management)</a:t>
            </a:r>
          </a:p>
          <a:p>
            <a:pPr>
              <a:lnSpc>
                <a:spcPct val="100000"/>
              </a:lnSpc>
              <a:spcBef>
                <a:spcPct val="0"/>
              </a:spcBef>
              <a:buFontTx/>
              <a:buNone/>
              <a:defRPr/>
            </a:pPr>
            <a:r>
              <a:rPr lang="en-US" altLang="en-US" sz="4300" b="1" dirty="0">
                <a:latin typeface="Times New Roman" panose="02020603050405020304" pitchFamily="18" charset="0"/>
                <a:cs typeface="Times New Roman" panose="02020603050405020304" pitchFamily="18" charset="0"/>
              </a:rPr>
              <a:t>Hardware Requirements</a:t>
            </a:r>
            <a:endParaRPr lang="en-US" altLang="en-US" sz="4300" dirty="0">
              <a:latin typeface="Times New Roman" panose="02020603050405020304" pitchFamily="18" charset="0"/>
              <a:cs typeface="Times New Roman" panose="02020603050405020304" pitchFamily="18" charset="0"/>
            </a:endParaRPr>
          </a:p>
          <a:p>
            <a:pPr marL="0" indent="0">
              <a:lnSpc>
                <a:spcPct val="100000"/>
              </a:lnSpc>
              <a:spcBef>
                <a:spcPct val="0"/>
              </a:spcBef>
              <a:buNone/>
              <a:defRPr/>
            </a:pPr>
            <a:r>
              <a:rPr lang="en-US" altLang="en-US" sz="1700" b="1" dirty="0">
                <a:latin typeface="Times New Roman" panose="02020603050405020304" pitchFamily="18" charset="0"/>
                <a:cs typeface="Times New Roman" panose="02020603050405020304" pitchFamily="18" charset="0"/>
              </a:rPr>
              <a:t>Processors</a:t>
            </a:r>
            <a:r>
              <a:rPr lang="en-US" altLang="en-US" sz="1800" b="1"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Multi-core CPUs or GPUs </a:t>
            </a:r>
            <a:r>
              <a:rPr lang="en-US" sz="1800" dirty="0">
                <a:latin typeface="Times New Roman" panose="02020603050405020304" pitchFamily="18" charset="0"/>
                <a:cs typeface="Times New Roman" panose="02020603050405020304" pitchFamily="18" charset="0"/>
              </a:rPr>
              <a:t>for faster Whisper and NLP model execution</a:t>
            </a:r>
          </a:p>
          <a:p>
            <a:pPr marL="0" indent="0">
              <a:buNone/>
            </a:pPr>
            <a:r>
              <a:rPr lang="en-US" sz="1700" b="1" dirty="0">
                <a:latin typeface="Times New Roman" panose="02020603050405020304" pitchFamily="18" charset="0"/>
                <a:cs typeface="Times New Roman" panose="02020603050405020304" pitchFamily="18" charset="0"/>
              </a:rPr>
              <a:t>Memory (RAM)</a:t>
            </a:r>
            <a:r>
              <a:rPr lang="en-US" sz="17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Minimum 8 GB or  Recommended 16 GB or more (for parallel processing and inference in real time)</a:t>
            </a:r>
          </a:p>
          <a:p>
            <a:pPr marL="0" indent="0">
              <a:buNone/>
            </a:pPr>
            <a:r>
              <a:rPr lang="en-US" sz="1700" b="1" dirty="0">
                <a:latin typeface="Times New Roman" panose="02020603050405020304" pitchFamily="18" charset="0"/>
                <a:cs typeface="Times New Roman" panose="02020603050405020304" pitchFamily="18" charset="0"/>
              </a:rPr>
              <a:t>Networking</a:t>
            </a:r>
            <a:r>
              <a:rPr lang="en-US" sz="17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Stable internet for real-time Whisper API or self-hosted models</a:t>
            </a:r>
          </a:p>
          <a:p>
            <a:r>
              <a:rPr lang="en-US" sz="1800" dirty="0">
                <a:latin typeface="Times New Roman" panose="02020603050405020304" pitchFamily="18" charset="0"/>
                <a:cs typeface="Times New Roman" panose="02020603050405020304" pitchFamily="18" charset="0"/>
              </a:rPr>
              <a:t>Local network (for deployment in kiosks or metro stations)</a:t>
            </a:r>
          </a:p>
          <a:p>
            <a:endParaRPr lang="en-US" sz="1800" dirty="0"/>
          </a:p>
          <a:p>
            <a:pPr marL="0" indent="0">
              <a:lnSpc>
                <a:spcPct val="100000"/>
              </a:lnSpc>
              <a:spcBef>
                <a:spcPct val="0"/>
              </a:spcBef>
              <a:buNone/>
              <a:defRPr/>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None/>
            </a:pPr>
            <a:endParaRPr lang="en-US" altLang="en-US" sz="1800" dirty="0"/>
          </a:p>
          <a:p>
            <a:pPr marL="0" lvl="0" indent="0" eaLnBrk="0" fontAlgn="base" hangingPunct="0">
              <a:lnSpc>
                <a:spcPct val="100000"/>
              </a:lnSpc>
              <a:spcBef>
                <a:spcPct val="0"/>
              </a:spcBef>
              <a:spcAft>
                <a:spcPct val="0"/>
              </a:spcAft>
              <a:buFontTx/>
              <a:buChar char="•"/>
            </a:pPr>
            <a:endParaRPr lang="en-US" altLang="en-US" sz="4400" dirty="0">
              <a:latin typeface="Arial" panose="020B0604020202020204" pitchFamily="34" charset="0"/>
            </a:endParaRPr>
          </a:p>
          <a:p>
            <a:pPr marL="0" lvl="0" indent="0" eaLnBrk="0" fontAlgn="base" hangingPunct="0">
              <a:lnSpc>
                <a:spcPct val="100000"/>
              </a:lnSpc>
              <a:spcBef>
                <a:spcPct val="0"/>
              </a:spcBef>
              <a:spcAft>
                <a:spcPct val="0"/>
              </a:spcAft>
              <a:buFontTx/>
              <a:buChar char="•"/>
            </a:pPr>
            <a:endParaRPr lang="en-US" altLang="en-US" sz="4400" dirty="0">
              <a:latin typeface="Arial" panose="020B0604020202020204" pitchFamily="34" charset="0"/>
            </a:endParaRPr>
          </a:p>
          <a:p>
            <a:pPr marL="0" indent="0">
              <a:buNone/>
            </a:pPr>
            <a:endParaRPr lang="en-US" dirty="0"/>
          </a:p>
        </p:txBody>
      </p:sp>
      <p:pic>
        <p:nvPicPr>
          <p:cNvPr id="6" name="Picture 5">
            <a:extLst>
              <a:ext uri="{FF2B5EF4-FFF2-40B4-BE49-F238E27FC236}">
                <a16:creationId xmlns:a16="http://schemas.microsoft.com/office/drawing/2014/main" id="{8971C770-0399-B737-FC2C-2025693EFA1E}"/>
              </a:ext>
            </a:extLst>
          </p:cNvPr>
          <p:cNvPicPr>
            <a:picLocks noChangeAspect="1"/>
          </p:cNvPicPr>
          <p:nvPr/>
        </p:nvPicPr>
        <p:blipFill>
          <a:blip r:embed="rId2"/>
          <a:stretch>
            <a:fillRect/>
          </a:stretch>
        </p:blipFill>
        <p:spPr>
          <a:xfrm>
            <a:off x="8386763" y="681038"/>
            <a:ext cx="3090862" cy="3084024"/>
          </a:xfrm>
          <a:prstGeom prst="rect">
            <a:avLst/>
          </a:prstGeom>
        </p:spPr>
      </p:pic>
    </p:spTree>
    <p:extLst>
      <p:ext uri="{BB962C8B-B14F-4D97-AF65-F5344CB8AC3E}">
        <p14:creationId xmlns:p14="http://schemas.microsoft.com/office/powerpoint/2010/main" val="1591879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97432-F63B-9241-324E-37142FD99187}"/>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System Architecture</a:t>
            </a:r>
            <a:br>
              <a:rPr lang="en-US" dirty="0">
                <a:latin typeface="Times New Roman" panose="02020603050405020304" pitchFamily="18" charset="0"/>
                <a:cs typeface="Times New Roman" panose="02020603050405020304" pitchFamily="18" charset="0"/>
              </a:rPr>
            </a:br>
            <a:endParaRPr lang="en-US" dirty="0"/>
          </a:p>
        </p:txBody>
      </p:sp>
      <p:pic>
        <p:nvPicPr>
          <p:cNvPr id="6" name="Content Placeholder 5">
            <a:extLst>
              <a:ext uri="{FF2B5EF4-FFF2-40B4-BE49-F238E27FC236}">
                <a16:creationId xmlns:a16="http://schemas.microsoft.com/office/drawing/2014/main" id="{847B8718-384D-A9E5-2464-3DCED587F9F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5875" r="35625"/>
          <a:stretch>
            <a:fillRect/>
          </a:stretch>
        </p:blipFill>
        <p:spPr>
          <a:xfrm>
            <a:off x="2636138" y="5195490"/>
            <a:ext cx="1085850" cy="1190625"/>
          </a:xfrm>
        </p:spPr>
      </p:pic>
      <p:pic>
        <p:nvPicPr>
          <p:cNvPr id="8" name="Picture 7">
            <a:extLst>
              <a:ext uri="{FF2B5EF4-FFF2-40B4-BE49-F238E27FC236}">
                <a16:creationId xmlns:a16="http://schemas.microsoft.com/office/drawing/2014/main" id="{7054257F-4C2F-E8B8-1635-4F9B5525EEF1}"/>
              </a:ext>
            </a:extLst>
          </p:cNvPr>
          <p:cNvPicPr>
            <a:picLocks noChangeAspect="1"/>
          </p:cNvPicPr>
          <p:nvPr/>
        </p:nvPicPr>
        <p:blipFill>
          <a:blip r:embed="rId3">
            <a:extLst>
              <a:ext uri="{28A0092B-C50C-407E-A947-70E740481C1C}">
                <a14:useLocalDpi xmlns:a14="http://schemas.microsoft.com/office/drawing/2010/main" val="0"/>
              </a:ext>
            </a:extLst>
          </a:blip>
          <a:srcRect l="17694" r="27573"/>
          <a:stretch>
            <a:fillRect/>
          </a:stretch>
        </p:blipFill>
        <p:spPr>
          <a:xfrm>
            <a:off x="4694586" y="4309664"/>
            <a:ext cx="1260355" cy="2076451"/>
          </a:xfrm>
          <a:prstGeom prst="rect">
            <a:avLst/>
          </a:prstGeom>
        </p:spPr>
      </p:pic>
      <p:pic>
        <p:nvPicPr>
          <p:cNvPr id="10" name="Picture 9">
            <a:extLst>
              <a:ext uri="{FF2B5EF4-FFF2-40B4-BE49-F238E27FC236}">
                <a16:creationId xmlns:a16="http://schemas.microsoft.com/office/drawing/2014/main" id="{CF61C762-2168-248C-F9DA-71AD23F7E6D1}"/>
              </a:ext>
            </a:extLst>
          </p:cNvPr>
          <p:cNvPicPr>
            <a:picLocks noChangeAspect="1"/>
          </p:cNvPicPr>
          <p:nvPr/>
        </p:nvPicPr>
        <p:blipFill>
          <a:blip r:embed="rId4">
            <a:extLst>
              <a:ext uri="{28A0092B-C50C-407E-A947-70E740481C1C}">
                <a14:useLocalDpi xmlns:a14="http://schemas.microsoft.com/office/drawing/2010/main" val="0"/>
              </a:ext>
            </a:extLst>
          </a:blip>
          <a:srcRect l="10637" t="9483" r="52589" b="53123"/>
          <a:stretch>
            <a:fillRect/>
          </a:stretch>
        </p:blipFill>
        <p:spPr>
          <a:xfrm>
            <a:off x="10313982" y="5062140"/>
            <a:ext cx="1260355" cy="1196976"/>
          </a:xfrm>
          <a:prstGeom prst="rect">
            <a:avLst/>
          </a:prstGeom>
        </p:spPr>
      </p:pic>
      <p:pic>
        <p:nvPicPr>
          <p:cNvPr id="3074" name="Picture 2" descr="What is a payment processor?">
            <a:extLst>
              <a:ext uri="{FF2B5EF4-FFF2-40B4-BE49-F238E27FC236}">
                <a16:creationId xmlns:a16="http://schemas.microsoft.com/office/drawing/2014/main" id="{25F7738C-6B8E-6F96-47EE-DB5BF23EBAB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863" t="36716" r="33699" b="15999"/>
          <a:stretch>
            <a:fillRect/>
          </a:stretch>
        </p:blipFill>
        <p:spPr bwMode="auto">
          <a:xfrm>
            <a:off x="7814095" y="5023868"/>
            <a:ext cx="1587500" cy="132556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5AABA8AF-6984-7E2D-631B-D7780A380F22}"/>
              </a:ext>
            </a:extLst>
          </p:cNvPr>
          <p:cNvPicPr>
            <a:picLocks noChangeAspect="1"/>
          </p:cNvPicPr>
          <p:nvPr/>
        </p:nvPicPr>
        <p:blipFill>
          <a:blip r:embed="rId6">
            <a:extLst>
              <a:ext uri="{28A0092B-C50C-407E-A947-70E740481C1C}">
                <a14:useLocalDpi xmlns:a14="http://schemas.microsoft.com/office/drawing/2010/main" val="0"/>
              </a:ext>
            </a:extLst>
          </a:blip>
          <a:srcRect l="-566" t="5264" r="566" b="15921"/>
          <a:stretch>
            <a:fillRect/>
          </a:stretch>
        </p:blipFill>
        <p:spPr>
          <a:xfrm>
            <a:off x="6610913" y="1752655"/>
            <a:ext cx="1822331" cy="1325564"/>
          </a:xfrm>
          <a:prstGeom prst="rect">
            <a:avLst/>
          </a:prstGeom>
        </p:spPr>
      </p:pic>
      <p:pic>
        <p:nvPicPr>
          <p:cNvPr id="20" name="Picture 19">
            <a:extLst>
              <a:ext uri="{FF2B5EF4-FFF2-40B4-BE49-F238E27FC236}">
                <a16:creationId xmlns:a16="http://schemas.microsoft.com/office/drawing/2014/main" id="{8CCAD3F3-D93A-B84D-15BF-2C2A500A90E5}"/>
              </a:ext>
            </a:extLst>
          </p:cNvPr>
          <p:cNvPicPr>
            <a:picLocks noChangeAspect="1"/>
          </p:cNvPicPr>
          <p:nvPr/>
        </p:nvPicPr>
        <p:blipFill>
          <a:blip r:embed="rId7">
            <a:extLst>
              <a:ext uri="{28A0092B-C50C-407E-A947-70E740481C1C}">
                <a14:useLocalDpi xmlns:a14="http://schemas.microsoft.com/office/drawing/2010/main" val="0"/>
              </a:ext>
            </a:extLst>
          </a:blip>
          <a:srcRect l="18113" t="36606" r="18113" b="35864"/>
          <a:stretch>
            <a:fillRect/>
          </a:stretch>
        </p:blipFill>
        <p:spPr>
          <a:xfrm rot="5400000">
            <a:off x="5643216" y="5127623"/>
            <a:ext cx="2076452" cy="440532"/>
          </a:xfrm>
          <a:prstGeom prst="rect">
            <a:avLst/>
          </a:prstGeom>
        </p:spPr>
      </p:pic>
      <p:pic>
        <p:nvPicPr>
          <p:cNvPr id="24" name="Picture 23">
            <a:extLst>
              <a:ext uri="{FF2B5EF4-FFF2-40B4-BE49-F238E27FC236}">
                <a16:creationId xmlns:a16="http://schemas.microsoft.com/office/drawing/2014/main" id="{1CD347CC-A93A-BA8C-A24F-C3D715FA08FF}"/>
              </a:ext>
            </a:extLst>
          </p:cNvPr>
          <p:cNvPicPr>
            <a:picLocks noChangeAspect="1"/>
          </p:cNvPicPr>
          <p:nvPr/>
        </p:nvPicPr>
        <p:blipFill>
          <a:blip r:embed="rId8">
            <a:extLst>
              <a:ext uri="{28A0092B-C50C-407E-A947-70E740481C1C}">
                <a14:useLocalDpi xmlns:a14="http://schemas.microsoft.com/office/drawing/2010/main" val="0"/>
              </a:ext>
            </a:extLst>
          </a:blip>
          <a:srcRect l="11481" t="4363" r="10988" b="8055"/>
          <a:stretch>
            <a:fillRect/>
          </a:stretch>
        </p:blipFill>
        <p:spPr>
          <a:xfrm>
            <a:off x="646094" y="2415437"/>
            <a:ext cx="1085851" cy="2525315"/>
          </a:xfrm>
          <a:prstGeom prst="rect">
            <a:avLst/>
          </a:prstGeom>
        </p:spPr>
      </p:pic>
      <p:pic>
        <p:nvPicPr>
          <p:cNvPr id="28" name="Picture 27">
            <a:extLst>
              <a:ext uri="{FF2B5EF4-FFF2-40B4-BE49-F238E27FC236}">
                <a16:creationId xmlns:a16="http://schemas.microsoft.com/office/drawing/2014/main" id="{407A143F-36E7-B5B3-985B-493E288E8B2F}"/>
              </a:ext>
            </a:extLst>
          </p:cNvPr>
          <p:cNvPicPr>
            <a:picLocks noChangeAspect="1"/>
          </p:cNvPicPr>
          <p:nvPr/>
        </p:nvPicPr>
        <p:blipFill>
          <a:blip r:embed="rId9">
            <a:extLst>
              <a:ext uri="{28A0092B-C50C-407E-A947-70E740481C1C}">
                <a14:useLocalDpi xmlns:a14="http://schemas.microsoft.com/office/drawing/2010/main" val="0"/>
              </a:ext>
            </a:extLst>
          </a:blip>
          <a:srcRect l="37748" t="59153" r="39828" b="12365"/>
          <a:stretch>
            <a:fillRect/>
          </a:stretch>
        </p:blipFill>
        <p:spPr>
          <a:xfrm>
            <a:off x="9101982" y="2951654"/>
            <a:ext cx="1260355" cy="829932"/>
          </a:xfrm>
          <a:prstGeom prst="rect">
            <a:avLst/>
          </a:prstGeom>
        </p:spPr>
      </p:pic>
      <p:pic>
        <p:nvPicPr>
          <p:cNvPr id="30" name="Picture 29">
            <a:extLst>
              <a:ext uri="{FF2B5EF4-FFF2-40B4-BE49-F238E27FC236}">
                <a16:creationId xmlns:a16="http://schemas.microsoft.com/office/drawing/2014/main" id="{27404453-BC54-9435-CC6C-1CF82EAF3D85}"/>
              </a:ext>
            </a:extLst>
          </p:cNvPr>
          <p:cNvPicPr>
            <a:picLocks noChangeAspect="1"/>
          </p:cNvPicPr>
          <p:nvPr/>
        </p:nvPicPr>
        <p:blipFill>
          <a:blip r:embed="rId9">
            <a:extLst>
              <a:ext uri="{28A0092B-C50C-407E-A947-70E740481C1C}">
                <a14:useLocalDpi xmlns:a14="http://schemas.microsoft.com/office/drawing/2010/main" val="0"/>
              </a:ext>
            </a:extLst>
          </a:blip>
          <a:srcRect l="4103" t="7303" r="85250" b="69671"/>
          <a:stretch>
            <a:fillRect/>
          </a:stretch>
        </p:blipFill>
        <p:spPr>
          <a:xfrm>
            <a:off x="10040748" y="1690688"/>
            <a:ext cx="1098281" cy="920240"/>
          </a:xfrm>
          <a:prstGeom prst="rect">
            <a:avLst/>
          </a:prstGeom>
        </p:spPr>
      </p:pic>
      <p:pic>
        <p:nvPicPr>
          <p:cNvPr id="32" name="Picture 31">
            <a:extLst>
              <a:ext uri="{FF2B5EF4-FFF2-40B4-BE49-F238E27FC236}">
                <a16:creationId xmlns:a16="http://schemas.microsoft.com/office/drawing/2014/main" id="{631402EB-C664-C4B7-47BD-66F9E70016E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773907" y="3040314"/>
            <a:ext cx="1159786" cy="1012926"/>
          </a:xfrm>
          <a:prstGeom prst="rect">
            <a:avLst/>
          </a:prstGeom>
        </p:spPr>
      </p:pic>
      <p:pic>
        <p:nvPicPr>
          <p:cNvPr id="34" name="Graphic 33">
            <a:extLst>
              <a:ext uri="{FF2B5EF4-FFF2-40B4-BE49-F238E27FC236}">
                <a16:creationId xmlns:a16="http://schemas.microsoft.com/office/drawing/2014/main" id="{03651904-AF33-6FE0-55A0-912BE97B67F6}"/>
              </a:ext>
            </a:extLst>
          </p:cNvPr>
          <p:cNvPicPr>
            <a:picLocks noChangeAspect="1"/>
          </p:cNvPicPr>
          <p:nvPr/>
        </p:nvPicPr>
        <p:blipFill>
          <a:blip>
            <a:extLst>
              <a:ext uri="{96DAC541-7B7A-43D3-8B79-37D633B846F1}">
                <asvg:svgBlip xmlns:asvg="http://schemas.microsoft.com/office/drawing/2016/SVG/main" r:embed="rId11"/>
              </a:ext>
              <a:ext uri="{837473B0-CC2E-450A-ABE3-18F120FF3D39}">
                <a1611:picAttrSrcUrl xmlns:a1611="http://schemas.microsoft.com/office/drawing/2016/11/main" r:id="rId12"/>
              </a:ext>
            </a:extLst>
          </a:blip>
          <a:stretch>
            <a:fillRect/>
          </a:stretch>
        </p:blipFill>
        <p:spPr>
          <a:xfrm flipH="1">
            <a:off x="2608" y="5180189"/>
            <a:ext cx="1807326" cy="1012923"/>
          </a:xfrm>
          <a:prstGeom prst="rect">
            <a:avLst/>
          </a:prstGeom>
        </p:spPr>
      </p:pic>
      <p:pic>
        <p:nvPicPr>
          <p:cNvPr id="37" name="Picture 36">
            <a:extLst>
              <a:ext uri="{FF2B5EF4-FFF2-40B4-BE49-F238E27FC236}">
                <a16:creationId xmlns:a16="http://schemas.microsoft.com/office/drawing/2014/main" id="{BB2ABB75-F201-D786-05A8-3A4083A8A76E}"/>
              </a:ext>
            </a:extLst>
          </p:cNvPr>
          <p:cNvPicPr>
            <a:picLocks noChangeAspect="1"/>
          </p:cNvPicPr>
          <p:nvPr/>
        </p:nvPicPr>
        <p:blipFill>
          <a:blip r:embed="rId13">
            <a:extLst>
              <a:ext uri="{28A0092B-C50C-407E-A947-70E740481C1C}">
                <a14:useLocalDpi xmlns:a14="http://schemas.microsoft.com/office/drawing/2010/main" val="0"/>
              </a:ext>
            </a:extLst>
          </a:blip>
          <a:srcRect l="14969" t="16329" r="17082" b="16722"/>
          <a:stretch>
            <a:fillRect/>
          </a:stretch>
        </p:blipFill>
        <p:spPr>
          <a:xfrm>
            <a:off x="1871358" y="3980528"/>
            <a:ext cx="1085851" cy="828332"/>
          </a:xfrm>
          <a:prstGeom prst="rect">
            <a:avLst/>
          </a:prstGeom>
        </p:spPr>
      </p:pic>
      <p:sp>
        <p:nvSpPr>
          <p:cNvPr id="38" name="Arrow: Down 37">
            <a:extLst>
              <a:ext uri="{FF2B5EF4-FFF2-40B4-BE49-F238E27FC236}">
                <a16:creationId xmlns:a16="http://schemas.microsoft.com/office/drawing/2014/main" id="{4E8566D5-2D4C-932A-4CA1-0AE74FCDCE18}"/>
              </a:ext>
            </a:extLst>
          </p:cNvPr>
          <p:cNvSpPr/>
          <p:nvPr/>
        </p:nvSpPr>
        <p:spPr>
          <a:xfrm rot="16200000">
            <a:off x="2148557" y="5706769"/>
            <a:ext cx="198712" cy="841196"/>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rrow: Down 38">
            <a:extLst>
              <a:ext uri="{FF2B5EF4-FFF2-40B4-BE49-F238E27FC236}">
                <a16:creationId xmlns:a16="http://schemas.microsoft.com/office/drawing/2014/main" id="{F1D41A02-9152-D6BA-9AEF-F496BAADFE08}"/>
              </a:ext>
            </a:extLst>
          </p:cNvPr>
          <p:cNvSpPr/>
          <p:nvPr/>
        </p:nvSpPr>
        <p:spPr>
          <a:xfrm rot="5400000">
            <a:off x="2097757" y="5121427"/>
            <a:ext cx="198712" cy="841196"/>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Arrow: Down 39">
            <a:extLst>
              <a:ext uri="{FF2B5EF4-FFF2-40B4-BE49-F238E27FC236}">
                <a16:creationId xmlns:a16="http://schemas.microsoft.com/office/drawing/2014/main" id="{3A52AEA3-7801-7B4D-CCE5-768C54AB37E3}"/>
              </a:ext>
            </a:extLst>
          </p:cNvPr>
          <p:cNvSpPr/>
          <p:nvPr/>
        </p:nvSpPr>
        <p:spPr>
          <a:xfrm rot="16200000">
            <a:off x="4108931" y="5339386"/>
            <a:ext cx="198712" cy="841196"/>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row: Down 40">
            <a:extLst>
              <a:ext uri="{FF2B5EF4-FFF2-40B4-BE49-F238E27FC236}">
                <a16:creationId xmlns:a16="http://schemas.microsoft.com/office/drawing/2014/main" id="{BDDBBFE5-E0F4-8479-E569-2A1D1DABD204}"/>
              </a:ext>
            </a:extLst>
          </p:cNvPr>
          <p:cNvSpPr/>
          <p:nvPr/>
        </p:nvSpPr>
        <p:spPr>
          <a:xfrm rot="16200000">
            <a:off x="6082251" y="5480415"/>
            <a:ext cx="317315" cy="440534"/>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row: Down 42">
            <a:extLst>
              <a:ext uri="{FF2B5EF4-FFF2-40B4-BE49-F238E27FC236}">
                <a16:creationId xmlns:a16="http://schemas.microsoft.com/office/drawing/2014/main" id="{F6BD0454-8849-D564-6834-0BB4C8710532}"/>
              </a:ext>
            </a:extLst>
          </p:cNvPr>
          <p:cNvSpPr/>
          <p:nvPr/>
        </p:nvSpPr>
        <p:spPr>
          <a:xfrm rot="10800000" flipH="1">
            <a:off x="6645419" y="3167340"/>
            <a:ext cx="209845" cy="1153139"/>
          </a:xfrm>
          <a:prstGeom prst="down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row: Down 43">
            <a:extLst>
              <a:ext uri="{FF2B5EF4-FFF2-40B4-BE49-F238E27FC236}">
                <a16:creationId xmlns:a16="http://schemas.microsoft.com/office/drawing/2014/main" id="{C592898C-B83B-4DCA-4930-2A969DDE9E38}"/>
              </a:ext>
            </a:extLst>
          </p:cNvPr>
          <p:cNvSpPr/>
          <p:nvPr/>
        </p:nvSpPr>
        <p:spPr>
          <a:xfrm>
            <a:off x="8160552" y="3129260"/>
            <a:ext cx="209846" cy="1811492"/>
          </a:xfrm>
          <a:prstGeom prst="down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Down 44">
            <a:extLst>
              <a:ext uri="{FF2B5EF4-FFF2-40B4-BE49-F238E27FC236}">
                <a16:creationId xmlns:a16="http://schemas.microsoft.com/office/drawing/2014/main" id="{119BD61A-91ED-5E52-B4E6-586F96F5EAE1}"/>
              </a:ext>
            </a:extLst>
          </p:cNvPr>
          <p:cNvSpPr/>
          <p:nvPr/>
        </p:nvSpPr>
        <p:spPr>
          <a:xfrm rot="16200000">
            <a:off x="9758432" y="5319247"/>
            <a:ext cx="198712" cy="841196"/>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Down 45">
            <a:extLst>
              <a:ext uri="{FF2B5EF4-FFF2-40B4-BE49-F238E27FC236}">
                <a16:creationId xmlns:a16="http://schemas.microsoft.com/office/drawing/2014/main" id="{D1BF4359-9048-1C3D-18B4-0E34EDF14639}"/>
              </a:ext>
            </a:extLst>
          </p:cNvPr>
          <p:cNvSpPr/>
          <p:nvPr/>
        </p:nvSpPr>
        <p:spPr>
          <a:xfrm rot="5400000" flipH="1">
            <a:off x="9224029" y="1479467"/>
            <a:ext cx="145185" cy="1726756"/>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31C207F6-8A41-137E-41BC-103AD210D3C6}"/>
              </a:ext>
            </a:extLst>
          </p:cNvPr>
          <p:cNvPicPr>
            <a:picLocks noChangeAspect="1"/>
          </p:cNvPicPr>
          <p:nvPr/>
        </p:nvPicPr>
        <p:blipFill>
          <a:blip r:embed="rId14"/>
          <a:stretch>
            <a:fillRect/>
          </a:stretch>
        </p:blipFill>
        <p:spPr>
          <a:xfrm rot="8108491">
            <a:off x="9612122" y="2801994"/>
            <a:ext cx="857250" cy="228600"/>
          </a:xfrm>
          <a:prstGeom prst="rect">
            <a:avLst/>
          </a:prstGeom>
        </p:spPr>
      </p:pic>
      <p:pic>
        <p:nvPicPr>
          <p:cNvPr id="50" name="Picture 49">
            <a:extLst>
              <a:ext uri="{FF2B5EF4-FFF2-40B4-BE49-F238E27FC236}">
                <a16:creationId xmlns:a16="http://schemas.microsoft.com/office/drawing/2014/main" id="{7518483C-0C2A-D0C0-FB28-74E122B7A9FB}"/>
              </a:ext>
            </a:extLst>
          </p:cNvPr>
          <p:cNvPicPr>
            <a:picLocks noChangeAspect="1"/>
          </p:cNvPicPr>
          <p:nvPr/>
        </p:nvPicPr>
        <p:blipFill>
          <a:blip r:embed="rId14"/>
          <a:stretch>
            <a:fillRect/>
          </a:stretch>
        </p:blipFill>
        <p:spPr>
          <a:xfrm rot="3148546" flipV="1">
            <a:off x="10787589" y="2759525"/>
            <a:ext cx="615748" cy="247844"/>
          </a:xfrm>
          <a:prstGeom prst="rect">
            <a:avLst/>
          </a:prstGeom>
        </p:spPr>
      </p:pic>
      <p:sp>
        <p:nvSpPr>
          <p:cNvPr id="52" name="TextBox 51">
            <a:extLst>
              <a:ext uri="{FF2B5EF4-FFF2-40B4-BE49-F238E27FC236}">
                <a16:creationId xmlns:a16="http://schemas.microsoft.com/office/drawing/2014/main" id="{DA42A7FA-9297-5580-3360-1EB50C54E512}"/>
              </a:ext>
            </a:extLst>
          </p:cNvPr>
          <p:cNvSpPr txBox="1"/>
          <p:nvPr/>
        </p:nvSpPr>
        <p:spPr>
          <a:xfrm>
            <a:off x="1724584" y="6123543"/>
            <a:ext cx="1143062" cy="369332"/>
          </a:xfrm>
          <a:prstGeom prst="rect">
            <a:avLst/>
          </a:prstGeom>
          <a:noFill/>
        </p:spPr>
        <p:txBody>
          <a:bodyPr wrap="square">
            <a:spAutoFit/>
          </a:bodyPr>
          <a:lstStyle/>
          <a:p>
            <a:r>
              <a:rPr lang="en-US" dirty="0"/>
              <a:t>Scan me</a:t>
            </a:r>
          </a:p>
        </p:txBody>
      </p:sp>
      <p:sp>
        <p:nvSpPr>
          <p:cNvPr id="54" name="TextBox 53">
            <a:extLst>
              <a:ext uri="{FF2B5EF4-FFF2-40B4-BE49-F238E27FC236}">
                <a16:creationId xmlns:a16="http://schemas.microsoft.com/office/drawing/2014/main" id="{3FFC6FB4-A49D-0E27-6516-FAF9D74D948D}"/>
              </a:ext>
            </a:extLst>
          </p:cNvPr>
          <p:cNvSpPr txBox="1"/>
          <p:nvPr/>
        </p:nvSpPr>
        <p:spPr>
          <a:xfrm>
            <a:off x="3808503" y="5092890"/>
            <a:ext cx="739689" cy="646331"/>
          </a:xfrm>
          <a:prstGeom prst="rect">
            <a:avLst/>
          </a:prstGeom>
          <a:noFill/>
        </p:spPr>
        <p:txBody>
          <a:bodyPr wrap="square">
            <a:spAutoFit/>
          </a:bodyPr>
          <a:lstStyle/>
          <a:p>
            <a:r>
              <a:rPr lang="en-US" dirty="0"/>
              <a:t>Voice input</a:t>
            </a:r>
          </a:p>
        </p:txBody>
      </p:sp>
      <p:sp>
        <p:nvSpPr>
          <p:cNvPr id="56" name="TextBox 55">
            <a:extLst>
              <a:ext uri="{FF2B5EF4-FFF2-40B4-BE49-F238E27FC236}">
                <a16:creationId xmlns:a16="http://schemas.microsoft.com/office/drawing/2014/main" id="{81A64747-4E63-E6D4-7682-A947AF8A68C6}"/>
              </a:ext>
            </a:extLst>
          </p:cNvPr>
          <p:cNvSpPr txBox="1"/>
          <p:nvPr/>
        </p:nvSpPr>
        <p:spPr>
          <a:xfrm>
            <a:off x="6526978" y="1089874"/>
            <a:ext cx="1990200" cy="646331"/>
          </a:xfrm>
          <a:prstGeom prst="rect">
            <a:avLst/>
          </a:prstGeom>
          <a:noFill/>
        </p:spPr>
        <p:txBody>
          <a:bodyPr wrap="square">
            <a:spAutoFit/>
          </a:bodyPr>
          <a:lstStyle/>
          <a:p>
            <a:r>
              <a:rPr lang="en-US" dirty="0">
                <a:highlight>
                  <a:srgbClr val="00FF00"/>
                </a:highlight>
              </a:rPr>
              <a:t>Inventory             &amp;      </a:t>
            </a:r>
          </a:p>
          <a:p>
            <a:r>
              <a:rPr lang="en-US" dirty="0">
                <a:highlight>
                  <a:srgbClr val="00FF00"/>
                </a:highlight>
              </a:rPr>
              <a:t>kitchen load check</a:t>
            </a:r>
          </a:p>
        </p:txBody>
      </p:sp>
      <p:sp>
        <p:nvSpPr>
          <p:cNvPr id="58" name="TextBox 57">
            <a:extLst>
              <a:ext uri="{FF2B5EF4-FFF2-40B4-BE49-F238E27FC236}">
                <a16:creationId xmlns:a16="http://schemas.microsoft.com/office/drawing/2014/main" id="{A10C1A01-905C-F0B1-B145-0B88E8AB81AA}"/>
              </a:ext>
            </a:extLst>
          </p:cNvPr>
          <p:cNvSpPr txBox="1"/>
          <p:nvPr/>
        </p:nvSpPr>
        <p:spPr>
          <a:xfrm>
            <a:off x="10213127" y="1370226"/>
            <a:ext cx="841196" cy="369332"/>
          </a:xfrm>
          <a:prstGeom prst="rect">
            <a:avLst/>
          </a:prstGeom>
          <a:noFill/>
        </p:spPr>
        <p:txBody>
          <a:bodyPr wrap="square">
            <a:spAutoFit/>
          </a:bodyPr>
          <a:lstStyle/>
          <a:p>
            <a:r>
              <a:rPr lang="en-US" dirty="0"/>
              <a:t>Admin</a:t>
            </a:r>
          </a:p>
        </p:txBody>
      </p:sp>
      <p:sp>
        <p:nvSpPr>
          <p:cNvPr id="60" name="TextBox 59">
            <a:extLst>
              <a:ext uri="{FF2B5EF4-FFF2-40B4-BE49-F238E27FC236}">
                <a16:creationId xmlns:a16="http://schemas.microsoft.com/office/drawing/2014/main" id="{AFB4F703-9E09-EEBC-F4A9-D9ADA11953D4}"/>
              </a:ext>
            </a:extLst>
          </p:cNvPr>
          <p:cNvSpPr txBox="1"/>
          <p:nvPr/>
        </p:nvSpPr>
        <p:spPr>
          <a:xfrm>
            <a:off x="9115034" y="3636409"/>
            <a:ext cx="1085850" cy="600164"/>
          </a:xfrm>
          <a:prstGeom prst="rect">
            <a:avLst/>
          </a:prstGeom>
          <a:noFill/>
        </p:spPr>
        <p:txBody>
          <a:bodyPr wrap="square">
            <a:spAutoFit/>
          </a:bodyPr>
          <a:lstStyle/>
          <a:p>
            <a:r>
              <a:rPr lang="en-US" sz="1100" dirty="0"/>
              <a:t>Blockchain </a:t>
            </a:r>
            <a:br>
              <a:rPr lang="en-US" sz="1100" dirty="0"/>
            </a:br>
            <a:r>
              <a:rPr lang="en-US" sz="1100" dirty="0"/>
              <a:t>transaction </a:t>
            </a:r>
            <a:br>
              <a:rPr lang="en-US" sz="1100" dirty="0"/>
            </a:br>
            <a:r>
              <a:rPr lang="en-US" sz="1100" dirty="0"/>
              <a:t>management</a:t>
            </a:r>
          </a:p>
        </p:txBody>
      </p:sp>
      <p:sp>
        <p:nvSpPr>
          <p:cNvPr id="62" name="TextBox 61">
            <a:extLst>
              <a:ext uri="{FF2B5EF4-FFF2-40B4-BE49-F238E27FC236}">
                <a16:creationId xmlns:a16="http://schemas.microsoft.com/office/drawing/2014/main" id="{5E2F6C38-5354-E479-88BE-910E8190E24E}"/>
              </a:ext>
            </a:extLst>
          </p:cNvPr>
          <p:cNvSpPr txBox="1"/>
          <p:nvPr/>
        </p:nvSpPr>
        <p:spPr>
          <a:xfrm>
            <a:off x="10683305" y="3940331"/>
            <a:ext cx="1500192" cy="369332"/>
          </a:xfrm>
          <a:prstGeom prst="rect">
            <a:avLst/>
          </a:prstGeom>
          <a:noFill/>
        </p:spPr>
        <p:txBody>
          <a:bodyPr wrap="square">
            <a:spAutoFit/>
          </a:bodyPr>
          <a:lstStyle/>
          <a:p>
            <a:r>
              <a:rPr lang="en-US" dirty="0"/>
              <a:t>Daily analysis</a:t>
            </a:r>
          </a:p>
        </p:txBody>
      </p:sp>
    </p:spTree>
    <p:extLst>
      <p:ext uri="{BB962C8B-B14F-4D97-AF65-F5344CB8AC3E}">
        <p14:creationId xmlns:p14="http://schemas.microsoft.com/office/powerpoint/2010/main" val="1360379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F4366-359A-D739-5512-5FB0B041C85A}"/>
              </a:ext>
            </a:extLst>
          </p:cNvPr>
          <p:cNvSpPr>
            <a:spLocks noGrp="1"/>
          </p:cNvSpPr>
          <p:nvPr>
            <p:ph type="title"/>
          </p:nvPr>
        </p:nvSpPr>
        <p:spPr>
          <a:xfrm>
            <a:off x="838200" y="365125"/>
            <a:ext cx="10515600" cy="1135063"/>
          </a:xfrm>
        </p:spPr>
        <p:txBody>
          <a:bodyPr/>
          <a:lstStyle/>
          <a:p>
            <a:r>
              <a:rPr lang="en-US" altLang="en-US" b="1" dirty="0">
                <a:latin typeface="Times New Roman" panose="02020603050405020304" pitchFamily="18" charset="0"/>
                <a:cs typeface="Times New Roman" panose="02020603050405020304" pitchFamily="18" charset="0"/>
              </a:rPr>
              <a:t>Methodology</a:t>
            </a:r>
            <a:endParaRPr lang="en-US" dirty="0"/>
          </a:p>
        </p:txBody>
      </p:sp>
      <p:sp>
        <p:nvSpPr>
          <p:cNvPr id="6" name="Rectangle 3">
            <a:extLst>
              <a:ext uri="{FF2B5EF4-FFF2-40B4-BE49-F238E27FC236}">
                <a16:creationId xmlns:a16="http://schemas.microsoft.com/office/drawing/2014/main" id="{3A6EE519-437C-4979-0804-AF12D8165DDF}"/>
              </a:ext>
            </a:extLst>
          </p:cNvPr>
          <p:cNvSpPr>
            <a:spLocks noGrp="1" noChangeArrowheads="1"/>
          </p:cNvSpPr>
          <p:nvPr>
            <p:ph idx="1"/>
          </p:nvPr>
        </p:nvSpPr>
        <p:spPr bwMode="auto">
          <a:xfrm>
            <a:off x="5399313" y="891342"/>
            <a:ext cx="6097361"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Voice Interaction and Intent Processing: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QR-based web interface allows for app-free access. User speech is converted to text with Whisper, and a fine-tuned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DistilBERT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handles intent recognition and item extraction with voice confirmation. </a:t>
            </a:r>
          </a:p>
          <a:p>
            <a:pPr lvl="0"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Order Processing and Smart Processing: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backend performs real-time inventory audits and analyzes kitchen workload. Only verified orders receive a unique ID and are processed to improve efficiency during busy times.</a:t>
            </a:r>
          </a:p>
          <a:p>
            <a:pPr lvl="0"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Backend and Administration: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Orders are stored in a central database, and transaction metadata is recorded on a blockchain ledger to ensure transparency and permanence. An electronic invoice is generated automatically. </a:t>
            </a:r>
          </a:p>
          <a:p>
            <a:pPr lvl="0"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Training and Evaluation</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DistilBERT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was trained with the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AdamW</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optimizer (learning rate: 2e-5 to 5e-5, batch size 32) and used early stopping. It achieved 96.30% accuracy in intent recognition.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pic>
        <p:nvPicPr>
          <p:cNvPr id="3" name="Google Shape;128;p16">
            <a:extLst>
              <a:ext uri="{FF2B5EF4-FFF2-40B4-BE49-F238E27FC236}">
                <a16:creationId xmlns:a16="http://schemas.microsoft.com/office/drawing/2014/main" id="{08976D5B-AC78-3769-5386-56AD38442201}"/>
              </a:ext>
            </a:extLst>
          </p:cNvPr>
          <p:cNvPicPr preferRelativeResize="0"/>
          <p:nvPr/>
        </p:nvPicPr>
        <p:blipFill rotWithShape="1">
          <a:blip r:embed="rId2">
            <a:alphaModFix/>
          </a:blip>
          <a:srcRect t="3344"/>
          <a:stretch/>
        </p:blipFill>
        <p:spPr>
          <a:xfrm>
            <a:off x="327718" y="1439635"/>
            <a:ext cx="4928721" cy="5207908"/>
          </a:xfrm>
          <a:prstGeom prst="rect">
            <a:avLst/>
          </a:prstGeom>
          <a:noFill/>
          <a:ln>
            <a:noFill/>
          </a:ln>
        </p:spPr>
      </p:pic>
    </p:spTree>
    <p:extLst>
      <p:ext uri="{BB962C8B-B14F-4D97-AF65-F5344CB8AC3E}">
        <p14:creationId xmlns:p14="http://schemas.microsoft.com/office/powerpoint/2010/main" val="1812578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277FA-5A4E-4841-9C18-DE7A1F80CEDC}"/>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Design</a:t>
            </a:r>
          </a:p>
        </p:txBody>
      </p:sp>
      <p:pic>
        <p:nvPicPr>
          <p:cNvPr id="4" name="Content Placeholder 3">
            <a:extLst>
              <a:ext uri="{FF2B5EF4-FFF2-40B4-BE49-F238E27FC236}">
                <a16:creationId xmlns:a16="http://schemas.microsoft.com/office/drawing/2014/main" id="{DF221552-68B0-71FB-A70E-1549EC2F0579}"/>
              </a:ext>
            </a:extLst>
          </p:cNvPr>
          <p:cNvPicPr>
            <a:picLocks noGrp="1" noChangeAspect="1"/>
          </p:cNvPicPr>
          <p:nvPr>
            <p:ph idx="1"/>
          </p:nvPr>
        </p:nvPicPr>
        <p:blipFill>
          <a:blip r:embed="rId2"/>
          <a:stretch>
            <a:fillRect/>
          </a:stretch>
        </p:blipFill>
        <p:spPr>
          <a:xfrm>
            <a:off x="1219199" y="1690689"/>
            <a:ext cx="9180285" cy="4510380"/>
          </a:xfrm>
          <a:prstGeom prst="rect">
            <a:avLst/>
          </a:prstGeom>
        </p:spPr>
      </p:pic>
      <p:sp>
        <p:nvSpPr>
          <p:cNvPr id="5" name="Diamond 4">
            <a:extLst>
              <a:ext uri="{FF2B5EF4-FFF2-40B4-BE49-F238E27FC236}">
                <a16:creationId xmlns:a16="http://schemas.microsoft.com/office/drawing/2014/main" id="{FCFC73B3-5036-EC3B-32E2-5C7C4024C8DF}"/>
              </a:ext>
            </a:extLst>
          </p:cNvPr>
          <p:cNvSpPr/>
          <p:nvPr/>
        </p:nvSpPr>
        <p:spPr>
          <a:xfrm>
            <a:off x="5167085" y="2097087"/>
            <a:ext cx="1614715" cy="167124"/>
          </a:xfrm>
          <a:prstGeom prst="diamond">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voice</a:t>
            </a:r>
          </a:p>
        </p:txBody>
      </p:sp>
      <p:sp>
        <p:nvSpPr>
          <p:cNvPr id="7" name="Rectangle: Rounded Corners 6">
            <a:extLst>
              <a:ext uri="{FF2B5EF4-FFF2-40B4-BE49-F238E27FC236}">
                <a16:creationId xmlns:a16="http://schemas.microsoft.com/office/drawing/2014/main" id="{95457087-E32A-F0CB-1428-EB59ECE25D48}"/>
              </a:ext>
            </a:extLst>
          </p:cNvPr>
          <p:cNvSpPr/>
          <p:nvPr/>
        </p:nvSpPr>
        <p:spPr>
          <a:xfrm>
            <a:off x="6395357" y="3741717"/>
            <a:ext cx="772886" cy="241218"/>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C76572CB-9CDC-B515-B6D1-E2668F2ABA7F}"/>
              </a:ext>
            </a:extLst>
          </p:cNvPr>
          <p:cNvCxnSpPr>
            <a:cxnSpLocks/>
          </p:cNvCxnSpPr>
          <p:nvPr/>
        </p:nvCxnSpPr>
        <p:spPr>
          <a:xfrm>
            <a:off x="6981372" y="2242212"/>
            <a:ext cx="8708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8444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58F97-040A-6A02-A424-4AE2A8C07B14}"/>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80C4786-89F1-1AAC-934E-15C6F11AA3D3}"/>
              </a:ext>
            </a:extLst>
          </p:cNvPr>
          <p:cNvSpPr>
            <a:spLocks noGrp="1" noRot="1" noChangeAspect="1" noMove="1" noResize="1" noEditPoints="1" noAdjustHandles="1" noChangeArrowheads="1" noChangeShapeType="1" noTextEdit="1"/>
          </p:cNvSpPr>
          <p:nvPr/>
        </p:nvSpPr>
        <p:spPr>
          <a:xfrm>
            <a:off x="0" y="0"/>
            <a:ext cx="130302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Title 1">
            <a:extLst>
              <a:ext uri="{FF2B5EF4-FFF2-40B4-BE49-F238E27FC236}">
                <a16:creationId xmlns:a16="http://schemas.microsoft.com/office/drawing/2014/main" id="{EB1CE44B-5461-C015-945C-A65DFEB0B1AD}"/>
              </a:ext>
            </a:extLst>
          </p:cNvPr>
          <p:cNvSpPr>
            <a:spLocks noGrp="1"/>
          </p:cNvSpPr>
          <p:nvPr>
            <p:ph type="title"/>
          </p:nvPr>
        </p:nvSpPr>
        <p:spPr>
          <a:xfrm>
            <a:off x="885825" y="304800"/>
            <a:ext cx="10745788" cy="879544"/>
          </a:xfrm>
        </p:spPr>
        <p:txBody>
          <a:bodyPr rtlCol="0" anchor="t">
            <a:normAutofit fontScale="90000"/>
          </a:bodyPr>
          <a:lstStyle/>
          <a:p>
            <a:pPr>
              <a:defRPr/>
            </a:pPr>
            <a:r>
              <a:rPr lang="en-US"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Implementation</a:t>
            </a:r>
            <a:r>
              <a:rPr lang="en-US" dirty="0">
                <a:solidFill>
                  <a:schemeClr val="tx1"/>
                </a:solidFill>
                <a:latin typeface="Times New Roman" panose="02020603050405020304" pitchFamily="18" charset="0"/>
                <a:cs typeface="Times New Roman" panose="02020603050405020304" pitchFamily="18" charset="0"/>
              </a:rPr>
              <a:t> </a:t>
            </a:r>
            <a:br>
              <a:rPr lang="en-IN" dirty="0"/>
            </a:br>
            <a:b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1F1688AD-0CB1-6F11-AC22-712E8377C61B}"/>
              </a:ext>
            </a:extLst>
          </p:cNvPr>
          <p:cNvSpPr>
            <a:spLocks noGrp="1" noChangeArrowheads="1"/>
          </p:cNvSpPr>
          <p:nvPr>
            <p:ph idx="1"/>
          </p:nvPr>
        </p:nvSpPr>
        <p:spPr bwMode="auto">
          <a:xfrm>
            <a:off x="762000" y="1184344"/>
            <a:ext cx="10768782"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a:t>
            </a:r>
            <a:r>
              <a:rPr kumimoji="0" lang="en-US" altLang="en-US" sz="18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 Setup:</a:t>
            </a:r>
            <a:endPar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Installed faster-whisper, </a:t>
            </a:r>
            <a:r>
              <a:rPr kumimoji="0" lang="en-US" altLang="en-US" sz="18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DistilBERT</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FFmpeg</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speech recognition, NLP, and audio processing.</a:t>
            </a:r>
          </a:p>
          <a:p>
            <a:pPr marR="0" lvl="0" algn="l" defTabSz="914400" rtl="0" eaLnBrk="0" fontAlgn="base" latinLnBrk="0" hangingPunct="0">
              <a:lnSpc>
                <a:spcPct val="10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Initialized Gemini API for advanced multilingual NLP.</a:t>
            </a:r>
          </a:p>
          <a:p>
            <a:pPr marR="0" lvl="0" algn="l" defTabSz="914400" rtl="0" eaLnBrk="0" fontAlgn="base" latinLnBrk="0" hangingPunct="0">
              <a:lnSpc>
                <a:spcPct val="10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Created persistent storage directories for orders and reports.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Data Modelling:</a:t>
            </a:r>
            <a:endPar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Defined MENU_DATA and RESTAURANT_INFO for menu, pricing, and GST details.</a:t>
            </a:r>
          </a:p>
          <a:p>
            <a:pPr marR="0" lvl="0" algn="l" defTabSz="914400" rtl="0" eaLnBrk="0" fontAlgn="base" latinLnBrk="0" hangingPunct="0">
              <a:lnSpc>
                <a:spcPct val="10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ITEM_MAPPINGS and NATIVE_COMMAND_MAP for natural and multilingual command recognition.</a:t>
            </a:r>
          </a:p>
          <a:p>
            <a:pPr marR="0" lvl="0" algn="l" defTabSz="914400" rtl="0" eaLnBrk="0" fontAlgn="base" latinLnBrk="0" hangingPunct="0">
              <a:lnSpc>
                <a:spcPct val="10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a:t>
            </a:r>
            <a:r>
              <a:rPr kumimoji="0" lang="en-US" altLang="en-US" sz="18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OrderManager</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manage adding, removing, and finalizing orders.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Voice AI Pipeline:</a:t>
            </a:r>
            <a:endPar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Converted voice input to text using Whisper and classified intents via </a:t>
            </a:r>
            <a:r>
              <a:rPr kumimoji="0" lang="en-US" altLang="en-US" sz="18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DistilBERT</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Gemini NLP for complex commands and text-to-speech for natural audio responses.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4.Reporting and Blockchain:</a:t>
            </a:r>
            <a:endPar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Generated digital invoices in PDF/HTML formats with GST details.</a:t>
            </a:r>
          </a:p>
          <a:p>
            <a:pPr eaLnBrk="0" fontAlgn="base" hangingPunct="0">
              <a:lnSpc>
                <a:spcPct val="100000"/>
              </a:lnSpc>
              <a:spcBef>
                <a:spcPct val="0"/>
              </a:spcBef>
              <a:spcAft>
                <a:spcPct val="0"/>
              </a:spcAf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Logged all transactions in </a:t>
            </a:r>
            <a:r>
              <a:rPr kumimoji="0" lang="en-US" altLang="en-US" sz="18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all_orders.json</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secured them with blockchain simulation.</a:t>
            </a:r>
          </a:p>
          <a:p>
            <a:pPr eaLnBrk="0" fontAlgn="base" hangingPunct="0">
              <a:lnSpc>
                <a:spcPct val="100000"/>
              </a:lnSpc>
              <a:spcBef>
                <a:spcPct val="0"/>
              </a:spcBef>
              <a:spcAft>
                <a:spcPct val="0"/>
              </a:spcAf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Integrated Pandas and </a:t>
            </a:r>
            <a:r>
              <a:rPr kumimoji="0" lang="en-US" altLang="en-US" sz="18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Plotly</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sales and performance analytics.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5.Interface and Event Handling:</a:t>
            </a:r>
            <a:endPar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 a </a:t>
            </a:r>
            <a:r>
              <a:rPr kumimoji="0" lang="en-US" altLang="en-US" sz="18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Gradio</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interface with separate views for customers and admins.</a:t>
            </a:r>
          </a:p>
          <a:p>
            <a:pPr marR="0" lvl="0" algn="l" defTabSz="914400" rtl="0" eaLnBrk="0" fontAlgn="base" latinLnBrk="0" hangingPunct="0">
              <a:lnSpc>
                <a:spcPct val="10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Enabled real-time order placement, inventory control, and analytics visualization.</a:t>
            </a:r>
          </a:p>
          <a:p>
            <a:pPr marR="0" lvl="0" algn="l" defTabSz="914400" rtl="0" eaLnBrk="0" fontAlgn="base" latinLnBrk="0" hangingPunct="0">
              <a:lnSpc>
                <a:spcPct val="100000"/>
              </a:lnSpc>
              <a:spcBef>
                <a:spcPct val="0"/>
              </a:spcBef>
              <a:spcAft>
                <a:spcPct val="0"/>
              </a:spcAft>
              <a:buClrTx/>
              <a:buSzTx/>
              <a:tabLst/>
            </a:pP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Ensured seamless voice interaction and automated invoice generation.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0694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32FBF-7AE7-84CD-8928-2F32F005D467}"/>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Result &amp; Analysis</a:t>
            </a:r>
          </a:p>
        </p:txBody>
      </p:sp>
      <p:sp>
        <p:nvSpPr>
          <p:cNvPr id="3" name="Content Placeholder 2">
            <a:extLst>
              <a:ext uri="{FF2B5EF4-FFF2-40B4-BE49-F238E27FC236}">
                <a16:creationId xmlns:a16="http://schemas.microsoft.com/office/drawing/2014/main" id="{1FFA83E9-7B2B-B9FE-F376-BF23E089F484}"/>
              </a:ext>
            </a:extLst>
          </p:cNvPr>
          <p:cNvSpPr>
            <a:spLocks noGrp="1"/>
          </p:cNvSpPr>
          <p:nvPr>
            <p:ph idx="1"/>
          </p:nvPr>
        </p:nvSpPr>
        <p:spPr>
          <a:xfrm>
            <a:off x="838200" y="1825624"/>
            <a:ext cx="10515600" cy="4865461"/>
          </a:xfrm>
        </p:spPr>
        <p:txBody>
          <a:bodyPr>
            <a:noAutofit/>
          </a:bodyPr>
          <a:lstStyle/>
          <a:p>
            <a:pPr marL="0" indent="0">
              <a:buNone/>
            </a:pPr>
            <a:r>
              <a:rPr lang="en-US" altLang="" sz="1800" b="1" dirty="0">
                <a:latin typeface="Times New Roman" panose="02020603050405020304" pitchFamily="18" charset="0"/>
                <a:cs typeface="Times New Roman" panose="02020603050405020304" pitchFamily="18" charset="0"/>
              </a:rPr>
              <a:t>Model Performance Validation </a:t>
            </a:r>
          </a:p>
          <a:p>
            <a:r>
              <a:rPr lang="en-US" altLang="" sz="1800" dirty="0">
                <a:latin typeface="Times New Roman" panose="02020603050405020304" pitchFamily="18" charset="0"/>
                <a:cs typeface="Times New Roman" panose="02020603050405020304" pitchFamily="18" charset="0"/>
              </a:rPr>
              <a:t>Accuracy: ~96%</a:t>
            </a:r>
          </a:p>
          <a:p>
            <a:r>
              <a:rPr lang="en-US" altLang="" sz="1800" dirty="0">
                <a:latin typeface="Times New Roman" panose="02020603050405020304" pitchFamily="18" charset="0"/>
                <a:cs typeface="Times New Roman" panose="02020603050405020304" pitchFamily="18" charset="0"/>
              </a:rPr>
              <a:t> Stable learning curve with consistent improvement across epochs. </a:t>
            </a:r>
          </a:p>
          <a:p>
            <a:r>
              <a:rPr lang="en-US" altLang="" sz="1800" dirty="0">
                <a:latin typeface="Times New Roman" panose="02020603050405020304" pitchFamily="18" charset="0"/>
                <a:cs typeface="Times New Roman" panose="02020603050405020304" pitchFamily="18" charset="0"/>
              </a:rPr>
              <a:t>The confirmation layer removed finalization errors.</a:t>
            </a:r>
          </a:p>
          <a:p>
            <a:pPr marL="0" indent="0">
              <a:buNone/>
            </a:pPr>
            <a:r>
              <a:rPr lang="en-US" altLang="" sz="1800" b="1" dirty="0">
                <a:latin typeface="Times New Roman" panose="02020603050405020304" pitchFamily="18" charset="0"/>
                <a:cs typeface="Times New Roman" panose="02020603050405020304" pitchFamily="18" charset="0"/>
              </a:rPr>
              <a:t> Functional Results of the Validation</a:t>
            </a:r>
          </a:p>
          <a:p>
            <a:r>
              <a:rPr lang="en-US" altLang="" sz="1800" dirty="0">
                <a:latin typeface="Times New Roman" panose="02020603050405020304" pitchFamily="18" charset="0"/>
                <a:cs typeface="Times New Roman" panose="02020603050405020304" pitchFamily="18" charset="0"/>
              </a:rPr>
              <a:t> Accurate extraction of items and quantities</a:t>
            </a:r>
          </a:p>
          <a:p>
            <a:r>
              <a:rPr lang="en-US" altLang="" sz="1800" dirty="0">
                <a:latin typeface="Times New Roman" panose="02020603050405020304" pitchFamily="18" charset="0"/>
                <a:cs typeface="Times New Roman" panose="02020603050405020304" pitchFamily="18" charset="0"/>
              </a:rPr>
              <a:t>Successful handling of: - Single-item orders - Sequential orders (Multi-item). </a:t>
            </a:r>
          </a:p>
          <a:p>
            <a:r>
              <a:rPr lang="en-US" altLang="" sz="1800" dirty="0">
                <a:latin typeface="Times New Roman" panose="02020603050405020304" pitchFamily="18" charset="0"/>
                <a:cs typeface="Times New Roman" panose="02020603050405020304" pitchFamily="18" charset="0"/>
              </a:rPr>
              <a:t>Online rejection of out-of-stock products. </a:t>
            </a:r>
          </a:p>
          <a:p>
            <a:r>
              <a:rPr lang="en-US" altLang="" sz="1800" dirty="0">
                <a:latin typeface="Times New Roman" panose="02020603050405020304" pitchFamily="18" charset="0"/>
                <a:cs typeface="Times New Roman" panose="02020603050405020304" pitchFamily="18" charset="0"/>
              </a:rPr>
              <a:t>Effective kitchen load balancing during peak simulation. </a:t>
            </a:r>
          </a:p>
          <a:p>
            <a:pPr marL="0" indent="0">
              <a:buNone/>
            </a:pPr>
            <a:r>
              <a:rPr lang="en-US" altLang="" sz="1800" b="1" dirty="0">
                <a:latin typeface="Times New Roman" panose="02020603050405020304" pitchFamily="18" charset="0"/>
                <a:cs typeface="Times New Roman" panose="02020603050405020304" pitchFamily="18" charset="0"/>
              </a:rPr>
              <a:t>Practices of Administrative and Transaction Transparency</a:t>
            </a:r>
          </a:p>
          <a:p>
            <a:r>
              <a:rPr lang="en-US" altLang="" sz="1800" dirty="0">
                <a:latin typeface="Times New Roman" panose="02020603050405020304" pitchFamily="18" charset="0"/>
                <a:cs typeface="Times New Roman" panose="02020603050405020304" pitchFamily="18" charset="0"/>
              </a:rPr>
              <a:t> Store order records are kept asymmetrically at the back end.</a:t>
            </a:r>
          </a:p>
          <a:p>
            <a:r>
              <a:rPr lang="en-US" altLang="" sz="1800" dirty="0">
                <a:latin typeface="Times New Roman" panose="02020603050405020304" pitchFamily="18" charset="0"/>
                <a:cs typeface="Times New Roman" panose="02020603050405020304" pitchFamily="18" charset="0"/>
              </a:rPr>
              <a:t> The administrative dashboard allows </a:t>
            </a:r>
          </a:p>
        </p:txBody>
      </p:sp>
    </p:spTree>
    <p:extLst>
      <p:ext uri="{BB962C8B-B14F-4D97-AF65-F5344CB8AC3E}">
        <p14:creationId xmlns:p14="http://schemas.microsoft.com/office/powerpoint/2010/main" val="1928030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85F074-6939-5834-3DF2-EFE6CFA17498}"/>
              </a:ext>
            </a:extLst>
          </p:cNvPr>
          <p:cNvPicPr>
            <a:picLocks noChangeAspect="1"/>
          </p:cNvPicPr>
          <p:nvPr/>
        </p:nvPicPr>
        <p:blipFill>
          <a:blip r:embed="rId2"/>
          <a:stretch>
            <a:fillRect/>
          </a:stretch>
        </p:blipFill>
        <p:spPr>
          <a:xfrm>
            <a:off x="1074057" y="1190171"/>
            <a:ext cx="10043886" cy="5138058"/>
          </a:xfrm>
          <a:prstGeom prst="rect">
            <a:avLst/>
          </a:prstGeom>
        </p:spPr>
      </p:pic>
      <p:sp>
        <p:nvSpPr>
          <p:cNvPr id="4" name="TextBox 3">
            <a:extLst>
              <a:ext uri="{FF2B5EF4-FFF2-40B4-BE49-F238E27FC236}">
                <a16:creationId xmlns:a16="http://schemas.microsoft.com/office/drawing/2014/main" id="{AAC4AE84-E11C-231B-0707-936BBBBB6183}"/>
              </a:ext>
            </a:extLst>
          </p:cNvPr>
          <p:cNvSpPr txBox="1"/>
          <p:nvPr/>
        </p:nvSpPr>
        <p:spPr>
          <a:xfrm>
            <a:off x="1074057" y="561945"/>
            <a:ext cx="3715657"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Login Page</a:t>
            </a:r>
          </a:p>
        </p:txBody>
      </p:sp>
    </p:spTree>
    <p:extLst>
      <p:ext uri="{BB962C8B-B14F-4D97-AF65-F5344CB8AC3E}">
        <p14:creationId xmlns:p14="http://schemas.microsoft.com/office/powerpoint/2010/main" val="2557507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38785" y="495935"/>
            <a:ext cx="4949190" cy="520065"/>
          </a:xfrm>
          <a:prstGeom prst="rect">
            <a:avLst/>
          </a:prstGeom>
          <a:noFill/>
        </p:spPr>
        <p:txBody>
          <a:bodyPr wrap="square" rtlCol="0">
            <a:noAutofit/>
          </a:bodyPr>
          <a:lstStyle/>
          <a:p>
            <a:r>
              <a:rPr lang="en-GB" altLang="en-US" sz="2000" b="1" dirty="0">
                <a:latin typeface="Times New Roman" panose="02020603050405020304" pitchFamily="18" charset="0"/>
                <a:cs typeface="Times New Roman" panose="02020603050405020304" pitchFamily="18" charset="0"/>
              </a:rPr>
              <a:t>Menu &amp; Ordering Page</a:t>
            </a:r>
          </a:p>
        </p:txBody>
      </p:sp>
      <p:pic>
        <p:nvPicPr>
          <p:cNvPr id="5" name="Picture 4">
            <a:extLst>
              <a:ext uri="{FF2B5EF4-FFF2-40B4-BE49-F238E27FC236}">
                <a16:creationId xmlns:a16="http://schemas.microsoft.com/office/drawing/2014/main" id="{BF9C571F-3A26-A1A9-DC31-A30FD0771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4057" y="1211072"/>
            <a:ext cx="10043886" cy="515099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75538A-5F35-6511-6A34-E60704641A0C}"/>
              </a:ext>
            </a:extLst>
          </p:cNvPr>
          <p:cNvSpPr txBox="1"/>
          <p:nvPr/>
        </p:nvSpPr>
        <p:spPr>
          <a:xfrm>
            <a:off x="1146629" y="711200"/>
            <a:ext cx="346891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Confirmation  page</a:t>
            </a:r>
          </a:p>
        </p:txBody>
      </p:sp>
      <p:pic>
        <p:nvPicPr>
          <p:cNvPr id="6" name="Picture 5">
            <a:extLst>
              <a:ext uri="{FF2B5EF4-FFF2-40B4-BE49-F238E27FC236}">
                <a16:creationId xmlns:a16="http://schemas.microsoft.com/office/drawing/2014/main" id="{2258F1BB-1497-163D-9901-E75B2B55B5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0114" y="1476569"/>
            <a:ext cx="8911771" cy="5010425"/>
          </a:xfrm>
          <a:prstGeom prst="rect">
            <a:avLst/>
          </a:prstGeom>
        </p:spPr>
      </p:pic>
    </p:spTree>
    <p:extLst>
      <p:ext uri="{BB962C8B-B14F-4D97-AF65-F5344CB8AC3E}">
        <p14:creationId xmlns:p14="http://schemas.microsoft.com/office/powerpoint/2010/main" val="3018810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33400" y="685800"/>
            <a:ext cx="5140325" cy="549275"/>
          </a:xfrm>
          <a:prstGeom prst="rect">
            <a:avLst/>
          </a:prstGeom>
          <a:noFill/>
        </p:spPr>
        <p:txBody>
          <a:bodyPr wrap="square" rtlCol="0">
            <a:noAutofit/>
          </a:bodyPr>
          <a:lstStyle/>
          <a:p>
            <a:r>
              <a:rPr lang="en-GB" altLang="en-US" sz="2000" b="1" dirty="0">
                <a:latin typeface="Times New Roman" panose="02020603050405020304" pitchFamily="18" charset="0"/>
                <a:cs typeface="Times New Roman" panose="02020603050405020304" pitchFamily="18" charset="0"/>
              </a:rPr>
              <a:t>Invoice Generation</a:t>
            </a:r>
            <a:r>
              <a:rPr lang="en-GB" altLang="en-US" sz="2000" dirty="0">
                <a:latin typeface="Times New Roman" panose="02020603050405020304" pitchFamily="18" charset="0"/>
                <a:cs typeface="Times New Roman" panose="02020603050405020304" pitchFamily="18" charset="0"/>
              </a:rPr>
              <a:t> </a:t>
            </a:r>
          </a:p>
        </p:txBody>
      </p:sp>
      <p:pic>
        <p:nvPicPr>
          <p:cNvPr id="3" name="Picture 2"/>
          <p:cNvPicPr>
            <a:picLocks noChangeAspect="1"/>
          </p:cNvPicPr>
          <p:nvPr/>
        </p:nvPicPr>
        <p:blipFill>
          <a:blip r:embed="rId2"/>
          <a:stretch>
            <a:fillRect/>
          </a:stretch>
        </p:blipFill>
        <p:spPr>
          <a:xfrm>
            <a:off x="619125" y="1381125"/>
            <a:ext cx="11068685" cy="469074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609600"/>
            <a:ext cx="4064000" cy="400110"/>
          </a:xfrm>
          <a:prstGeom prst="rect">
            <a:avLst/>
          </a:prstGeom>
          <a:noFill/>
        </p:spPr>
        <p:txBody>
          <a:bodyPr wrap="square" rtlCol="0">
            <a:spAutoFit/>
          </a:bodyPr>
          <a:lstStyle/>
          <a:p>
            <a:r>
              <a:rPr lang="en-GB" altLang="en-US" sz="2000" b="1" dirty="0">
                <a:latin typeface="Times New Roman" panose="02020603050405020304" pitchFamily="18" charset="0"/>
                <a:cs typeface="Times New Roman" panose="02020603050405020304" pitchFamily="18" charset="0"/>
              </a:rPr>
              <a:t>Owner Dashboard</a:t>
            </a:r>
          </a:p>
        </p:txBody>
      </p:sp>
      <p:pic>
        <p:nvPicPr>
          <p:cNvPr id="5" name="Picture 4">
            <a:extLst>
              <a:ext uri="{FF2B5EF4-FFF2-40B4-BE49-F238E27FC236}">
                <a16:creationId xmlns:a16="http://schemas.microsoft.com/office/drawing/2014/main" id="{A42FBF95-D260-41BD-E371-AFA664E43F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800" y="1225490"/>
            <a:ext cx="9303609" cy="523072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609600"/>
            <a:ext cx="4434840" cy="501650"/>
          </a:xfrm>
          <a:prstGeom prst="rect">
            <a:avLst/>
          </a:prstGeom>
          <a:noFill/>
        </p:spPr>
        <p:txBody>
          <a:bodyPr wrap="square" rtlCol="0">
            <a:noAutofit/>
          </a:bodyPr>
          <a:lstStyle/>
          <a:p>
            <a:r>
              <a:rPr lang="en-GB" altLang="en-US" sz="2000" b="1" dirty="0">
                <a:latin typeface="Times New Roman" panose="02020603050405020304" pitchFamily="18" charset="0"/>
                <a:cs typeface="Times New Roman" panose="02020603050405020304" pitchFamily="18" charset="0"/>
              </a:rPr>
              <a:t>Real Time Stock Management </a:t>
            </a:r>
          </a:p>
        </p:txBody>
      </p:sp>
      <p:pic>
        <p:nvPicPr>
          <p:cNvPr id="3" name="Picture 2"/>
          <p:cNvPicPr>
            <a:picLocks noChangeAspect="1"/>
          </p:cNvPicPr>
          <p:nvPr/>
        </p:nvPicPr>
        <p:blipFill>
          <a:blip r:embed="rId2"/>
          <a:stretch>
            <a:fillRect/>
          </a:stretch>
        </p:blipFill>
        <p:spPr>
          <a:xfrm>
            <a:off x="333375" y="1219200"/>
            <a:ext cx="11220450" cy="51911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81000" y="567025"/>
            <a:ext cx="4064000" cy="400110"/>
          </a:xfrm>
          <a:prstGeom prst="rect">
            <a:avLst/>
          </a:prstGeom>
          <a:noFill/>
        </p:spPr>
        <p:txBody>
          <a:bodyPr wrap="square" rtlCol="0">
            <a:spAutoFit/>
          </a:bodyPr>
          <a:lstStyle/>
          <a:p>
            <a:r>
              <a:rPr lang="en-GB" altLang="en-US" sz="2000" b="1" dirty="0">
                <a:latin typeface="Times New Roman" panose="02020603050405020304" pitchFamily="18" charset="0"/>
                <a:cs typeface="Times New Roman" panose="02020603050405020304" pitchFamily="18" charset="0"/>
              </a:rPr>
              <a:t>Revenue With Pie Chart</a:t>
            </a:r>
          </a:p>
        </p:txBody>
      </p:sp>
      <p:pic>
        <p:nvPicPr>
          <p:cNvPr id="3" name="Picture 2"/>
          <p:cNvPicPr>
            <a:picLocks noChangeAspect="1"/>
          </p:cNvPicPr>
          <p:nvPr/>
        </p:nvPicPr>
        <p:blipFill>
          <a:blip r:embed="rId2"/>
          <a:stretch>
            <a:fillRect/>
          </a:stretch>
        </p:blipFill>
        <p:spPr>
          <a:xfrm>
            <a:off x="466725" y="1166495"/>
            <a:ext cx="11259185" cy="49244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F11D9-BB0C-1798-9F6D-AD163617E88A}"/>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Attainment of objective</a:t>
            </a:r>
          </a:p>
        </p:txBody>
      </p:sp>
      <p:sp>
        <p:nvSpPr>
          <p:cNvPr id="3" name="Content Placeholder 2">
            <a:extLst>
              <a:ext uri="{FF2B5EF4-FFF2-40B4-BE49-F238E27FC236}">
                <a16:creationId xmlns:a16="http://schemas.microsoft.com/office/drawing/2014/main" id="{EEC058D4-6365-1F8F-AEAF-E09756BC294F}"/>
              </a:ext>
            </a:extLst>
          </p:cNvPr>
          <p:cNvSpPr>
            <a:spLocks noGrp="1"/>
          </p:cNvSpPr>
          <p:nvPr>
            <p:ph idx="1"/>
          </p:nvPr>
        </p:nvSpPr>
        <p:spPr/>
        <p:txBody>
          <a:bodyPr>
            <a:normAutofit fontScale="77500" lnSpcReduction="20000"/>
          </a:bodyPr>
          <a:lstStyle/>
          <a:p>
            <a:pPr marL="297815" indent="-285115" algn="just">
              <a:lnSpc>
                <a:spcPct val="100000"/>
              </a:lnSpc>
              <a:spcBef>
                <a:spcPts val="105"/>
              </a:spcBef>
              <a:buFont typeface="Arial MT"/>
              <a:buChar char="•"/>
              <a:tabLst>
                <a:tab pos="297815" algn="l"/>
              </a:tabLst>
            </a:pPr>
            <a:r>
              <a:rPr lang="en-US" altLang="en-US" b="1" dirty="0">
                <a:latin typeface="Times New Roman" panose="02020603050405020304" pitchFamily="18" charset="0"/>
                <a:cs typeface="Times New Roman" panose="02020603050405020304" pitchFamily="18" charset="0"/>
              </a:rPr>
              <a:t> AI Voice Ordering</a:t>
            </a:r>
          </a:p>
          <a:p>
            <a:pPr marL="12700" indent="0" algn="just">
              <a:lnSpc>
                <a:spcPct val="100000"/>
              </a:lnSpc>
              <a:spcBef>
                <a:spcPts val="105"/>
              </a:spcBef>
              <a:buFont typeface="Arial MT"/>
              <a:buNone/>
              <a:tabLst>
                <a:tab pos="297815" algn="l"/>
              </a:tabLst>
            </a:pPr>
            <a:r>
              <a:rPr lang="en-US" altLang="en-US" dirty="0">
                <a:latin typeface="Times New Roman" panose="02020603050405020304" pitchFamily="18" charset="0"/>
                <a:cs typeface="Times New Roman" panose="02020603050405020304" pitchFamily="18" charset="0"/>
              </a:rPr>
              <a:t>  Enabled contactless ordering through Whisper for accurate, multilingual speech recognition.</a:t>
            </a:r>
          </a:p>
          <a:p>
            <a:pPr marL="297815" indent="-285115" algn="just">
              <a:lnSpc>
                <a:spcPct val="100000"/>
              </a:lnSpc>
              <a:spcBef>
                <a:spcPts val="105"/>
              </a:spcBef>
              <a:buFont typeface="Arial MT"/>
              <a:buChar char="•"/>
              <a:tabLst>
                <a:tab pos="297815" algn="l"/>
              </a:tabLst>
            </a:pPr>
            <a:endParaRPr lang="en-US" altLang="en-US" dirty="0">
              <a:latin typeface="Times New Roman" panose="02020603050405020304" pitchFamily="18" charset="0"/>
              <a:cs typeface="Times New Roman" panose="02020603050405020304" pitchFamily="18" charset="0"/>
            </a:endParaRPr>
          </a:p>
          <a:p>
            <a:pPr marL="297815" indent="-285115" algn="just">
              <a:lnSpc>
                <a:spcPct val="100000"/>
              </a:lnSpc>
              <a:spcBef>
                <a:spcPts val="105"/>
              </a:spcBef>
              <a:buFont typeface="Arial MT"/>
              <a:buChar char="•"/>
              <a:tabLst>
                <a:tab pos="297815" algn="l"/>
              </a:tabLst>
            </a:pPr>
            <a:r>
              <a:rPr lang="en-US" altLang="en-US" b="1" dirty="0">
                <a:latin typeface="Times New Roman" panose="02020603050405020304" pitchFamily="18" charset="0"/>
                <a:cs typeface="Times New Roman" panose="02020603050405020304" pitchFamily="18" charset="0"/>
              </a:rPr>
              <a:t> Smart Intent Detection</a:t>
            </a:r>
            <a:endParaRPr lang="en-US" altLang="en-US" dirty="0">
              <a:latin typeface="Times New Roman" panose="02020603050405020304" pitchFamily="18" charset="0"/>
              <a:cs typeface="Times New Roman" panose="02020603050405020304" pitchFamily="18" charset="0"/>
            </a:endParaRPr>
          </a:p>
          <a:p>
            <a:pPr marL="12700" indent="0" algn="just">
              <a:lnSpc>
                <a:spcPct val="100000"/>
              </a:lnSpc>
              <a:spcBef>
                <a:spcPts val="105"/>
              </a:spcBef>
              <a:buFont typeface="Arial MT"/>
              <a:buNone/>
              <a:tabLst>
                <a:tab pos="297815" algn="l"/>
              </a:tabLst>
            </a:pPr>
            <a:r>
              <a:rPr lang="en-US" altLang="en-US" dirty="0">
                <a:latin typeface="Times New Roman" panose="02020603050405020304" pitchFamily="18" charset="0"/>
                <a:cs typeface="Times New Roman" panose="02020603050405020304" pitchFamily="18" charset="0"/>
              </a:rPr>
              <a:t>  Used </a:t>
            </a:r>
            <a:r>
              <a:rPr lang="en-US" altLang="en-US" dirty="0" err="1">
                <a:latin typeface="Times New Roman" panose="02020603050405020304" pitchFamily="18" charset="0"/>
                <a:cs typeface="Times New Roman" panose="02020603050405020304" pitchFamily="18" charset="0"/>
              </a:rPr>
              <a:t>DistilBERT</a:t>
            </a:r>
            <a:r>
              <a:rPr lang="en-US" altLang="en-US" dirty="0">
                <a:latin typeface="Times New Roman" panose="02020603050405020304" pitchFamily="18" charset="0"/>
                <a:cs typeface="Times New Roman" panose="02020603050405020304" pitchFamily="18" charset="0"/>
              </a:rPr>
              <a:t> to understand user voice and identify food items precisely.</a:t>
            </a:r>
          </a:p>
          <a:p>
            <a:pPr marL="297815" indent="-285115" algn="just">
              <a:lnSpc>
                <a:spcPct val="100000"/>
              </a:lnSpc>
              <a:spcBef>
                <a:spcPts val="105"/>
              </a:spcBef>
              <a:buFont typeface="Arial MT"/>
              <a:buChar char="•"/>
              <a:tabLst>
                <a:tab pos="297815" algn="l"/>
              </a:tabLst>
            </a:pPr>
            <a:endParaRPr lang="en-US" altLang="en-US" dirty="0">
              <a:latin typeface="Times New Roman" panose="02020603050405020304" pitchFamily="18" charset="0"/>
              <a:cs typeface="Times New Roman" panose="02020603050405020304" pitchFamily="18" charset="0"/>
            </a:endParaRPr>
          </a:p>
          <a:p>
            <a:pPr marL="297815" indent="-285115" algn="just">
              <a:lnSpc>
                <a:spcPct val="100000"/>
              </a:lnSpc>
              <a:spcBef>
                <a:spcPts val="105"/>
              </a:spcBef>
              <a:buFont typeface="Arial MT"/>
              <a:buChar char="•"/>
              <a:tabLst>
                <a:tab pos="297815" algn="l"/>
              </a:tabLst>
            </a:pPr>
            <a:r>
              <a:rPr lang="en-US" altLang="en-US" b="1" dirty="0">
                <a:latin typeface="Times New Roman" panose="02020603050405020304" pitchFamily="18" charset="0"/>
                <a:cs typeface="Times New Roman" panose="02020603050405020304" pitchFamily="18" charset="0"/>
              </a:rPr>
              <a:t>Real-Time Order Management</a:t>
            </a:r>
          </a:p>
          <a:p>
            <a:pPr marL="12700" indent="0" algn="just">
              <a:lnSpc>
                <a:spcPct val="100000"/>
              </a:lnSpc>
              <a:spcBef>
                <a:spcPts val="105"/>
              </a:spcBef>
              <a:buFont typeface="Arial MT"/>
              <a:buNone/>
              <a:tabLst>
                <a:tab pos="297815" algn="l"/>
              </a:tabLst>
            </a:pPr>
            <a:r>
              <a:rPr lang="en-US" altLang="en-US" dirty="0">
                <a:latin typeface="Times New Roman" panose="02020603050405020304" pitchFamily="18" charset="0"/>
                <a:cs typeface="Times New Roman" panose="02020603050405020304" pitchFamily="18" charset="0"/>
              </a:rPr>
              <a:t>  Handled live inventory filtering, kitchen load balancing, and automatic invoice generation.</a:t>
            </a:r>
          </a:p>
          <a:p>
            <a:pPr marL="297815" indent="-285115" algn="just">
              <a:lnSpc>
                <a:spcPct val="100000"/>
              </a:lnSpc>
              <a:spcBef>
                <a:spcPts val="105"/>
              </a:spcBef>
              <a:buFont typeface="Arial MT"/>
              <a:buChar char="•"/>
              <a:tabLst>
                <a:tab pos="297815" algn="l"/>
              </a:tabLst>
            </a:pPr>
            <a:endParaRPr lang="en-US" altLang="en-US" dirty="0">
              <a:latin typeface="Times New Roman" panose="02020603050405020304" pitchFamily="18" charset="0"/>
              <a:cs typeface="Times New Roman" panose="02020603050405020304" pitchFamily="18" charset="0"/>
            </a:endParaRPr>
          </a:p>
          <a:p>
            <a:pPr marL="297815" indent="-285115" algn="just">
              <a:lnSpc>
                <a:spcPct val="100000"/>
              </a:lnSpc>
              <a:spcBef>
                <a:spcPts val="105"/>
              </a:spcBef>
              <a:buFont typeface="Arial MT"/>
              <a:buChar char="•"/>
              <a:tabLst>
                <a:tab pos="297815" algn="l"/>
              </a:tabLst>
            </a:pPr>
            <a:r>
              <a:rPr lang="en-US" altLang="en-US" b="1" dirty="0">
                <a:latin typeface="Times New Roman" panose="02020603050405020304" pitchFamily="18" charset="0"/>
                <a:cs typeface="Times New Roman" panose="02020603050405020304" pitchFamily="18" charset="0"/>
              </a:rPr>
              <a:t>Secure Blockchain Integration</a:t>
            </a:r>
          </a:p>
          <a:p>
            <a:pPr marL="12700" indent="0" algn="just">
              <a:lnSpc>
                <a:spcPct val="100000"/>
              </a:lnSpc>
              <a:spcBef>
                <a:spcPts val="105"/>
              </a:spcBef>
              <a:buFont typeface="Arial MT"/>
              <a:buNone/>
              <a:tabLst>
                <a:tab pos="297815" algn="l"/>
              </a:tabLst>
            </a:pPr>
            <a:r>
              <a:rPr lang="en-US" altLang="en-US" dirty="0">
                <a:latin typeface="Times New Roman" panose="02020603050405020304" pitchFamily="18" charset="0"/>
                <a:cs typeface="Times New Roman" panose="02020603050405020304" pitchFamily="18" charset="0"/>
              </a:rPr>
              <a:t>  Added blockchain for transparent stock tracking and safe digital transactions.</a:t>
            </a:r>
          </a:p>
          <a:p>
            <a:pPr marL="297815" indent="-285115" algn="just">
              <a:lnSpc>
                <a:spcPct val="100000"/>
              </a:lnSpc>
              <a:spcBef>
                <a:spcPts val="105"/>
              </a:spcBef>
              <a:buFont typeface="Arial MT"/>
              <a:buChar char="•"/>
              <a:tabLst>
                <a:tab pos="297815" algn="l"/>
              </a:tabLst>
            </a:pPr>
            <a:endParaRPr lang="en-US" altLang="en-US" dirty="0">
              <a:latin typeface="Times New Roman" panose="02020603050405020304" pitchFamily="18" charset="0"/>
              <a:cs typeface="Times New Roman" panose="02020603050405020304" pitchFamily="18" charset="0"/>
            </a:endParaRPr>
          </a:p>
          <a:p>
            <a:pPr marL="297815" indent="-285115" algn="just">
              <a:lnSpc>
                <a:spcPct val="100000"/>
              </a:lnSpc>
              <a:spcBef>
                <a:spcPts val="105"/>
              </a:spcBef>
              <a:buFont typeface="Arial MT"/>
              <a:buChar char="•"/>
              <a:tabLst>
                <a:tab pos="297815" algn="l"/>
              </a:tabLst>
            </a:pPr>
            <a:r>
              <a:rPr lang="en-US" altLang="en-US" b="1" dirty="0">
                <a:latin typeface="Times New Roman" panose="02020603050405020304" pitchFamily="18" charset="0"/>
                <a:cs typeface="Times New Roman" panose="02020603050405020304" pitchFamily="18" charset="0"/>
              </a:rPr>
              <a:t> Daily Analytics Generation</a:t>
            </a:r>
          </a:p>
          <a:p>
            <a:pPr marL="12700" indent="0" algn="just">
              <a:lnSpc>
                <a:spcPct val="100000"/>
              </a:lnSpc>
              <a:spcBef>
                <a:spcPts val="105"/>
              </a:spcBef>
              <a:buFont typeface="Arial MT"/>
              <a:buNone/>
              <a:tabLst>
                <a:tab pos="297815" algn="l"/>
              </a:tabLst>
            </a:pPr>
            <a:r>
              <a:rPr lang="en-US" altLang="en-US" dirty="0">
                <a:latin typeface="Times New Roman" panose="02020603050405020304" pitchFamily="18" charset="0"/>
                <a:cs typeface="Times New Roman" panose="02020603050405020304" pitchFamily="18" charset="0"/>
              </a:rPr>
              <a:t>  Automated backend analytics to monitor sales, service trends, and performance.</a:t>
            </a:r>
          </a:p>
          <a:p>
            <a:pPr marL="12700" indent="0" algn="just">
              <a:lnSpc>
                <a:spcPct val="100000"/>
              </a:lnSpc>
              <a:spcBef>
                <a:spcPts val="105"/>
              </a:spcBef>
              <a:buFont typeface="Arial MT"/>
              <a:buNone/>
              <a:tabLst>
                <a:tab pos="297815" algn="l"/>
              </a:tabLst>
            </a:pP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47931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38200" y="1447800"/>
            <a:ext cx="10820400" cy="4202882"/>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Talk2Invoice is an AI-powered voice ordering solution that transforms restaurant operations into a smart, contactless, and automated process. It integrates </a:t>
            </a:r>
            <a:r>
              <a:rPr lang="en-US" b="1" dirty="0">
                <a:latin typeface="Times New Roman" panose="02020603050405020304" pitchFamily="18" charset="0"/>
                <a:cs typeface="Times New Roman" panose="02020603050405020304" pitchFamily="18" charset="0"/>
              </a:rPr>
              <a:t>AI, NLP, Speech Recognition, and Blockchain</a:t>
            </a:r>
            <a:r>
              <a:rPr lang="en-US" dirty="0">
                <a:latin typeface="Times New Roman" panose="02020603050405020304" pitchFamily="18" charset="0"/>
                <a:cs typeface="Times New Roman" panose="02020603050405020304" pitchFamily="18" charset="0"/>
              </a:rPr>
              <a:t> to deliver fast, secure, and intelligent service. </a:t>
            </a:r>
            <a:r>
              <a:rPr lang="en-US" b="1" dirty="0">
                <a:latin typeface="Times New Roman" panose="02020603050405020304" pitchFamily="18" charset="0"/>
                <a:cs typeface="Times New Roman" panose="02020603050405020304" pitchFamily="18" charset="0"/>
              </a:rPr>
              <a:t>Whisper</a:t>
            </a:r>
            <a:r>
              <a:rPr lang="en-US" dirty="0">
                <a:latin typeface="Times New Roman" panose="02020603050405020304" pitchFamily="18" charset="0"/>
                <a:cs typeface="Times New Roman" panose="02020603050405020304" pitchFamily="18" charset="0"/>
              </a:rPr>
              <a:t> ensures accurate speech-to-text in noisy environments, while </a:t>
            </a:r>
            <a:r>
              <a:rPr lang="en-US" b="1" dirty="0" err="1">
                <a:latin typeface="Times New Roman" panose="02020603050405020304" pitchFamily="18" charset="0"/>
                <a:cs typeface="Times New Roman" panose="02020603050405020304" pitchFamily="18" charset="0"/>
              </a:rPr>
              <a:t>DistilBERT</a:t>
            </a:r>
            <a:r>
              <a:rPr lang="en-US" dirty="0">
                <a:latin typeface="Times New Roman" panose="02020603050405020304" pitchFamily="18" charset="0"/>
                <a:cs typeface="Times New Roman" panose="02020603050405020304" pitchFamily="18" charset="0"/>
              </a:rPr>
              <a:t> interprets user intent and menu selections. The backend automates </a:t>
            </a:r>
            <a:r>
              <a:rPr lang="en-US" b="1" dirty="0">
                <a:latin typeface="Times New Roman" panose="02020603050405020304" pitchFamily="18" charset="0"/>
                <a:cs typeface="Times New Roman" panose="02020603050405020304" pitchFamily="18" charset="0"/>
              </a:rPr>
              <a:t>menu management, inventory, and kitchen operations</a:t>
            </a:r>
            <a:r>
              <a:rPr lang="en-US" dirty="0">
                <a:latin typeface="Times New Roman" panose="02020603050405020304" pitchFamily="18" charset="0"/>
                <a:cs typeface="Times New Roman" panose="02020603050405020304" pitchFamily="18" charset="0"/>
              </a:rPr>
              <a:t> for real-time tracking and improved efficiency. The </a:t>
            </a:r>
            <a:r>
              <a:rPr lang="en-US" b="1" dirty="0">
                <a:latin typeface="Times New Roman" panose="02020603050405020304" pitchFamily="18" charset="0"/>
                <a:cs typeface="Times New Roman" panose="02020603050405020304" pitchFamily="18" charset="0"/>
              </a:rPr>
              <a:t>admin dashboard</a:t>
            </a:r>
            <a:r>
              <a:rPr lang="en-US" dirty="0">
                <a:latin typeface="Times New Roman" panose="02020603050405020304" pitchFamily="18" charset="0"/>
                <a:cs typeface="Times New Roman" panose="02020603050405020304" pitchFamily="18" charset="0"/>
              </a:rPr>
              <a:t> provides insights on sales, top items, and performance analytics. Customers enjoy </a:t>
            </a:r>
            <a:r>
              <a:rPr lang="en-US" b="1" dirty="0">
                <a:latin typeface="Times New Roman" panose="02020603050405020304" pitchFamily="18" charset="0"/>
                <a:cs typeface="Times New Roman" panose="02020603050405020304" pitchFamily="18" charset="0"/>
              </a:rPr>
              <a:t>multilingual voice support, quick ordering, and precise billing</a:t>
            </a:r>
            <a:r>
              <a:rPr lang="en-US" dirty="0">
                <a:latin typeface="Times New Roman" panose="02020603050405020304" pitchFamily="18" charset="0"/>
                <a:cs typeface="Times New Roman" panose="02020603050405020304" pitchFamily="18" charset="0"/>
              </a:rPr>
              <a:t>, enhancing satisfaction and reducing wait times. The system lowers staff workload, speeds up service, and supports eco-friendly practices by eliminating paper receipts.</a:t>
            </a:r>
            <a:r>
              <a:rPr lang="en-US" dirty="0"/>
              <a:t> . Overall, Talk2Invoice represents a significant step toward next- generation, AI-powered, voice- interactive restaurant systems, setting a benchmark for innovation in the food industry. </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9464F83-EEC8-157D-471A-16499542A2D7}"/>
              </a:ext>
            </a:extLst>
          </p:cNvPr>
          <p:cNvSpPr txBox="1"/>
          <p:nvPr/>
        </p:nvSpPr>
        <p:spPr>
          <a:xfrm>
            <a:off x="838199" y="684098"/>
            <a:ext cx="3574143"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Conclusion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56A4BF-71D1-6125-429A-874240469CE1}"/>
              </a:ext>
            </a:extLst>
          </p:cNvPr>
          <p:cNvSpPr txBox="1"/>
          <p:nvPr/>
        </p:nvSpPr>
        <p:spPr>
          <a:xfrm>
            <a:off x="1146628" y="740229"/>
            <a:ext cx="3439885"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Future Scope</a:t>
            </a:r>
          </a:p>
        </p:txBody>
      </p:sp>
      <p:sp>
        <p:nvSpPr>
          <p:cNvPr id="6" name="TextBox 5">
            <a:extLst>
              <a:ext uri="{FF2B5EF4-FFF2-40B4-BE49-F238E27FC236}">
                <a16:creationId xmlns:a16="http://schemas.microsoft.com/office/drawing/2014/main" id="{B17FF398-22C0-C436-E2CE-11B2FA6E4C4C}"/>
              </a:ext>
            </a:extLst>
          </p:cNvPr>
          <p:cNvSpPr txBox="1"/>
          <p:nvPr/>
        </p:nvSpPr>
        <p:spPr>
          <a:xfrm>
            <a:off x="1146628" y="1582340"/>
            <a:ext cx="9593943" cy="3693319"/>
          </a:xfrm>
          <a:prstGeom prst="rect">
            <a:avLst/>
          </a:prstGeom>
          <a:noFill/>
        </p:spPr>
        <p:txBody>
          <a:bodyPr wrap="square">
            <a:spAutoFit/>
          </a:bodyPr>
          <a:lstStyle/>
          <a:p>
            <a:pPr marL="0" indent="0" algn="just" rtl="0" eaLnBrk="1" latinLnBrk="0" hangingPunct="1">
              <a:buNone/>
            </a:pPr>
            <a:r>
              <a:rPr lang="en-US" sz="1800" kern="1200" dirty="0">
                <a:solidFill>
                  <a:srgbClr val="000000"/>
                </a:solidFill>
                <a:effectLst/>
                <a:latin typeface="Times New Roman" panose="02020603050405020304" pitchFamily="18" charset="0"/>
                <a:cs typeface="Times New Roman" panose="02020603050405020304" pitchFamily="18" charset="0"/>
              </a:rPr>
              <a:t>The Talk2Invoice system has a wide range of future improvements and advanced features that</a:t>
            </a:r>
            <a:endParaRPr lang="en-US" dirty="0">
              <a:effectLst/>
              <a:latin typeface="Times New Roman" panose="02020603050405020304" pitchFamily="18" charset="0"/>
              <a:cs typeface="Times New Roman" panose="02020603050405020304" pitchFamily="18" charset="0"/>
            </a:endParaRPr>
          </a:p>
          <a:p>
            <a:pPr marL="0" indent="0" algn="just" rtl="0" eaLnBrk="1" latinLnBrk="0" hangingPunct="1">
              <a:buNone/>
            </a:pPr>
            <a:r>
              <a:rPr lang="en-US" sz="1800" kern="1200" dirty="0">
                <a:solidFill>
                  <a:srgbClr val="000000"/>
                </a:solidFill>
                <a:effectLst/>
                <a:latin typeface="Times New Roman" panose="02020603050405020304" pitchFamily="18" charset="0"/>
                <a:cs typeface="Times New Roman" panose="02020603050405020304" pitchFamily="18" charset="0"/>
              </a:rPr>
              <a:t>can make it even more intelligent, efficient, and user-friendly.</a:t>
            </a:r>
            <a:endParaRPr lang="en-US" dirty="0">
              <a:effectLst/>
              <a:latin typeface="Times New Roman" panose="02020603050405020304" pitchFamily="18" charset="0"/>
              <a:cs typeface="Times New Roman" panose="02020603050405020304" pitchFamily="18" charset="0"/>
            </a:endParaRPr>
          </a:p>
          <a:p>
            <a:pPr marL="0" indent="0" algn="just" rtl="0" eaLnBrk="1" latinLnBrk="0" hangingPunct="1">
              <a:buNone/>
            </a:pPr>
            <a:r>
              <a:rPr lang="en-US" sz="1800" b="1" kern="1200" dirty="0">
                <a:solidFill>
                  <a:srgbClr val="000000"/>
                </a:solidFill>
                <a:effectLst/>
                <a:latin typeface="Times New Roman" panose="02020603050405020304" pitchFamily="18" charset="0"/>
                <a:cs typeface="Times New Roman" panose="02020603050405020304" pitchFamily="18" charset="0"/>
              </a:rPr>
              <a:t>1. Offline Mode Support:</a:t>
            </a:r>
            <a:endParaRPr lang="en-US" b="1" dirty="0">
              <a:effectLst/>
              <a:latin typeface="Times New Roman" panose="02020603050405020304" pitchFamily="18" charset="0"/>
              <a:cs typeface="Times New Roman" panose="02020603050405020304" pitchFamily="18" charset="0"/>
            </a:endParaRPr>
          </a:p>
          <a:p>
            <a:pPr marL="0" indent="0" algn="just" rtl="0" eaLnBrk="1" latinLnBrk="0" hangingPunct="1">
              <a:buNone/>
            </a:pPr>
            <a:r>
              <a:rPr lang="en-US" sz="1800" kern="1200" dirty="0">
                <a:solidFill>
                  <a:srgbClr val="000000"/>
                </a:solidFill>
                <a:effectLst/>
                <a:latin typeface="Times New Roman" panose="02020603050405020304" pitchFamily="18" charset="0"/>
                <a:cs typeface="Times New Roman" panose="02020603050405020304" pitchFamily="18" charset="0"/>
              </a:rPr>
              <a:t>The system can be enhanced to work even without an internet connection. Orders can be stored locally and automatically synced once the network is restored. This ensures uninterrupted service even in areas with poor connectivity.</a:t>
            </a:r>
            <a:endParaRPr lang="en-US" dirty="0">
              <a:effectLst/>
              <a:latin typeface="Times New Roman" panose="02020603050405020304" pitchFamily="18" charset="0"/>
              <a:cs typeface="Times New Roman" panose="02020603050405020304" pitchFamily="18" charset="0"/>
            </a:endParaRPr>
          </a:p>
          <a:p>
            <a:pPr marL="0" indent="0" algn="just" rtl="0" eaLnBrk="1" latinLnBrk="0" hangingPunct="1">
              <a:buNone/>
            </a:pPr>
            <a:r>
              <a:rPr lang="en-US" sz="1800" kern="1200" dirty="0">
                <a:solidFill>
                  <a:srgbClr val="000000"/>
                </a:solidFill>
                <a:effectLst/>
                <a:latin typeface="Times New Roman" panose="02020603050405020304" pitchFamily="18" charset="0"/>
                <a:cs typeface="Times New Roman" panose="02020603050405020304" pitchFamily="18" charset="0"/>
              </a:rPr>
              <a:t> </a:t>
            </a:r>
            <a:r>
              <a:rPr lang="en-US" sz="1800" b="1" kern="1200" dirty="0">
                <a:solidFill>
                  <a:srgbClr val="000000"/>
                </a:solidFill>
                <a:effectLst/>
                <a:latin typeface="Times New Roman" panose="02020603050405020304" pitchFamily="18" charset="0"/>
                <a:cs typeface="Times New Roman" panose="02020603050405020304" pitchFamily="18" charset="0"/>
              </a:rPr>
              <a:t>2. Emotion Detection in Voice:</a:t>
            </a:r>
            <a:endParaRPr lang="en-US" b="1" dirty="0">
              <a:effectLst/>
              <a:latin typeface="Times New Roman" panose="02020603050405020304" pitchFamily="18" charset="0"/>
              <a:cs typeface="Times New Roman" panose="02020603050405020304" pitchFamily="18" charset="0"/>
            </a:endParaRPr>
          </a:p>
          <a:p>
            <a:pPr marL="0" indent="0" algn="just" rtl="0" eaLnBrk="1" latinLnBrk="0" hangingPunct="1">
              <a:buNone/>
            </a:pPr>
            <a:r>
              <a:rPr lang="en-US" sz="1800" kern="1200" dirty="0">
                <a:solidFill>
                  <a:srgbClr val="000000"/>
                </a:solidFill>
                <a:effectLst/>
                <a:latin typeface="Times New Roman" panose="02020603050405020304" pitchFamily="18" charset="0"/>
                <a:cs typeface="Times New Roman" panose="02020603050405020304" pitchFamily="18" charset="0"/>
              </a:rPr>
              <a:t>Future versions can analyze the tone and emotion of the customer’s voice to provide more natural and personalized responses — for example, offering calm replies to frustrated users or cheerful interactions for happy customers.</a:t>
            </a:r>
            <a:endParaRPr lang="en-US" dirty="0">
              <a:effectLst/>
              <a:latin typeface="Times New Roman" panose="02020603050405020304" pitchFamily="18" charset="0"/>
              <a:cs typeface="Times New Roman" panose="02020603050405020304" pitchFamily="18" charset="0"/>
            </a:endParaRPr>
          </a:p>
          <a:p>
            <a:pPr marL="0" indent="0" algn="just" rtl="0" eaLnBrk="1" latinLnBrk="0" hangingPunct="1">
              <a:buNone/>
            </a:pPr>
            <a:r>
              <a:rPr lang="en-US" sz="1800" b="1" kern="1200" dirty="0">
                <a:solidFill>
                  <a:srgbClr val="000000"/>
                </a:solidFill>
                <a:effectLst/>
                <a:latin typeface="Times New Roman" panose="02020603050405020304" pitchFamily="18" charset="0"/>
                <a:cs typeface="Times New Roman" panose="02020603050405020304" pitchFamily="18" charset="0"/>
              </a:rPr>
              <a:t> 3. Integration with Delivery Partners:</a:t>
            </a:r>
            <a:endParaRPr lang="en-US" b="1" dirty="0">
              <a:effectLst/>
              <a:latin typeface="Times New Roman" panose="02020603050405020304" pitchFamily="18" charset="0"/>
              <a:cs typeface="Times New Roman" panose="02020603050405020304" pitchFamily="18" charset="0"/>
            </a:endParaRPr>
          </a:p>
          <a:p>
            <a:pPr marL="0" indent="0" algn="just" rtl="0" eaLnBrk="1" latinLnBrk="0" hangingPunct="1">
              <a:buNone/>
            </a:pPr>
            <a:r>
              <a:rPr lang="en-US" sz="1800" kern="1200" dirty="0">
                <a:solidFill>
                  <a:srgbClr val="000000"/>
                </a:solidFill>
                <a:effectLst/>
                <a:latin typeface="Times New Roman" panose="02020603050405020304" pitchFamily="18" charset="0"/>
                <a:cs typeface="Times New Roman" panose="02020603050405020304" pitchFamily="18" charset="0"/>
              </a:rPr>
              <a:t>The system can be connected to online food delivery platforms such as Swiggy or Zomato for   automated order dispatch, tracking, and delivery updates directly through voice commands.</a:t>
            </a:r>
            <a:endParaRPr lang="en-US"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56A4BF-71D1-6125-429A-874240469CE1}"/>
              </a:ext>
            </a:extLst>
          </p:cNvPr>
          <p:cNvSpPr txBox="1"/>
          <p:nvPr/>
        </p:nvSpPr>
        <p:spPr>
          <a:xfrm>
            <a:off x="1465942" y="760750"/>
            <a:ext cx="3512457"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Future</a:t>
            </a:r>
            <a:r>
              <a:rPr lang="en-IN" sz="4000" dirty="0">
                <a:latin typeface="Times New Roman" panose="02020603050405020304" pitchFamily="18" charset="0"/>
                <a:cs typeface="Times New Roman" panose="02020603050405020304" pitchFamily="18" charset="0"/>
              </a:rPr>
              <a:t> </a:t>
            </a:r>
            <a:r>
              <a:rPr lang="en-IN" sz="4000" b="1" dirty="0">
                <a:latin typeface="Times New Roman" panose="02020603050405020304" pitchFamily="18" charset="0"/>
                <a:cs typeface="Times New Roman" panose="02020603050405020304" pitchFamily="18" charset="0"/>
              </a:rPr>
              <a:t>Scope</a:t>
            </a:r>
          </a:p>
        </p:txBody>
      </p:sp>
      <p:sp>
        <p:nvSpPr>
          <p:cNvPr id="6" name="TextBox 5">
            <a:extLst>
              <a:ext uri="{FF2B5EF4-FFF2-40B4-BE49-F238E27FC236}">
                <a16:creationId xmlns:a16="http://schemas.microsoft.com/office/drawing/2014/main" id="{B5184AA0-AC64-8250-2525-AA464336856D}"/>
              </a:ext>
            </a:extLst>
          </p:cNvPr>
          <p:cNvSpPr txBox="1"/>
          <p:nvPr/>
        </p:nvSpPr>
        <p:spPr>
          <a:xfrm>
            <a:off x="1465942" y="1996557"/>
            <a:ext cx="9376228" cy="3693319"/>
          </a:xfrm>
          <a:prstGeom prst="rect">
            <a:avLst/>
          </a:prstGeom>
          <a:noFill/>
        </p:spPr>
        <p:txBody>
          <a:bodyPr wrap="square">
            <a:spAutoFit/>
          </a:bodyPr>
          <a:lstStyle/>
          <a:p>
            <a:pPr marL="0" indent="0" algn="just" rtl="0" eaLnBrk="1" latinLnBrk="0" hangingPunct="1">
              <a:buNone/>
            </a:pPr>
            <a:r>
              <a:rPr lang="en-US" sz="1800" kern="1200" dirty="0">
                <a:solidFill>
                  <a:srgbClr val="000000"/>
                </a:solidFill>
                <a:effectLst/>
                <a:latin typeface="Times New Roman" panose="02020603050405020304" pitchFamily="18" charset="0"/>
                <a:cs typeface="Times New Roman" panose="02020603050405020304" pitchFamily="18" charset="0"/>
              </a:rPr>
              <a:t>The Talk2Invoice system has a wide range of future improvements and advanced features that</a:t>
            </a:r>
            <a:endParaRPr lang="en-US" dirty="0">
              <a:effectLst/>
              <a:latin typeface="Times New Roman" panose="02020603050405020304" pitchFamily="18" charset="0"/>
              <a:cs typeface="Times New Roman" panose="02020603050405020304" pitchFamily="18" charset="0"/>
            </a:endParaRPr>
          </a:p>
          <a:p>
            <a:pPr marL="0" indent="0" algn="just" rtl="0" eaLnBrk="1" latinLnBrk="0" hangingPunct="1">
              <a:buNone/>
            </a:pPr>
            <a:r>
              <a:rPr lang="en-US" sz="1800" kern="1200" dirty="0">
                <a:solidFill>
                  <a:srgbClr val="000000"/>
                </a:solidFill>
                <a:effectLst/>
                <a:latin typeface="Times New Roman" panose="02020603050405020304" pitchFamily="18" charset="0"/>
                <a:cs typeface="Times New Roman" panose="02020603050405020304" pitchFamily="18" charset="0"/>
              </a:rPr>
              <a:t>can make it even more intelligent, efficient, and user-friendly.</a:t>
            </a:r>
            <a:endParaRPr lang="en-US" dirty="0">
              <a:effectLst/>
              <a:latin typeface="Times New Roman" panose="02020603050405020304" pitchFamily="18" charset="0"/>
              <a:cs typeface="Times New Roman" panose="02020603050405020304" pitchFamily="18" charset="0"/>
            </a:endParaRPr>
          </a:p>
          <a:p>
            <a:pPr marL="0" indent="0" algn="just" rtl="0" eaLnBrk="1" latinLnBrk="0" hangingPunct="1">
              <a:buNone/>
            </a:pPr>
            <a:r>
              <a:rPr lang="en-US" sz="1800" b="1" kern="1200" dirty="0">
                <a:solidFill>
                  <a:srgbClr val="000000"/>
                </a:solidFill>
                <a:effectLst/>
                <a:latin typeface="Times New Roman" panose="02020603050405020304" pitchFamily="18" charset="0"/>
                <a:cs typeface="Times New Roman" panose="02020603050405020304" pitchFamily="18" charset="0"/>
              </a:rPr>
              <a:t>1. Offline Mode Support:</a:t>
            </a:r>
            <a:endParaRPr lang="en-US" b="1" dirty="0">
              <a:effectLst/>
              <a:latin typeface="Times New Roman" panose="02020603050405020304" pitchFamily="18" charset="0"/>
              <a:cs typeface="Times New Roman" panose="02020603050405020304" pitchFamily="18" charset="0"/>
            </a:endParaRPr>
          </a:p>
          <a:p>
            <a:pPr marL="0" indent="0" algn="just" rtl="0" eaLnBrk="1" latinLnBrk="0" hangingPunct="1">
              <a:buNone/>
            </a:pPr>
            <a:r>
              <a:rPr lang="en-US" sz="1800" kern="1200" dirty="0">
                <a:solidFill>
                  <a:srgbClr val="000000"/>
                </a:solidFill>
                <a:effectLst/>
                <a:latin typeface="Times New Roman" panose="02020603050405020304" pitchFamily="18" charset="0"/>
                <a:cs typeface="Times New Roman" panose="02020603050405020304" pitchFamily="18" charset="0"/>
              </a:rPr>
              <a:t>The system can be enhanced to work even without an internet connection. Orders can be stored locally and automatically synced once the network is restored. This ensures uninterrupted service even in areas with poor connectivity.</a:t>
            </a:r>
            <a:endParaRPr lang="en-US" dirty="0">
              <a:effectLst/>
              <a:latin typeface="Times New Roman" panose="02020603050405020304" pitchFamily="18" charset="0"/>
              <a:cs typeface="Times New Roman" panose="02020603050405020304" pitchFamily="18" charset="0"/>
            </a:endParaRPr>
          </a:p>
          <a:p>
            <a:pPr marL="0" indent="0" algn="just" rtl="0" eaLnBrk="1" latinLnBrk="0" hangingPunct="1">
              <a:buNone/>
            </a:pPr>
            <a:r>
              <a:rPr lang="en-US" sz="1800" b="1" kern="1200" dirty="0">
                <a:solidFill>
                  <a:srgbClr val="000000"/>
                </a:solidFill>
                <a:effectLst/>
                <a:latin typeface="Times New Roman" panose="02020603050405020304" pitchFamily="18" charset="0"/>
                <a:cs typeface="Times New Roman" panose="02020603050405020304" pitchFamily="18" charset="0"/>
              </a:rPr>
              <a:t> 2. Emotion Detection in Voice:</a:t>
            </a:r>
            <a:endParaRPr lang="en-US" b="1" dirty="0">
              <a:effectLst/>
              <a:latin typeface="Times New Roman" panose="02020603050405020304" pitchFamily="18" charset="0"/>
              <a:cs typeface="Times New Roman" panose="02020603050405020304" pitchFamily="18" charset="0"/>
            </a:endParaRPr>
          </a:p>
          <a:p>
            <a:pPr marL="0" indent="0" algn="just" rtl="0" eaLnBrk="1" latinLnBrk="0" hangingPunct="1">
              <a:buNone/>
            </a:pPr>
            <a:r>
              <a:rPr lang="en-US" sz="1800" kern="1200" dirty="0">
                <a:solidFill>
                  <a:srgbClr val="000000"/>
                </a:solidFill>
                <a:effectLst/>
                <a:latin typeface="Times New Roman" panose="02020603050405020304" pitchFamily="18" charset="0"/>
                <a:cs typeface="Times New Roman" panose="02020603050405020304" pitchFamily="18" charset="0"/>
              </a:rPr>
              <a:t>Future versions can analyze the tone and emotion of the customer’s voice to provide more natural and personalized responses — for example, offering calm replies to frustrated users or cheerful interactions for happy customers.</a:t>
            </a:r>
            <a:endParaRPr lang="en-US" dirty="0">
              <a:effectLst/>
              <a:latin typeface="Times New Roman" panose="02020603050405020304" pitchFamily="18" charset="0"/>
              <a:cs typeface="Times New Roman" panose="02020603050405020304" pitchFamily="18" charset="0"/>
            </a:endParaRPr>
          </a:p>
          <a:p>
            <a:pPr marL="0" indent="0" algn="just" rtl="0" eaLnBrk="1" latinLnBrk="0" hangingPunct="1">
              <a:buNone/>
            </a:pPr>
            <a:r>
              <a:rPr lang="en-US" sz="1800" b="1" kern="1200" dirty="0">
                <a:solidFill>
                  <a:srgbClr val="000000"/>
                </a:solidFill>
                <a:effectLst/>
                <a:latin typeface="Times New Roman" panose="02020603050405020304" pitchFamily="18" charset="0"/>
                <a:cs typeface="Times New Roman" panose="02020603050405020304" pitchFamily="18" charset="0"/>
              </a:rPr>
              <a:t> 3. Integration with Delivery Partners:</a:t>
            </a:r>
            <a:endParaRPr lang="en-US" b="1" dirty="0">
              <a:effectLst/>
              <a:latin typeface="Times New Roman" panose="02020603050405020304" pitchFamily="18" charset="0"/>
              <a:cs typeface="Times New Roman" panose="02020603050405020304" pitchFamily="18" charset="0"/>
            </a:endParaRPr>
          </a:p>
          <a:p>
            <a:pPr marL="0" indent="0" algn="just" rtl="0" eaLnBrk="1" latinLnBrk="0" hangingPunct="1">
              <a:buNone/>
            </a:pPr>
            <a:r>
              <a:rPr lang="en-US" sz="1800" kern="1200" dirty="0">
                <a:solidFill>
                  <a:srgbClr val="000000"/>
                </a:solidFill>
                <a:effectLst/>
                <a:latin typeface="Times New Roman" panose="02020603050405020304" pitchFamily="18" charset="0"/>
                <a:cs typeface="Times New Roman" panose="02020603050405020304" pitchFamily="18" charset="0"/>
              </a:rPr>
              <a:t> The system can be connected to online food delivery platforms such as Swiggy or Zomato for   automated order dispatch, tracking, and delivery updates directly through voice commands.</a:t>
            </a:r>
            <a:endParaRPr lang="en-US" dirty="0">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36F1F8E-35D6-5BCA-FE34-EE4EFE74E732}"/>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238*57"/>
  <p:tag name="TABLE_ENDDRAG_RECT" val="624*396*238*5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2776</Words>
  <Application>Microsoft Office PowerPoint</Application>
  <PresentationFormat>Widescreen</PresentationFormat>
  <Paragraphs>248</Paragraphs>
  <Slides>27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 MT</vt:lpstr>
      <vt:lpstr>Calibri</vt:lpstr>
      <vt:lpstr>Calibri Light</vt:lpstr>
      <vt:lpstr>Calisto MT</vt:lpstr>
      <vt:lpstr>Times New Roman</vt:lpstr>
      <vt:lpstr>Office Theme</vt:lpstr>
      <vt:lpstr>PowerPoint Presentation</vt:lpstr>
      <vt:lpstr>MAJOR PROJECT REVIEW 1-CONTENTS</vt:lpstr>
      <vt:lpstr>Abstract</vt:lpstr>
      <vt:lpstr>Introduction</vt:lpstr>
      <vt:lpstr>Literature Survey</vt:lpstr>
      <vt:lpstr>Problem Statement In Existing System</vt:lpstr>
      <vt:lpstr> Proposed System </vt:lpstr>
      <vt:lpstr>Objective</vt:lpstr>
      <vt:lpstr> Project domain  </vt:lpstr>
      <vt:lpstr>PowerPoint Presentation</vt:lpstr>
      <vt:lpstr>PowerPoint Presentation</vt:lpstr>
      <vt:lpstr>System Architecture </vt:lpstr>
      <vt:lpstr>Methodology</vt:lpstr>
      <vt:lpstr>Design</vt:lpstr>
      <vt:lpstr>Implementation   </vt:lpstr>
      <vt:lpstr>Result &amp;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Attainment of objective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sailu bandi</dc:creator>
  <cp:lastModifiedBy>sailu bandi</cp:lastModifiedBy>
  <cp:revision>4</cp:revision>
  <dcterms:created xsi:type="dcterms:W3CDTF">2026-03-30T17:44:23Z</dcterms:created>
  <dcterms:modified xsi:type="dcterms:W3CDTF">2026-03-31T04:40:11Z</dcterms:modified>
</cp:coreProperties>
</file>