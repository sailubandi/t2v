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685800" y="179546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Times New Roman"/>
              <a:buNone/>
            </a:pPr>
            <a:r>
              <a:rPr b="1" lang="en-US" sz="2000">
                <a:solidFill>
                  <a:srgbClr val="00336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Talk2Invoice: AI Powered Voice Assistant for Food Ordering and Invoicing</a:t>
            </a:r>
            <a:endParaRPr b="1" sz="28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685799" y="3886200"/>
            <a:ext cx="8046600" cy="26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None/>
            </a:pPr>
            <a:r>
              <a:rPr b="1" lang="en-US" sz="1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ID: 315</a:t>
            </a:r>
            <a:endParaRPr b="1" sz="18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00B050"/>
              </a:buClr>
              <a:buSzPts val="1800"/>
              <a:buNone/>
            </a:pPr>
            <a:r>
              <a:rPr b="1" lang="en-US" sz="1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Bandi Poorna Sri Sailaja</a:t>
            </a:r>
            <a:endParaRPr b="1" sz="18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00B050"/>
              </a:buClr>
              <a:buSzPts val="1800"/>
              <a:buNone/>
            </a:pPr>
            <a:r>
              <a:rPr b="1" lang="en-US" sz="1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Vasavi Engineering College</a:t>
            </a:r>
            <a:endParaRPr b="1" sz="20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2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</a:pPr>
            <a:r>
              <a:rPr lang="en-US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Conference on Artificial Intelligence and Cybersecurity 2026</a:t>
            </a:r>
            <a:endParaRPr/>
          </a:p>
          <a:p>
            <a:pPr indent="0" lvl="0" marL="0" rtl="0" algn="ctr">
              <a:spcBef>
                <a:spcPts val="32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</a:pPr>
            <a:r>
              <a:rPr lang="en-US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Organized by </a:t>
            </a:r>
            <a:endParaRPr sz="16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2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</a:pPr>
            <a:r>
              <a:rPr lang="en-US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Sankalchand Patel University, Visnagar</a:t>
            </a:r>
            <a:endParaRPr sz="16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2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</a:pPr>
            <a:r>
              <a:rPr lang="en-US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6–7 March 2026</a:t>
            </a:r>
            <a:endParaRPr sz="1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SPUNAACLOGO500.png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" y="68580"/>
            <a:ext cx="3722616" cy="811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"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9235" y="114300"/>
            <a:ext cx="3203286" cy="594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10000"/>
          </a:bodyPr>
          <a:lstStyle/>
          <a:p>
            <a:pPr indent="-338513" lvl="0" marL="3429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•"/>
            </a:pPr>
            <a:r>
              <a:rPr lang="en-US" sz="5325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AI-Driven Service Transformation: Modern quick-service environments need intelligent automation to manage high customer volumes efficiently while keeping service accurate and scalable.</a:t>
            </a:r>
            <a:endParaRPr sz="5325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25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513" lvl="0" marL="3429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•"/>
            </a:pPr>
            <a:r>
              <a:rPr lang="en-US" sz="5325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of Existing Ordering Systems: Manual counters and touchscreen kiosks face challenges during peak hours, including order inaccuracies, limited support for multiple languages, and poor backend synchronization.</a:t>
            </a:r>
            <a:endParaRPr sz="5325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25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513" lvl="0" marL="3429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•"/>
            </a:pPr>
            <a:r>
              <a:rPr lang="en-US" sz="5325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Framework, Talk2Invoice: A new AI-powered voice ordering and invoicing system designed for  real-world settings using deep learning models.</a:t>
            </a:r>
            <a:endParaRPr sz="5325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25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513" lvl="0" marL="3429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•"/>
            </a:pPr>
            <a:r>
              <a:rPr lang="en-US" sz="5325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Technical Innovation: The system integrates Whisper for strong multilingual speech recognition and fine-tuned DistilBERT for intent detection and entity extraction. It is supported by real-time inventory and billing automation.</a:t>
            </a:r>
            <a:endParaRPr sz="5325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25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513" lvl="0" marL="3429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•"/>
            </a:pPr>
            <a:r>
              <a:rPr lang="en-US" sz="5325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Contribution &amp; Impact: It improves order accuracy, enables contactless transactions, and introduces secure, clear billing. This shows how AI can provide a scalable solution for smart food service systems.</a:t>
            </a:r>
            <a:endParaRPr sz="5325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UNAACLOGO500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46038"/>
            <a:ext cx="209724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2/24/2026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ICAICS-26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4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1749" y="81994"/>
            <a:ext cx="1639228" cy="304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3375" lvl="0" marL="3429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•"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Fragmented Operations: Fast-food restaurants have disconnected order systems, inventory systems, billing systems, and analytics systems. This leads to inefficiencies and poor coordination.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3429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•"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Peak-Hour Bottlenecks: Metros, airports, kiosks, and similar places are often busy. They experience delays, long lines, and difficulty coordinating kitchen tasks.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3429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•"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Weaknesses of Existing Voice Systems: Current voice-ordering systems struggle  understanding multiple languages, and recognizing intent in real-life situations.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3429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•"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Absence of Real-Time Backend Integration: Most platforms do not provide real-time stock checks, smart kitchen load balancing, or automatic billing.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3429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•"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Secure and Transparent Transactions: Current systems do not offer end-to-end transaction tracking, scalability, or reliability. These features are essential in today’s smart food service environments.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UNAACLOGO500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966" y="46038"/>
            <a:ext cx="209724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2/24/2026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ICAICS-26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pic>
        <p:nvPicPr>
          <p:cNvPr descr="logo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1749" y="81994"/>
            <a:ext cx="1639228" cy="304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b="1" sz="34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2727500" y="1600200"/>
            <a:ext cx="5959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b="1"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Interaction and Intent Processing: </a:t>
            </a: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QR-based web interface allows for app-free access. User speech is converted to text with Whisper, and a fine-tuned DistilBERT model handles intent recognition and item extraction with voice confirmation.  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b="1"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Processing and Smart Processing: </a:t>
            </a: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backend performs real-time inventory audits and analyzes kitchen workload. Only verified orders receive a unique ID and are processed to improve efficiency during busy times.  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b="1"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Backend and Administration:  </a:t>
            </a:r>
            <a:endParaRPr b="1"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Orders are stored in a central database, and transaction metadata is recorded on a blockchain ledger to ensure transparency and permanence. An electronic invoice is generated automatically.  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b="1"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 and Evaluation:  </a:t>
            </a:r>
            <a:endParaRPr b="1"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DistilBERT was trained with the AdamW optimizer (learning rate: 2e-5 to 5e-5, batch size 32) and used early stopping. It achieved 96.30% accuracy in intent recognition.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UNAACLOGO500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04" y="46038"/>
            <a:ext cx="209724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2/24/2026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ICAICS-26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1749" y="81994"/>
            <a:ext cx="1639228" cy="304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3344"/>
          <a:stretch/>
        </p:blipFill>
        <p:spPr>
          <a:xfrm>
            <a:off x="630250" y="1737500"/>
            <a:ext cx="2097249" cy="3996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Setup</a:t>
            </a:r>
            <a:endParaRPr/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10000"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115"/>
              <a:buFont typeface="Arial"/>
              <a:buNone/>
            </a:pPr>
            <a:r>
              <a:rPr b="1" lang="en-US" sz="3912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Environment</a:t>
            </a:r>
            <a:endParaRPr b="1" sz="3912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689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lang="en-US" sz="3444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Scenario: A real restaurant simulation with an intermediate level of noise.</a:t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689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lang="en-US" sz="3444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Mode: QR-based browser interface for app-free voice ordering.  </a:t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689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lang="en-US" sz="3444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 Processing: Whisper-based Speech-to-Text engine.  </a:t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689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lang="en-US" sz="3444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Intent Recognition Model: DistilBERT classifier.  </a:t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689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lang="en-US" sz="3444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Dataset: There are several single-item and multi-item spoken food order samples.  </a:t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314"/>
              <a:buNone/>
            </a:pPr>
            <a:r>
              <a:t/>
            </a:r>
            <a:endParaRPr sz="3752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314"/>
              <a:buNone/>
            </a:pPr>
            <a:r>
              <a:rPr b="1" lang="en-US" sz="3752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Procedure</a:t>
            </a:r>
            <a:endParaRPr b="1" sz="3752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933"/>
              <a:buNone/>
            </a:pPr>
            <a:r>
              <a:t/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689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lang="en-US" sz="3444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and transcribe voice orders.  </a:t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689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lang="en-US" sz="3444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 intent by extracting items and quantities.  </a:t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689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lang="en-US" sz="3444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validation:  </a:t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44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Real-time inventory check.  </a:t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44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Kitchen workload evaluation.  </a:t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689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lang="en-US" sz="3444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Confirmation of orders and e-invoices.  </a:t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9689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lang="en-US" sz="3444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 authentication on the database and blockchain ledger.  </a:t>
            </a:r>
            <a:endParaRPr sz="3444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UNAACLOGO500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02" y="0"/>
            <a:ext cx="209724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2/24/2026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ICAICS-26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1749" y="81994"/>
            <a:ext cx="1639228" cy="304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Analysis</a:t>
            </a:r>
            <a:endParaRPr/>
          </a:p>
        </p:txBody>
      </p:sp>
      <p:sp>
        <p:nvSpPr>
          <p:cNvPr id="146" name="Google Shape;146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416"/>
              <a:buFont typeface="Arial"/>
              <a:buNone/>
            </a:pPr>
            <a:r>
              <a:rPr b="1" lang="en-US" sz="2181">
                <a:solidFill>
                  <a:srgbClr val="003366"/>
                </a:solidFill>
              </a:rPr>
              <a:t>Model Performance</a:t>
            </a:r>
            <a:endParaRPr b="1" sz="2181">
              <a:solidFill>
                <a:srgbClr val="003366"/>
              </a:solidFill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●"/>
            </a:pPr>
            <a:r>
              <a:rPr lang="en-US" sz="2000">
                <a:solidFill>
                  <a:srgbClr val="003366"/>
                </a:solidFill>
              </a:rPr>
              <a:t>Validation Accuracy: ~96%</a:t>
            </a:r>
            <a:endParaRPr sz="2000">
              <a:solidFill>
                <a:srgbClr val="0033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●"/>
            </a:pPr>
            <a:r>
              <a:rPr lang="en-US" sz="2000">
                <a:solidFill>
                  <a:srgbClr val="003366"/>
                </a:solidFill>
              </a:rPr>
              <a:t>Stable learning curve with consistent improvement across epochs.</a:t>
            </a:r>
            <a:endParaRPr sz="2000">
              <a:solidFill>
                <a:srgbClr val="0033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●"/>
            </a:pPr>
            <a:r>
              <a:rPr lang="en-US" sz="2000">
                <a:solidFill>
                  <a:srgbClr val="003366"/>
                </a:solidFill>
              </a:rPr>
              <a:t>The confirmation layer removed finalization errors.</a:t>
            </a:r>
            <a:endParaRPr sz="2000">
              <a:solidFill>
                <a:srgbClr val="003366"/>
              </a:solidFill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416"/>
              <a:buFont typeface="Arial"/>
              <a:buNone/>
            </a:pPr>
            <a:r>
              <a:rPr b="1" lang="en-US" sz="2181">
                <a:solidFill>
                  <a:srgbClr val="003366"/>
                </a:solidFill>
              </a:rPr>
              <a:t>Functional Results of the Validation</a:t>
            </a:r>
            <a:endParaRPr b="1" sz="2181">
              <a:solidFill>
                <a:srgbClr val="003366"/>
              </a:solidFill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●"/>
            </a:pPr>
            <a:r>
              <a:rPr lang="en-US" sz="2000">
                <a:solidFill>
                  <a:srgbClr val="003366"/>
                </a:solidFill>
              </a:rPr>
              <a:t>Accurate extraction of items and quantities .</a:t>
            </a:r>
            <a:endParaRPr sz="2000">
              <a:solidFill>
                <a:srgbClr val="0033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●"/>
            </a:pPr>
            <a:r>
              <a:rPr lang="en-US" sz="2000">
                <a:solidFill>
                  <a:srgbClr val="003366"/>
                </a:solidFill>
              </a:rPr>
              <a:t>Successful handling of:</a:t>
            </a:r>
            <a:endParaRPr sz="2000">
              <a:solidFill>
                <a:srgbClr val="0033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3366"/>
                </a:solidFill>
              </a:rPr>
              <a:t>- Single-item orders</a:t>
            </a:r>
            <a:endParaRPr sz="2000">
              <a:solidFill>
                <a:srgbClr val="0033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3366"/>
                </a:solidFill>
              </a:rPr>
              <a:t>- Sequential orders (Multi-item).</a:t>
            </a:r>
            <a:endParaRPr sz="2000">
              <a:solidFill>
                <a:srgbClr val="0033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●"/>
            </a:pPr>
            <a:r>
              <a:rPr lang="en-US" sz="2000">
                <a:solidFill>
                  <a:srgbClr val="003366"/>
                </a:solidFill>
              </a:rPr>
              <a:t>Online rejection of out-of-stock products.</a:t>
            </a:r>
            <a:endParaRPr sz="2000">
              <a:solidFill>
                <a:srgbClr val="0033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●"/>
            </a:pPr>
            <a:r>
              <a:rPr lang="en-US" sz="2000">
                <a:solidFill>
                  <a:srgbClr val="003366"/>
                </a:solidFill>
              </a:rPr>
              <a:t>Effective kitchen load balancing during peak simulation.</a:t>
            </a:r>
            <a:endParaRPr sz="2000">
              <a:solidFill>
                <a:srgbClr val="0033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>
                <a:solidFill>
                  <a:srgbClr val="003366"/>
                </a:solidFill>
              </a:rPr>
              <a:t>Practices of Administrative and Transaction Transparency</a:t>
            </a:r>
            <a:endParaRPr b="1" sz="2000">
              <a:solidFill>
                <a:srgbClr val="003366"/>
              </a:solidFill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●"/>
            </a:pPr>
            <a:r>
              <a:rPr lang="en-US" sz="2000">
                <a:solidFill>
                  <a:srgbClr val="003366"/>
                </a:solidFill>
              </a:rPr>
              <a:t>Store order records are kept asymmetrically at the back end.</a:t>
            </a:r>
            <a:endParaRPr sz="2000">
              <a:solidFill>
                <a:srgbClr val="00336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Char char="●"/>
            </a:pPr>
            <a:r>
              <a:rPr lang="en-US" sz="2000">
                <a:solidFill>
                  <a:srgbClr val="003366"/>
                </a:solidFill>
              </a:rPr>
              <a:t>The administrative dashboard allows real-time monitoring of:</a:t>
            </a:r>
            <a:endParaRPr sz="2000">
              <a:solidFill>
                <a:srgbClr val="003366"/>
              </a:solidFill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rgbClr val="003366"/>
                </a:solidFill>
              </a:rPr>
              <a:t>- Orders in progress</a:t>
            </a:r>
            <a:endParaRPr sz="2000">
              <a:solidFill>
                <a:srgbClr val="003366"/>
              </a:solidFill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rgbClr val="003366"/>
                </a:solidFill>
              </a:rPr>
              <a:t>- Inventory levels</a:t>
            </a:r>
            <a:endParaRPr sz="2000">
              <a:solidFill>
                <a:srgbClr val="003366"/>
              </a:solidFill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rgbClr val="003366"/>
                </a:solidFill>
              </a:rPr>
              <a:t>- Kitchen workload</a:t>
            </a:r>
            <a:endParaRPr sz="2000">
              <a:solidFill>
                <a:srgbClr val="003366"/>
              </a:solidFill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solidFill>
                  <a:srgbClr val="003366"/>
                </a:solidFill>
              </a:rPr>
              <a:t>- Transaction history</a:t>
            </a:r>
            <a:endParaRPr sz="2000">
              <a:solidFill>
                <a:srgbClr val="003366"/>
              </a:solidFill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solidFill>
                <a:srgbClr val="003366"/>
              </a:solidFill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UNAACLOGO500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53" y="34887"/>
            <a:ext cx="209724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2/24/2026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ICAICS-26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1749" y="81994"/>
            <a:ext cx="1639228" cy="304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Scope</a:t>
            </a:r>
            <a:endParaRPr/>
          </a:p>
        </p:txBody>
      </p:sp>
      <p:sp>
        <p:nvSpPr>
          <p:cNvPr id="158" name="Google Shape;158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Talk2Invoice, an automated voice-based food ordering and billing service.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Whisper for speech-to-text and fine-tuned DistilBERT for intent recognition</a:t>
            </a: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achieving 96% accuracy.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features real-time inventory checks, balanced kitchen loads, and secure blockchain logging of transactions.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b="1"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None/>
            </a:pPr>
            <a:r>
              <a:rPr b="1"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b="1"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b="1"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Personalization and Recommendation:  </a:t>
            </a:r>
            <a:endParaRPr b="1"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AI-driven recommendation engines to provide tailored meal suggestions, combo offers, and promotions based on trends. This leverages past order data and time-based patterns to improve customer engagement and demand forecasting.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b="1"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Conversational Intelligence:  </a:t>
            </a:r>
            <a:endParaRPr b="1"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context-aware multi-turn dialogue management with adaptive, sentiment-aware interactions. This will support natural conversational ordering and create personalized user experiences.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Times New Roman"/>
              <a:buChar char="●"/>
            </a:pPr>
            <a:r>
              <a:rPr b="1"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Security, Privacy, and Ethical AI:  </a:t>
            </a:r>
            <a:endParaRPr b="1"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Strengthen data encryption and access control. Ensure compliance with regulations while maintaining transparent AI decision-making, informed consent, and bias reduction across different languages and accents.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UNAACLOGO500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53" y="22302"/>
            <a:ext cx="209724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2/24/2026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ICAICS-26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1749" y="81994"/>
            <a:ext cx="1639228" cy="304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34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Srinivasan, S., Raghavan, A., &amp; Balaji, V. (2024). Voice assistant for fast food restaurants using DistilBERT. International Journal of Advanced Computer Science and Applications, 15(2), 412–419.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[2] Kim, J., Park, S., &amp; Lee, H. (2020). System and method for providing voice assistance service. IEEE Access, 8, 145321–145330.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[3] Zhang, Y., Liu, H., &amp; Chen, X. (2020). Research and application of intelligent voice food ordering system. Journal of Intelligent Systems, 29(1), 1123–1134. 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Shirode, A., Rathod, T., Wanjari, P., &amp; Halbe, A. (2020). Speech oriented virtual restaurant clerk using web speech API and natural language processing. In Proceedings of the International Conference on Computing, Communication and Automation (pp. 1–6). IEEE. 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Kumar, A., Verma, S., &amp; Singh, R. (2022). A review on voice assistants in our daily life. International Journal of Computer Applications, 174(12), 1–7. 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Ashfaq, M., Yun, J., Yu, S., &amp; Loureiro, S. M. C. (2021). “It’s on its way”: Chatbots applied for online food delivery services—social or task-oriented interaction style? Journal of Retailing and Consumer Services, 62, 102596. 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Patil, S., Kulkarni, A., Deshmukh, R., &amp; Joshi, P. (2021). Vocalicious: Voice-assisted food ordering web application. In Proceedings of the International Conference on Smart Computing and Informatics (pp. 455–463). Springer. 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Rathod, T., Shirode, A., Wanjari, P., &amp; Halbe, A. (2020). Speech oriented virtual restaurant clerk using web speech API and natural language processing. International Journal of Engineering and Advanced Technology, 9(5), 2871–2876.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[9] Huang, L., Zhao, Y., Wang, J., &amp; Wu, Z. (2025). HYLR-FO: Hybrid approach using language models and rule-based systems for on-device food ordering. IEEE Transactions on Artificial Intelligence, 6(1), 98 110. </a:t>
            </a:r>
            <a:endParaRPr sz="20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UNAACLOGO500.png"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04" y="46038"/>
            <a:ext cx="209724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2/24/2026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ICAICS-26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1749" y="81994"/>
            <a:ext cx="1639228" cy="304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457200" y="28714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6600"/>
              <a:buFont typeface="Times New Roman"/>
              <a:buNone/>
            </a:pPr>
            <a:r>
              <a:rPr b="1" lang="en-US" sz="66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PUNAACLOGO500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04" y="45720"/>
            <a:ext cx="209724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2/24/2026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ICAICS-26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1749" y="81994"/>
            <a:ext cx="1639228" cy="304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